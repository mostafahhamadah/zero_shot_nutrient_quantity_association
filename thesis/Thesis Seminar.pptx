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83" r:id="rId9"/>
    <p:sldId id="263" r:id="rId10"/>
    <p:sldId id="264" r:id="rId11"/>
    <p:sldId id="265" r:id="rId12"/>
    <p:sldId id="266" r:id="rId13"/>
    <p:sldId id="282"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200" d="100"/>
          <a:sy n="200" d="100"/>
        </p:scale>
        <p:origin x="-5916" y="-18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STAFA SAEID" userId="58df6ffb00d4bf01" providerId="LiveId" clId="{941B6836-EB97-429F-9219-1A1DB3C6AFFC}"/>
    <pc:docChg chg="undo custSel modSld">
      <pc:chgData name="MOSTAFA SAEID" userId="58df6ffb00d4bf01" providerId="LiveId" clId="{941B6836-EB97-429F-9219-1A1DB3C6AFFC}" dt="2026-06-30T19:17:54.925" v="100" actId="1076"/>
      <pc:docMkLst>
        <pc:docMk/>
      </pc:docMkLst>
      <pc:sldChg chg="modSp mod">
        <pc:chgData name="MOSTAFA SAEID" userId="58df6ffb00d4bf01" providerId="LiveId" clId="{941B6836-EB97-429F-9219-1A1DB3C6AFFC}" dt="2026-06-26T09:13:28.468" v="19" actId="20577"/>
        <pc:sldMkLst>
          <pc:docMk/>
          <pc:sldMk cId="0" sldId="256"/>
        </pc:sldMkLst>
        <pc:spChg chg="mod">
          <ac:chgData name="MOSTAFA SAEID" userId="58df6ffb00d4bf01" providerId="LiveId" clId="{941B6836-EB97-429F-9219-1A1DB3C6AFFC}" dt="2026-06-26T09:13:28.468" v="19" actId="20577"/>
          <ac:spMkLst>
            <pc:docMk/>
            <pc:sldMk cId="0" sldId="256"/>
            <ac:spMk id="3" creationId="{00000000-0000-0000-0000-000000000000}"/>
          </ac:spMkLst>
        </pc:spChg>
        <pc:spChg chg="mod">
          <ac:chgData name="MOSTAFA SAEID" userId="58df6ffb00d4bf01" providerId="LiveId" clId="{941B6836-EB97-429F-9219-1A1DB3C6AFFC}" dt="2026-06-26T09:13:24.238" v="12" actId="20577"/>
          <ac:spMkLst>
            <pc:docMk/>
            <pc:sldMk cId="0" sldId="256"/>
            <ac:spMk id="12" creationId="{00000000-0000-0000-0000-000000000000}"/>
          </ac:spMkLst>
        </pc:spChg>
      </pc:sldChg>
      <pc:sldChg chg="modSp mod">
        <pc:chgData name="MOSTAFA SAEID" userId="58df6ffb00d4bf01" providerId="LiveId" clId="{941B6836-EB97-429F-9219-1A1DB3C6AFFC}" dt="2026-06-26T09:22:50.247" v="56" actId="20577"/>
        <pc:sldMkLst>
          <pc:docMk/>
          <pc:sldMk cId="0" sldId="257"/>
        </pc:sldMkLst>
        <pc:spChg chg="mod">
          <ac:chgData name="MOSTAFA SAEID" userId="58df6ffb00d4bf01" providerId="LiveId" clId="{941B6836-EB97-429F-9219-1A1DB3C6AFFC}" dt="2026-06-26T09:22:50.247" v="56" actId="20577"/>
          <ac:spMkLst>
            <pc:docMk/>
            <pc:sldMk cId="0" sldId="257"/>
            <ac:spMk id="8" creationId="{00000000-0000-0000-0000-000000000000}"/>
          </ac:spMkLst>
        </pc:spChg>
      </pc:sldChg>
      <pc:sldChg chg="modSp mod">
        <pc:chgData name="MOSTAFA SAEID" userId="58df6ffb00d4bf01" providerId="LiveId" clId="{941B6836-EB97-429F-9219-1A1DB3C6AFFC}" dt="2026-06-26T09:09:13.901" v="2" actId="1076"/>
        <pc:sldMkLst>
          <pc:docMk/>
          <pc:sldMk cId="0" sldId="263"/>
        </pc:sldMkLst>
        <pc:spChg chg="mod">
          <ac:chgData name="MOSTAFA SAEID" userId="58df6ffb00d4bf01" providerId="LiveId" clId="{941B6836-EB97-429F-9219-1A1DB3C6AFFC}" dt="2026-06-26T09:09:09.198" v="1" actId="1076"/>
          <ac:spMkLst>
            <pc:docMk/>
            <pc:sldMk cId="0" sldId="263"/>
            <ac:spMk id="67" creationId="{00000000-0000-0000-0000-000000000000}"/>
          </ac:spMkLst>
        </pc:spChg>
        <pc:spChg chg="mod">
          <ac:chgData name="MOSTAFA SAEID" userId="58df6ffb00d4bf01" providerId="LiveId" clId="{941B6836-EB97-429F-9219-1A1DB3C6AFFC}" dt="2026-06-26T09:09:13.901" v="2" actId="1076"/>
          <ac:spMkLst>
            <pc:docMk/>
            <pc:sldMk cId="0" sldId="263"/>
            <ac:spMk id="68" creationId="{00000000-0000-0000-0000-000000000000}"/>
          </ac:spMkLst>
        </pc:spChg>
      </pc:sldChg>
      <pc:sldChg chg="addSp delSp modSp mod">
        <pc:chgData name="MOSTAFA SAEID" userId="58df6ffb00d4bf01" providerId="LiveId" clId="{941B6836-EB97-429F-9219-1A1DB3C6AFFC}" dt="2026-06-26T09:18:50.221" v="54" actId="14100"/>
        <pc:sldMkLst>
          <pc:docMk/>
          <pc:sldMk cId="0" sldId="267"/>
        </pc:sldMkLst>
        <pc:spChg chg="mod">
          <ac:chgData name="MOSTAFA SAEID" userId="58df6ffb00d4bf01" providerId="LiveId" clId="{941B6836-EB97-429F-9219-1A1DB3C6AFFC}" dt="2026-06-26T09:18:50.221" v="54" actId="14100"/>
          <ac:spMkLst>
            <pc:docMk/>
            <pc:sldMk cId="0" sldId="267"/>
            <ac:spMk id="10" creationId="{00000000-0000-0000-0000-000000000000}"/>
          </ac:spMkLst>
        </pc:spChg>
      </pc:sldChg>
      <pc:sldChg chg="modSp mod">
        <pc:chgData name="MOSTAFA SAEID" userId="58df6ffb00d4bf01" providerId="LiveId" clId="{941B6836-EB97-429F-9219-1A1DB3C6AFFC}" dt="2026-06-26T09:42:35.909" v="87" actId="20577"/>
        <pc:sldMkLst>
          <pc:docMk/>
          <pc:sldMk cId="0" sldId="270"/>
        </pc:sldMkLst>
        <pc:spChg chg="mod">
          <ac:chgData name="MOSTAFA SAEID" userId="58df6ffb00d4bf01" providerId="LiveId" clId="{941B6836-EB97-429F-9219-1A1DB3C6AFFC}" dt="2026-06-26T09:42:35.909" v="87" actId="20577"/>
          <ac:spMkLst>
            <pc:docMk/>
            <pc:sldMk cId="0" sldId="270"/>
            <ac:spMk id="9" creationId="{00000000-0000-0000-0000-000000000000}"/>
          </ac:spMkLst>
        </pc:spChg>
      </pc:sldChg>
      <pc:sldChg chg="modSp mod">
        <pc:chgData name="MOSTAFA SAEID" userId="58df6ffb00d4bf01" providerId="LiveId" clId="{941B6836-EB97-429F-9219-1A1DB3C6AFFC}" dt="2026-06-30T19:17:54.925" v="100" actId="1076"/>
        <pc:sldMkLst>
          <pc:docMk/>
          <pc:sldMk cId="0" sldId="273"/>
        </pc:sldMkLst>
        <pc:picChg chg="mod">
          <ac:chgData name="MOSTAFA SAEID" userId="58df6ffb00d4bf01" providerId="LiveId" clId="{941B6836-EB97-429F-9219-1A1DB3C6AFFC}" dt="2026-06-30T19:17:54.925" v="100" actId="1076"/>
          <ac:picMkLst>
            <pc:docMk/>
            <pc:sldMk cId="0" sldId="273"/>
            <ac:picMk id="16" creationId="{00000000-0000-0000-0000-000000000000}"/>
          </ac:picMkLst>
        </pc:picChg>
      </pc:sldChg>
      <pc:sldChg chg="modSp mod">
        <pc:chgData name="MOSTAFA SAEID" userId="58df6ffb00d4bf01" providerId="LiveId" clId="{941B6836-EB97-429F-9219-1A1DB3C6AFFC}" dt="2026-06-26T17:13:28.514" v="98" actId="1076"/>
        <pc:sldMkLst>
          <pc:docMk/>
          <pc:sldMk cId="0" sldId="274"/>
        </pc:sldMkLst>
        <pc:spChg chg="mod">
          <ac:chgData name="MOSTAFA SAEID" userId="58df6ffb00d4bf01" providerId="LiveId" clId="{941B6836-EB97-429F-9219-1A1DB3C6AFFC}" dt="2026-06-26T17:13:28.514" v="98" actId="1076"/>
          <ac:spMkLst>
            <pc:docMk/>
            <pc:sldMk cId="0" sldId="274"/>
            <ac:spMk id="11" creationId="{00000000-0000-0000-0000-000000000000}"/>
          </ac:spMkLst>
        </pc:spChg>
        <pc:spChg chg="mod">
          <ac:chgData name="MOSTAFA SAEID" userId="58df6ffb00d4bf01" providerId="LiveId" clId="{941B6836-EB97-429F-9219-1A1DB3C6AFFC}" dt="2026-06-26T12:54:12.856" v="97" actId="20577"/>
          <ac:spMkLst>
            <pc:docMk/>
            <pc:sldMk cId="0" sldId="274"/>
            <ac:spMk id="16" creationId="{00000000-0000-0000-0000-000000000000}"/>
          </ac:spMkLst>
        </pc:spChg>
      </pc:sldChg>
      <pc:sldChg chg="modSp mod">
        <pc:chgData name="MOSTAFA SAEID" userId="58df6ffb00d4bf01" providerId="LiveId" clId="{941B6836-EB97-429F-9219-1A1DB3C6AFFC}" dt="2026-06-26T09:14:22.478" v="20" actId="2164"/>
        <pc:sldMkLst>
          <pc:docMk/>
          <pc:sldMk cId="0" sldId="275"/>
        </pc:sldMkLst>
        <pc:graphicFrameChg chg="modGraphic">
          <ac:chgData name="MOSTAFA SAEID" userId="58df6ffb00d4bf01" providerId="LiveId" clId="{941B6836-EB97-429F-9219-1A1DB3C6AFFC}" dt="2026-06-26T09:14:22.478" v="20" actId="2164"/>
          <ac:graphicFrameMkLst>
            <pc:docMk/>
            <pc:sldMk cId="0" sldId="275"/>
            <ac:graphicFrameMk id="21" creationId="{00000000-0000-0000-0000-000000000000}"/>
          </ac:graphicFrameMkLst>
        </pc:graphicFrameChg>
      </pc:sldChg>
      <pc:sldChg chg="modSp mod">
        <pc:chgData name="MOSTAFA SAEID" userId="58df6ffb00d4bf01" providerId="LiveId" clId="{941B6836-EB97-429F-9219-1A1DB3C6AFFC}" dt="2026-06-26T09:24:49.158" v="80" actId="1076"/>
        <pc:sldMkLst>
          <pc:docMk/>
          <pc:sldMk cId="0" sldId="276"/>
        </pc:sldMkLst>
        <pc:spChg chg="mod">
          <ac:chgData name="MOSTAFA SAEID" userId="58df6ffb00d4bf01" providerId="LiveId" clId="{941B6836-EB97-429F-9219-1A1DB3C6AFFC}" dt="2026-06-26T09:24:48.468" v="79" actId="14100"/>
          <ac:spMkLst>
            <pc:docMk/>
            <pc:sldMk cId="0" sldId="276"/>
            <ac:spMk id="12" creationId="{00000000-0000-0000-0000-000000000000}"/>
          </ac:spMkLst>
        </pc:spChg>
        <pc:picChg chg="mod">
          <ac:chgData name="MOSTAFA SAEID" userId="58df6ffb00d4bf01" providerId="LiveId" clId="{941B6836-EB97-429F-9219-1A1DB3C6AFFC}" dt="2026-06-26T09:24:49.158" v="80" actId="1076"/>
          <ac:picMkLst>
            <pc:docMk/>
            <pc:sldMk cId="0" sldId="276"/>
            <ac:picMk id="13" creationId="{00000000-0000-0000-0000-000000000000}"/>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586274"/>
                </a:solidFill>
                <a:latin typeface="Arial"/>
              </a:defRPr>
            </a:pPr>
            <a:r>
              <a:rPr lang="en-US" sz="1000" b="0" i="0" u="none" strike="noStrike">
                <a:solidFill>
                  <a:srgbClr val="586274"/>
                </a:solidFill>
                <a:latin typeface="Arial"/>
              </a:rPr>
              <a:t>Fig. 5.4 — 4F recall (GLiNER), graph v1 vs v2</a:t>
            </a:r>
          </a:p>
        </c:rich>
      </c:tx>
      <c:overlay val="0"/>
    </c:title>
    <c:autoTitleDeleted val="0"/>
    <c:plotArea>
      <c:layout/>
      <c:barChart>
        <c:barDir val="col"/>
        <c:grouping val="clustered"/>
        <c:varyColors val="0"/>
        <c:ser>
          <c:idx val="0"/>
          <c:order val="0"/>
          <c:tx>
            <c:strRef>
              <c:f>Sheet1!$B$1</c:f>
              <c:strCache>
                <c:ptCount val="1"/>
                <c:pt idx="0">
                  <c:v>Graph v1</c:v>
                </c:pt>
              </c:strCache>
            </c:strRef>
          </c:tx>
          <c:spPr>
            <a:solidFill>
              <a:srgbClr val="B9C0CC"/>
            </a:solidFill>
            <a:effectLst/>
          </c:spPr>
          <c:invertIfNegative val="0"/>
          <c:dLbls>
            <c:numFmt formatCode="0.000" sourceLinked="0"/>
            <c:spPr>
              <a:noFill/>
              <a:ln>
                <a:noFill/>
              </a:ln>
              <a:effectLst/>
            </c:spPr>
            <c:txPr>
              <a:bodyPr/>
              <a:lstStyle/>
              <a:p>
                <a:pPr>
                  <a:defRPr sz="800" b="0" i="0" u="none" strike="noStrike">
                    <a:solidFill>
                      <a:srgbClr val="36363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Single-context (159)</c:v>
                </c:pt>
                <c:pt idx="1">
                  <c:v>Multi-context (707)</c:v>
                </c:pt>
              </c:strCache>
            </c:strRef>
          </c:cat>
          <c:val>
            <c:numRef>
              <c:f>Sheet1!$B$2:$B$3</c:f>
              <c:numCache>
                <c:formatCode>General</c:formatCode>
                <c:ptCount val="2"/>
                <c:pt idx="0">
                  <c:v>0.497</c:v>
                </c:pt>
                <c:pt idx="1">
                  <c:v>0.18099999999999999</c:v>
                </c:pt>
              </c:numCache>
            </c:numRef>
          </c:val>
          <c:extLst>
            <c:ext xmlns:c16="http://schemas.microsoft.com/office/drawing/2014/chart" uri="{C3380CC4-5D6E-409C-BE32-E72D297353CC}">
              <c16:uniqueId val="{00000000-6E0C-4377-A831-3833334C97BC}"/>
            </c:ext>
          </c:extLst>
        </c:ser>
        <c:ser>
          <c:idx val="1"/>
          <c:order val="1"/>
          <c:tx>
            <c:strRef>
              <c:f>Sheet1!$C$1</c:f>
              <c:strCache>
                <c:ptCount val="1"/>
                <c:pt idx="0">
                  <c:v>Graph v2</c:v>
                </c:pt>
              </c:strCache>
            </c:strRef>
          </c:tx>
          <c:spPr>
            <a:solidFill>
              <a:srgbClr val="0F766E"/>
            </a:solidFill>
            <a:effectLst/>
          </c:spPr>
          <c:invertIfNegative val="0"/>
          <c:dLbls>
            <c:numFmt formatCode="0.000" sourceLinked="0"/>
            <c:spPr>
              <a:noFill/>
              <a:ln>
                <a:noFill/>
              </a:ln>
              <a:effectLst/>
            </c:spPr>
            <c:txPr>
              <a:bodyPr/>
              <a:lstStyle/>
              <a:p>
                <a:pPr>
                  <a:defRPr sz="800" b="0" i="0" u="none" strike="noStrike">
                    <a:solidFill>
                      <a:srgbClr val="36363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Single-context (159)</c:v>
                </c:pt>
                <c:pt idx="1">
                  <c:v>Multi-context (707)</c:v>
                </c:pt>
              </c:strCache>
            </c:strRef>
          </c:cat>
          <c:val>
            <c:numRef>
              <c:f>Sheet1!$C$2:$C$3</c:f>
              <c:numCache>
                <c:formatCode>General</c:formatCode>
                <c:ptCount val="2"/>
                <c:pt idx="0">
                  <c:v>0.52200000000000002</c:v>
                </c:pt>
                <c:pt idx="1">
                  <c:v>0.375</c:v>
                </c:pt>
              </c:numCache>
            </c:numRef>
          </c:val>
          <c:extLst>
            <c:ext xmlns:c16="http://schemas.microsoft.com/office/drawing/2014/chart" uri="{C3380CC4-5D6E-409C-BE32-E72D297353CC}">
              <c16:uniqueId val="{00000001-6E0C-4377-A831-3833334C97B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0.6"/>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majorUnit val="0.2"/>
      </c:valAx>
      <c:spPr>
        <a:noFill/>
        <a:ln>
          <a:noFill/>
        </a:ln>
        <a:effectLst/>
      </c:spPr>
    </c:plotArea>
    <c:legend>
      <c:legendPos val="b"/>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2043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566928" y="1371600"/>
            <a:ext cx="11055096" cy="274320"/>
          </a:xfrm>
          <a:prstGeom prst="rect">
            <a:avLst/>
          </a:prstGeom>
          <a:noFill/>
          <a:ln/>
        </p:spPr>
        <p:txBody>
          <a:bodyPr wrap="square" rtlCol="0" anchor="ctr"/>
          <a:lstStyle/>
          <a:p>
            <a:pPr marL="0" indent="0">
              <a:buNone/>
            </a:pPr>
            <a:r>
              <a:rPr lang="en-US" sz="1200" b="1" kern="0" spc="200" dirty="0">
                <a:solidFill>
                  <a:srgbClr val="0F766E"/>
                </a:solidFill>
                <a:latin typeface="Consolas" pitchFamily="34" charset="0"/>
                <a:ea typeface="Consolas" pitchFamily="34" charset="-122"/>
                <a:cs typeface="Consolas" pitchFamily="34" charset="-120"/>
              </a:rPr>
              <a:t>M.SC. THESIS · Seminar · ARTIFICIAL INTELLIGENCE &amp; DATA SCIENCE</a:t>
            </a:r>
            <a:endParaRPr lang="en-US" sz="1200" dirty="0"/>
          </a:p>
        </p:txBody>
      </p:sp>
      <p:sp>
        <p:nvSpPr>
          <p:cNvPr id="4" name="Text 2"/>
          <p:cNvSpPr/>
          <p:nvPr/>
        </p:nvSpPr>
        <p:spPr>
          <a:xfrm>
            <a:off x="566928" y="1783080"/>
            <a:ext cx="10515600" cy="1280160"/>
          </a:xfrm>
          <a:prstGeom prst="rect">
            <a:avLst/>
          </a:prstGeom>
          <a:noFill/>
          <a:ln/>
        </p:spPr>
        <p:txBody>
          <a:bodyPr wrap="square" rtlCol="0" anchor="t"/>
          <a:lstStyle/>
          <a:p>
            <a:pPr marL="0" indent="0">
              <a:buNone/>
            </a:pPr>
            <a:r>
              <a:rPr lang="en-US" sz="4600" b="1" dirty="0">
                <a:solidFill>
                  <a:srgbClr val="161B24"/>
                </a:solidFill>
                <a:latin typeface="Georgia" pitchFamily="34" charset="0"/>
                <a:ea typeface="Georgia" pitchFamily="34" charset="-122"/>
                <a:cs typeface="Georgia" pitchFamily="34" charset="-120"/>
              </a:rPr>
              <a:t>Zero-Shot Nutrient &amp; Quantity Association</a:t>
            </a:r>
            <a:endParaRPr lang="en-US" sz="4600" dirty="0"/>
          </a:p>
        </p:txBody>
      </p:sp>
      <p:sp>
        <p:nvSpPr>
          <p:cNvPr id="5" name="Text 3"/>
          <p:cNvSpPr/>
          <p:nvPr/>
        </p:nvSpPr>
        <p:spPr>
          <a:xfrm>
            <a:off x="566928" y="3063240"/>
            <a:ext cx="10515600" cy="548640"/>
          </a:xfrm>
          <a:prstGeom prst="rect">
            <a:avLst/>
          </a:prstGeom>
          <a:noFill/>
          <a:ln/>
        </p:spPr>
        <p:txBody>
          <a:bodyPr wrap="square" rtlCol="0" anchor="ctr"/>
          <a:lstStyle/>
          <a:p>
            <a:pPr marL="0" indent="0">
              <a:buNone/>
            </a:pPr>
            <a:r>
              <a:rPr lang="en-US" sz="2300" dirty="0">
                <a:solidFill>
                  <a:srgbClr val="586274"/>
                </a:solidFill>
                <a:latin typeface="Georgia" pitchFamily="34" charset="0"/>
                <a:ea typeface="Georgia" pitchFamily="34" charset="-122"/>
                <a:cs typeface="Georgia" pitchFamily="34" charset="-120"/>
              </a:rPr>
              <a:t>via OCR-Guided Semantic Graph Matching</a:t>
            </a:r>
            <a:endParaRPr lang="en-US" sz="2300" dirty="0"/>
          </a:p>
        </p:txBody>
      </p:sp>
      <p:sp>
        <p:nvSpPr>
          <p:cNvPr id="6" name="Shape 4"/>
          <p:cNvSpPr/>
          <p:nvPr/>
        </p:nvSpPr>
        <p:spPr>
          <a:xfrm>
            <a:off x="566928" y="3886200"/>
            <a:ext cx="4754880" cy="0"/>
          </a:xfrm>
          <a:prstGeom prst="line">
            <a:avLst/>
          </a:prstGeom>
          <a:noFill/>
          <a:ln w="12700">
            <a:solidFill>
              <a:srgbClr val="E0E4EA"/>
            </a:solidFill>
            <a:prstDash val="solid"/>
          </a:ln>
        </p:spPr>
        <p:txBody>
          <a:bodyPr/>
          <a:lstStyle/>
          <a:p>
            <a:endParaRPr lang="en-US"/>
          </a:p>
        </p:txBody>
      </p:sp>
      <p:sp>
        <p:nvSpPr>
          <p:cNvPr id="7" name="Text 5"/>
          <p:cNvSpPr/>
          <p:nvPr/>
        </p:nvSpPr>
        <p:spPr>
          <a:xfrm>
            <a:off x="566928" y="4206240"/>
            <a:ext cx="3291840" cy="228600"/>
          </a:xfrm>
          <a:prstGeom prst="rect">
            <a:avLst/>
          </a:prstGeom>
          <a:noFill/>
          <a:ln/>
        </p:spPr>
        <p:txBody>
          <a:bodyPr wrap="square" rtlCol="0" anchor="ctr"/>
          <a:lstStyle/>
          <a:p>
            <a:pPr marL="0" indent="0">
              <a:buNone/>
            </a:pPr>
            <a:r>
              <a:rPr lang="en-US" sz="950" kern="0" spc="100" dirty="0">
                <a:solidFill>
                  <a:srgbClr val="959DAB"/>
                </a:solidFill>
                <a:latin typeface="Consolas" pitchFamily="34" charset="0"/>
                <a:ea typeface="Consolas" pitchFamily="34" charset="-122"/>
                <a:cs typeface="Consolas" pitchFamily="34" charset="-120"/>
              </a:rPr>
              <a:t>AUTHOR</a:t>
            </a:r>
            <a:endParaRPr lang="en-US" sz="950" dirty="0"/>
          </a:p>
        </p:txBody>
      </p:sp>
      <p:sp>
        <p:nvSpPr>
          <p:cNvPr id="8" name="Text 6"/>
          <p:cNvSpPr/>
          <p:nvPr/>
        </p:nvSpPr>
        <p:spPr>
          <a:xfrm>
            <a:off x="566928" y="4462272"/>
            <a:ext cx="3566160" cy="731520"/>
          </a:xfrm>
          <a:prstGeom prst="rect">
            <a:avLst/>
          </a:prstGeom>
          <a:noFill/>
          <a:ln/>
        </p:spPr>
        <p:txBody>
          <a:bodyPr wrap="square" rtlCol="0" anchor="t"/>
          <a:lstStyle/>
          <a:p>
            <a:pPr marL="0" indent="0">
              <a:lnSpc>
                <a:spcPct val="105000"/>
              </a:lnSpc>
              <a:buNone/>
            </a:pPr>
            <a:r>
              <a:rPr lang="en-US" sz="1300" b="1" dirty="0">
                <a:solidFill>
                  <a:srgbClr val="161B24"/>
                </a:solidFill>
                <a:latin typeface="Calibri" pitchFamily="34" charset="0"/>
                <a:ea typeface="Calibri" pitchFamily="34" charset="-122"/>
                <a:cs typeface="Calibri" pitchFamily="34" charset="-120"/>
              </a:rPr>
              <a:t>Moustafa Hamada
</a:t>
            </a:r>
            <a:r>
              <a:rPr lang="en-US" sz="1150" dirty="0">
                <a:solidFill>
                  <a:srgbClr val="586274"/>
                </a:solidFill>
                <a:latin typeface="Calibri" pitchFamily="34" charset="0"/>
                <a:ea typeface="Calibri" pitchFamily="34" charset="-122"/>
                <a:cs typeface="Calibri" pitchFamily="34" charset="-120"/>
              </a:rPr>
              <a:t>Matrikelnummer 12401478</a:t>
            </a:r>
            <a:endParaRPr lang="en-US" sz="1300" dirty="0"/>
          </a:p>
        </p:txBody>
      </p:sp>
      <p:sp>
        <p:nvSpPr>
          <p:cNvPr id="9" name="Text 7"/>
          <p:cNvSpPr/>
          <p:nvPr/>
        </p:nvSpPr>
        <p:spPr>
          <a:xfrm>
            <a:off x="4224528" y="4206240"/>
            <a:ext cx="3291840" cy="228600"/>
          </a:xfrm>
          <a:prstGeom prst="rect">
            <a:avLst/>
          </a:prstGeom>
          <a:noFill/>
          <a:ln/>
        </p:spPr>
        <p:txBody>
          <a:bodyPr wrap="square" rtlCol="0" anchor="ctr"/>
          <a:lstStyle/>
          <a:p>
            <a:pPr marL="0" indent="0">
              <a:buNone/>
            </a:pPr>
            <a:r>
              <a:rPr lang="en-US" sz="950" kern="0" spc="100" dirty="0">
                <a:solidFill>
                  <a:srgbClr val="959DAB"/>
                </a:solidFill>
                <a:latin typeface="Consolas" pitchFamily="34" charset="0"/>
                <a:ea typeface="Consolas" pitchFamily="34" charset="-122"/>
                <a:cs typeface="Consolas" pitchFamily="34" charset="-120"/>
              </a:rPr>
              <a:t>EXAMINER</a:t>
            </a:r>
            <a:endParaRPr lang="en-US" sz="950" dirty="0"/>
          </a:p>
        </p:txBody>
      </p:sp>
      <p:sp>
        <p:nvSpPr>
          <p:cNvPr id="10" name="Text 8"/>
          <p:cNvSpPr/>
          <p:nvPr/>
        </p:nvSpPr>
        <p:spPr>
          <a:xfrm>
            <a:off x="4224528" y="4462272"/>
            <a:ext cx="3566160" cy="731520"/>
          </a:xfrm>
          <a:prstGeom prst="rect">
            <a:avLst/>
          </a:prstGeom>
          <a:noFill/>
          <a:ln/>
        </p:spPr>
        <p:txBody>
          <a:bodyPr wrap="square" rtlCol="0" anchor="t"/>
          <a:lstStyle/>
          <a:p>
            <a:pPr marL="0" indent="0">
              <a:lnSpc>
                <a:spcPct val="105000"/>
              </a:lnSpc>
              <a:buNone/>
            </a:pPr>
            <a:r>
              <a:rPr lang="en-US" sz="1300" b="1" dirty="0">
                <a:solidFill>
                  <a:srgbClr val="161B24"/>
                </a:solidFill>
                <a:latin typeface="Calibri" pitchFamily="34" charset="0"/>
                <a:ea typeface="Calibri" pitchFamily="34" charset="-122"/>
                <a:cs typeface="Calibri" pitchFamily="34" charset="-120"/>
              </a:rPr>
              <a:t>Prof. Dr. Andreas Fischer
</a:t>
            </a:r>
            <a:r>
              <a:rPr lang="en-US" sz="1150" dirty="0">
                <a:solidFill>
                  <a:srgbClr val="586274"/>
                </a:solidFill>
                <a:latin typeface="Calibri" pitchFamily="34" charset="0"/>
                <a:ea typeface="Calibri" pitchFamily="34" charset="-122"/>
                <a:cs typeface="Calibri" pitchFamily="34" charset="-120"/>
              </a:rPr>
              <a:t>THD — Technische Hochschule Deggendorf</a:t>
            </a:r>
            <a:endParaRPr lang="en-US" sz="1300" dirty="0"/>
          </a:p>
        </p:txBody>
      </p:sp>
      <p:sp>
        <p:nvSpPr>
          <p:cNvPr id="11" name="Text 9"/>
          <p:cNvSpPr/>
          <p:nvPr/>
        </p:nvSpPr>
        <p:spPr>
          <a:xfrm>
            <a:off x="8247888" y="4206240"/>
            <a:ext cx="3291840" cy="228600"/>
          </a:xfrm>
          <a:prstGeom prst="rect">
            <a:avLst/>
          </a:prstGeom>
          <a:noFill/>
          <a:ln/>
        </p:spPr>
        <p:txBody>
          <a:bodyPr wrap="square" rtlCol="0" anchor="ctr"/>
          <a:lstStyle/>
          <a:p>
            <a:pPr marL="0" indent="0">
              <a:buNone/>
            </a:pPr>
            <a:r>
              <a:rPr lang="en-US" sz="950" kern="0" spc="100" dirty="0">
                <a:solidFill>
                  <a:srgbClr val="959DAB"/>
                </a:solidFill>
                <a:latin typeface="Consolas" pitchFamily="34" charset="0"/>
                <a:ea typeface="Consolas" pitchFamily="34" charset="-122"/>
                <a:cs typeface="Consolas" pitchFamily="34" charset="-120"/>
              </a:rPr>
              <a:t>DATE</a:t>
            </a:r>
            <a:endParaRPr lang="en-US" sz="950" dirty="0"/>
          </a:p>
        </p:txBody>
      </p:sp>
      <p:sp>
        <p:nvSpPr>
          <p:cNvPr id="12" name="Text 10"/>
          <p:cNvSpPr/>
          <p:nvPr/>
        </p:nvSpPr>
        <p:spPr>
          <a:xfrm>
            <a:off x="8247888" y="4462272"/>
            <a:ext cx="3566160" cy="731520"/>
          </a:xfrm>
          <a:prstGeom prst="rect">
            <a:avLst/>
          </a:prstGeom>
          <a:noFill/>
          <a:ln/>
        </p:spPr>
        <p:txBody>
          <a:bodyPr wrap="square" rtlCol="0" anchor="t"/>
          <a:lstStyle/>
          <a:p>
            <a:pPr marL="0" indent="0">
              <a:lnSpc>
                <a:spcPct val="105000"/>
              </a:lnSpc>
              <a:buNone/>
            </a:pPr>
            <a:r>
              <a:rPr lang="en-US" sz="1300" b="1" dirty="0">
                <a:solidFill>
                  <a:srgbClr val="161B24"/>
                </a:solidFill>
                <a:latin typeface="Calibri" pitchFamily="34" charset="0"/>
                <a:ea typeface="Calibri" pitchFamily="34" charset="-122"/>
                <a:cs typeface="Calibri" pitchFamily="34" charset="-120"/>
              </a:rPr>
              <a:t>July 2026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02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01 · THE PROBLEM</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Structured extraction of nutritional facts from supplement-label images</a:t>
            </a:r>
            <a:endParaRPr lang="en-US" sz="2600" dirty="0"/>
          </a:p>
        </p:txBody>
      </p:sp>
      <p:sp>
        <p:nvSpPr>
          <p:cNvPr id="7" name="Shape 5"/>
          <p:cNvSpPr/>
          <p:nvPr/>
        </p:nvSpPr>
        <p:spPr>
          <a:xfrm>
            <a:off x="566928" y="1532051"/>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609344"/>
            <a:ext cx="11055096" cy="548640"/>
          </a:xfrm>
          <a:prstGeom prst="rect">
            <a:avLst/>
          </a:prstGeom>
          <a:noFill/>
          <a:ln/>
        </p:spPr>
        <p:txBody>
          <a:bodyPr wrap="square" rtlCol="0" anchor="t"/>
          <a:lstStyle/>
          <a:p>
            <a:pPr marL="0" indent="0">
              <a:lnSpc>
                <a:spcPct val="110000"/>
              </a:lnSpc>
              <a:buNone/>
            </a:pPr>
            <a:r>
              <a:rPr lang="en-US" sz="1300" dirty="0">
                <a:solidFill>
                  <a:srgbClr val="586274"/>
                </a:solidFill>
                <a:latin typeface="Calibri" pitchFamily="34" charset="0"/>
                <a:ea typeface="Calibri" pitchFamily="34" charset="-122"/>
                <a:cs typeface="Calibri" pitchFamily="34" charset="-120"/>
              </a:rPr>
              <a:t>The goal: extract the nutritional facts from a photo of a food or supplement label as structured records — one tuple </a:t>
            </a:r>
            <a:r>
              <a:rPr lang="en-US" sz="1300" b="1" dirty="0">
                <a:solidFill>
                  <a:srgbClr val="161B24"/>
                </a:solidFill>
                <a:latin typeface="Calibri" pitchFamily="34" charset="0"/>
                <a:ea typeface="Calibri" pitchFamily="34" charset="-122"/>
                <a:cs typeface="Calibri" pitchFamily="34" charset="-120"/>
              </a:rPr>
              <a:t>⟨nutrient, quantity, unit, context⟩</a:t>
            </a:r>
            <a:r>
              <a:rPr lang="en-US" sz="1300" dirty="0">
                <a:solidFill>
                  <a:srgbClr val="586274"/>
                </a:solidFill>
                <a:latin typeface="Calibri" pitchFamily="34" charset="0"/>
                <a:ea typeface="Calibri" pitchFamily="34" charset="-122"/>
                <a:cs typeface="Calibri" pitchFamily="34" charset="-120"/>
              </a:rPr>
              <a:t> per fact. Recovering it has three steps — plus one constraint:</a:t>
            </a:r>
            <a:endParaRPr lang="en-US" sz="1300" dirty="0"/>
          </a:p>
        </p:txBody>
      </p:sp>
      <p:sp>
        <p:nvSpPr>
          <p:cNvPr id="9" name="Text 7"/>
          <p:cNvSpPr/>
          <p:nvPr/>
        </p:nvSpPr>
        <p:spPr>
          <a:xfrm>
            <a:off x="566928" y="2286000"/>
            <a:ext cx="5376672" cy="1783080"/>
          </a:xfrm>
          <a:prstGeom prst="roundRect">
            <a:avLst>
              <a:gd name="adj" fmla="val 3590"/>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0F766E"/>
                </a:solidFill>
                <a:latin typeface="Consolas" pitchFamily="34" charset="0"/>
                <a:ea typeface="Consolas" pitchFamily="34" charset="-122"/>
                <a:cs typeface="Consolas" pitchFamily="34" charset="-120"/>
              </a:rPr>
              <a:t>STEP 1 · DETECT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Find the tokens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OCR reads every piece of text and returns it with a box and a confidence — an unordered bag of tokens.</a:t>
            </a:r>
            <a:endParaRPr lang="en-US" sz="900" dirty="0"/>
          </a:p>
        </p:txBody>
      </p:sp>
      <p:sp>
        <p:nvSpPr>
          <p:cNvPr id="10" name="Text 8"/>
          <p:cNvSpPr/>
          <p:nvPr/>
        </p:nvSpPr>
        <p:spPr>
          <a:xfrm>
            <a:off x="6245352" y="2286000"/>
            <a:ext cx="5376672" cy="1783080"/>
          </a:xfrm>
          <a:prstGeom prst="roundRect">
            <a:avLst>
              <a:gd name="adj" fmla="val 3590"/>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0F766E"/>
                </a:solidFill>
                <a:latin typeface="Consolas" pitchFamily="34" charset="0"/>
                <a:ea typeface="Consolas" pitchFamily="34" charset="-122"/>
                <a:cs typeface="Consolas" pitchFamily="34" charset="-120"/>
              </a:rPr>
              <a:t>STEP 2 · CLASSIFY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Type each token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Give every token a role: nutrient, quantity, unit, or context. This says what a token is — not what it belongs to.</a:t>
            </a:r>
            <a:endParaRPr lang="en-US" sz="900" dirty="0"/>
          </a:p>
        </p:txBody>
      </p:sp>
      <p:sp>
        <p:nvSpPr>
          <p:cNvPr id="11" name="Text 9"/>
          <p:cNvSpPr/>
          <p:nvPr/>
        </p:nvSpPr>
        <p:spPr>
          <a:xfrm>
            <a:off x="566928" y="4270248"/>
            <a:ext cx="5376672" cy="1783080"/>
          </a:xfrm>
          <a:prstGeom prst="roundRect">
            <a:avLst>
              <a:gd name="adj" fmla="val 3590"/>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0F766E"/>
                </a:solidFill>
                <a:latin typeface="Consolas" pitchFamily="34" charset="0"/>
                <a:ea typeface="Consolas" pitchFamily="34" charset="-122"/>
                <a:cs typeface="Consolas" pitchFamily="34" charset="-120"/>
              </a:rPr>
              <a:t>STEP 3 · ASSOCIATE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Group into tuples — the hard part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Link each quantity to its nutrient, unit, and context. A label holds many numbers; a single wrong link is a wrong fact.</a:t>
            </a:r>
            <a:endParaRPr lang="en-US" sz="900" dirty="0"/>
          </a:p>
        </p:txBody>
      </p:sp>
      <p:sp>
        <p:nvSpPr>
          <p:cNvPr id="12" name="Text 10"/>
          <p:cNvSpPr/>
          <p:nvPr/>
        </p:nvSpPr>
        <p:spPr>
          <a:xfrm>
            <a:off x="6245352" y="4270248"/>
            <a:ext cx="5376672" cy="1783080"/>
          </a:xfrm>
          <a:prstGeom prst="roundRect">
            <a:avLst>
              <a:gd name="adj" fmla="val 3590"/>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0F766E"/>
                </a:solidFill>
                <a:latin typeface="Consolas" pitchFamily="34" charset="0"/>
                <a:ea typeface="Consolas" pitchFamily="34" charset="-122"/>
                <a:cs typeface="Consolas" pitchFamily="34" charset="-120"/>
              </a:rPr>
              <a:t>THE CONSTRAINT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Zero-shot &amp; multilingual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Names span many languages and the layout→data mapping cannot be learned — annotations are for evaluation only.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03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02 · THE OBVIOUS ANSWER</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Just hand the photo to a vision–language model</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609344"/>
            <a:ext cx="11055096" cy="640080"/>
          </a:xfrm>
          <a:prstGeom prst="rect">
            <a:avLst/>
          </a:prstGeom>
          <a:noFill/>
          <a:ln/>
        </p:spPr>
        <p:txBody>
          <a:bodyPr wrap="square" rtlCol="0" anchor="t"/>
          <a:lstStyle/>
          <a:p>
            <a:pPr marL="0" indent="0">
              <a:lnSpc>
                <a:spcPct val="110000"/>
              </a:lnSpc>
              <a:buNone/>
            </a:pPr>
            <a:r>
              <a:rPr lang="en-US" sz="1300" dirty="0">
                <a:solidFill>
                  <a:srgbClr val="586274"/>
                </a:solidFill>
                <a:latin typeface="Calibri" pitchFamily="34" charset="0"/>
                <a:ea typeface="Calibri" pitchFamily="34" charset="-122"/>
                <a:cs typeface="Calibri" pitchFamily="34" charset="-120"/>
              </a:rPr>
              <a:t>The simplest thing to try today: give the label image straight to a large vision–language model and ask for the tuples. One call does the reading, the role decisions, and the binding all at once.</a:t>
            </a:r>
            <a:endParaRPr lang="en-US" sz="1300" dirty="0"/>
          </a:p>
        </p:txBody>
      </p:sp>
      <p:sp>
        <p:nvSpPr>
          <p:cNvPr id="9" name="Text 7"/>
          <p:cNvSpPr/>
          <p:nvPr/>
        </p:nvSpPr>
        <p:spPr>
          <a:xfrm>
            <a:off x="566928" y="2423160"/>
            <a:ext cx="2468880" cy="868680"/>
          </a:xfrm>
          <a:prstGeom prst="roundRect">
            <a:avLst>
              <a:gd name="adj" fmla="val 6316"/>
            </a:avLst>
          </a:prstGeom>
          <a:solidFill>
            <a:srgbClr val="FBFBFD"/>
          </a:solidFill>
          <a:ln w="12700">
            <a:solidFill>
              <a:srgbClr val="E0E4EA"/>
            </a:solidFill>
          </a:ln>
        </p:spPr>
        <p:txBody>
          <a:bodyPr wrap="square" rtlCol="0" anchor="ctr"/>
          <a:lstStyle/>
          <a:p>
            <a:pPr marL="0" indent="0" algn="ctr">
              <a:buNone/>
            </a:pPr>
            <a:r>
              <a:rPr lang="en-US" sz="900" dirty="0">
                <a:solidFill>
                  <a:srgbClr val="959DAB"/>
                </a:solidFill>
                <a:latin typeface="Consolas" pitchFamily="34" charset="0"/>
                <a:ea typeface="Consolas" pitchFamily="34" charset="-122"/>
                <a:cs typeface="Consolas" pitchFamily="34" charset="-120"/>
              </a:rPr>
              <a:t>INPUT
</a:t>
            </a:r>
            <a:endParaRPr lang="en-US" sz="900" dirty="0"/>
          </a:p>
          <a:p>
            <a:pPr marL="0" indent="0" algn="ctr">
              <a:buNone/>
            </a:pPr>
            <a:r>
              <a:rPr lang="en-US" sz="1400" b="1" dirty="0">
                <a:solidFill>
                  <a:srgbClr val="161B24"/>
                </a:solidFill>
                <a:latin typeface="Georgia" pitchFamily="34" charset="0"/>
                <a:ea typeface="Georgia" pitchFamily="34" charset="-122"/>
                <a:cs typeface="Georgia" pitchFamily="34" charset="-120"/>
              </a:rPr>
              <a:t>Label photo</a:t>
            </a:r>
            <a:endParaRPr lang="en-US" sz="900" dirty="0"/>
          </a:p>
        </p:txBody>
      </p:sp>
      <p:sp>
        <p:nvSpPr>
          <p:cNvPr id="10" name="Text 8"/>
          <p:cNvSpPr/>
          <p:nvPr/>
        </p:nvSpPr>
        <p:spPr>
          <a:xfrm>
            <a:off x="3081528" y="2423160"/>
            <a:ext cx="640080" cy="868680"/>
          </a:xfrm>
          <a:prstGeom prst="rect">
            <a:avLst/>
          </a:prstGeom>
          <a:noFill/>
          <a:ln/>
        </p:spPr>
        <p:txBody>
          <a:bodyPr wrap="square" rtlCol="0" anchor="ctr"/>
          <a:lstStyle/>
          <a:p>
            <a:pPr marL="0" indent="0" algn="ctr">
              <a:buNone/>
            </a:pPr>
            <a:r>
              <a:rPr lang="en-US" sz="2200" dirty="0">
                <a:solidFill>
                  <a:srgbClr val="959DAB"/>
                </a:solidFill>
              </a:rPr>
              <a:t>→</a:t>
            </a:r>
            <a:endParaRPr lang="en-US" sz="2200" dirty="0"/>
          </a:p>
        </p:txBody>
      </p:sp>
      <p:sp>
        <p:nvSpPr>
          <p:cNvPr id="11" name="Text 9"/>
          <p:cNvSpPr/>
          <p:nvPr/>
        </p:nvSpPr>
        <p:spPr>
          <a:xfrm>
            <a:off x="3767328" y="2423160"/>
            <a:ext cx="3657600" cy="868680"/>
          </a:xfrm>
          <a:prstGeom prst="roundRect">
            <a:avLst>
              <a:gd name="adj" fmla="val 6316"/>
            </a:avLst>
          </a:prstGeom>
          <a:solidFill>
            <a:srgbClr val="FCEBEB"/>
          </a:solidFill>
          <a:ln w="17780">
            <a:solidFill>
              <a:srgbClr val="DC2626"/>
            </a:solidFill>
          </a:ln>
        </p:spPr>
        <p:txBody>
          <a:bodyPr wrap="square" rtlCol="0" anchor="ctr"/>
          <a:lstStyle/>
          <a:p>
            <a:pPr marL="0" indent="0" algn="ctr">
              <a:buNone/>
            </a:pPr>
            <a:r>
              <a:rPr lang="en-US" sz="900" dirty="0">
                <a:solidFill>
                  <a:srgbClr val="DC2626"/>
                </a:solidFill>
                <a:latin typeface="Consolas" pitchFamily="34" charset="0"/>
                <a:ea typeface="Consolas" pitchFamily="34" charset="-122"/>
                <a:cs typeface="Consolas" pitchFamily="34" charset="-120"/>
              </a:rPr>
              <a:t>ONE OPAQUE CALL
</a:t>
            </a:r>
            <a:endParaRPr lang="en-US" sz="900" dirty="0"/>
          </a:p>
          <a:p>
            <a:pPr marL="0" indent="0" algn="ctr">
              <a:buNone/>
            </a:pPr>
            <a:r>
              <a:rPr lang="en-US" sz="1500" b="1" dirty="0">
                <a:solidFill>
                  <a:srgbClr val="161B24"/>
                </a:solidFill>
                <a:latin typeface="Georgia" pitchFamily="34" charset="0"/>
                <a:ea typeface="Georgia" pitchFamily="34" charset="-122"/>
                <a:cs typeface="Georgia" pitchFamily="34" charset="-120"/>
              </a:rPr>
              <a:t>End-to-end VLM
</a:t>
            </a:r>
            <a:endParaRPr lang="en-US" sz="900" dirty="0"/>
          </a:p>
          <a:p>
            <a:pPr marL="0" indent="0" algn="ctr">
              <a:buNone/>
            </a:pPr>
            <a:r>
              <a:rPr lang="en-US" sz="950" dirty="0">
                <a:solidFill>
                  <a:srgbClr val="586274"/>
                </a:solidFill>
                <a:latin typeface="Consolas" pitchFamily="34" charset="0"/>
                <a:ea typeface="Consolas" pitchFamily="34" charset="-122"/>
                <a:cs typeface="Consolas" pitchFamily="34" charset="-120"/>
              </a:rPr>
              <a:t>read + classify + bind</a:t>
            </a:r>
            <a:endParaRPr lang="en-US" sz="900" dirty="0"/>
          </a:p>
        </p:txBody>
      </p:sp>
      <p:sp>
        <p:nvSpPr>
          <p:cNvPr id="12" name="Text 10"/>
          <p:cNvSpPr/>
          <p:nvPr/>
        </p:nvSpPr>
        <p:spPr>
          <a:xfrm>
            <a:off x="7470648" y="2423160"/>
            <a:ext cx="640080" cy="868680"/>
          </a:xfrm>
          <a:prstGeom prst="rect">
            <a:avLst/>
          </a:prstGeom>
          <a:noFill/>
          <a:ln/>
        </p:spPr>
        <p:txBody>
          <a:bodyPr wrap="square" rtlCol="0" anchor="ctr"/>
          <a:lstStyle/>
          <a:p>
            <a:pPr marL="0" indent="0" algn="ctr">
              <a:buNone/>
            </a:pPr>
            <a:r>
              <a:rPr lang="en-US" sz="2200" dirty="0">
                <a:solidFill>
                  <a:srgbClr val="959DAB"/>
                </a:solidFill>
              </a:rPr>
              <a:t>→</a:t>
            </a:r>
            <a:endParaRPr lang="en-US" sz="2200" dirty="0"/>
          </a:p>
        </p:txBody>
      </p:sp>
      <p:sp>
        <p:nvSpPr>
          <p:cNvPr id="13" name="Text 11"/>
          <p:cNvSpPr/>
          <p:nvPr/>
        </p:nvSpPr>
        <p:spPr>
          <a:xfrm>
            <a:off x="8156448" y="2423160"/>
            <a:ext cx="2880360" cy="868680"/>
          </a:xfrm>
          <a:prstGeom prst="roundRect">
            <a:avLst>
              <a:gd name="adj" fmla="val 6316"/>
            </a:avLst>
          </a:prstGeom>
          <a:solidFill>
            <a:srgbClr val="FBFBFD"/>
          </a:solidFill>
          <a:ln w="12700">
            <a:solidFill>
              <a:srgbClr val="E0E4EA"/>
            </a:solidFill>
          </a:ln>
        </p:spPr>
        <p:txBody>
          <a:bodyPr wrap="square" rtlCol="0" anchor="ctr"/>
          <a:lstStyle/>
          <a:p>
            <a:pPr marL="0" indent="0" algn="ctr">
              <a:buNone/>
            </a:pPr>
            <a:r>
              <a:rPr lang="en-US" sz="900" dirty="0">
                <a:solidFill>
                  <a:srgbClr val="959DAB"/>
                </a:solidFill>
                <a:latin typeface="Consolas" pitchFamily="34" charset="0"/>
                <a:ea typeface="Consolas" pitchFamily="34" charset="-122"/>
                <a:cs typeface="Consolas" pitchFamily="34" charset="-120"/>
              </a:rPr>
              <a:t>OUTPUT
</a:t>
            </a:r>
            <a:endParaRPr lang="en-US" sz="900" dirty="0"/>
          </a:p>
          <a:p>
            <a:pPr marL="0" indent="0" algn="ctr">
              <a:buNone/>
            </a:pPr>
            <a:r>
              <a:rPr lang="en-US" sz="1400" b="1" dirty="0">
                <a:solidFill>
                  <a:srgbClr val="161B24"/>
                </a:solidFill>
                <a:latin typeface="Consolas" pitchFamily="34" charset="0"/>
                <a:ea typeface="Consolas" pitchFamily="34" charset="-122"/>
                <a:cs typeface="Consolas" pitchFamily="34" charset="-120"/>
              </a:rPr>
              <a:t>⟨n, q, u, x⟩</a:t>
            </a:r>
            <a:endParaRPr lang="en-US" sz="900" dirty="0"/>
          </a:p>
        </p:txBody>
      </p:sp>
      <p:sp>
        <p:nvSpPr>
          <p:cNvPr id="14" name="Text 12"/>
          <p:cNvSpPr/>
          <p:nvPr/>
        </p:nvSpPr>
        <p:spPr>
          <a:xfrm>
            <a:off x="566928" y="3566160"/>
            <a:ext cx="3520440" cy="1325880"/>
          </a:xfrm>
          <a:prstGeom prst="roundRect">
            <a:avLst>
              <a:gd name="adj" fmla="val 4828"/>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No pipeline to build
</a:t>
            </a:r>
            <a:endParaRPr lang="en-US" sz="13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No OCR, no classifier, no graph — one model does everything.</a:t>
            </a:r>
            <a:endParaRPr lang="en-US" sz="1300" dirty="0"/>
          </a:p>
        </p:txBody>
      </p:sp>
      <p:sp>
        <p:nvSpPr>
          <p:cNvPr id="15" name="Text 13"/>
          <p:cNvSpPr/>
          <p:nvPr/>
        </p:nvSpPr>
        <p:spPr>
          <a:xfrm>
            <a:off x="4334256" y="3566160"/>
            <a:ext cx="3520440" cy="1325880"/>
          </a:xfrm>
          <a:prstGeom prst="roundRect">
            <a:avLst>
              <a:gd name="adj" fmla="val 4828"/>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No labels needed
</a:t>
            </a:r>
            <a:endParaRPr lang="en-US" sz="13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Zero-shot out of the box — prompt it and read the JSON back.</a:t>
            </a:r>
            <a:endParaRPr lang="en-US" sz="1300" dirty="0"/>
          </a:p>
        </p:txBody>
      </p:sp>
      <p:sp>
        <p:nvSpPr>
          <p:cNvPr id="16" name="Text 14"/>
          <p:cNvSpPr/>
          <p:nvPr/>
        </p:nvSpPr>
        <p:spPr>
          <a:xfrm>
            <a:off x="8101584" y="3566160"/>
            <a:ext cx="3520440" cy="1325880"/>
          </a:xfrm>
          <a:prstGeom prst="roundRect">
            <a:avLst>
              <a:gd name="adj" fmla="val 4828"/>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Any layout, any language
</a:t>
            </a:r>
            <a:endParaRPr lang="en-US" sz="13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It can read curved packs, mixed languages, broken tables.</a:t>
            </a:r>
            <a:endParaRPr lang="en-US" sz="1300" dirty="0"/>
          </a:p>
        </p:txBody>
      </p:sp>
      <p:sp>
        <p:nvSpPr>
          <p:cNvPr id="17" name="Text 15"/>
          <p:cNvSpPr/>
          <p:nvPr/>
        </p:nvSpPr>
        <p:spPr>
          <a:xfrm>
            <a:off x="566928" y="5093208"/>
            <a:ext cx="11055096" cy="548640"/>
          </a:xfrm>
          <a:prstGeom prst="roundRect">
            <a:avLst>
              <a:gd name="adj" fmla="val 8333"/>
            </a:avLst>
          </a:prstGeom>
          <a:solidFill>
            <a:srgbClr val="EAF2F1"/>
          </a:solidFill>
          <a:ln/>
        </p:spPr>
        <p:txBody>
          <a:bodyPr wrap="square" lIns="139700" tIns="139700" rIns="139700" bIns="139700" rtlCol="0" anchor="ctr"/>
          <a:lstStyle/>
          <a:p>
            <a:pPr marL="0" indent="0">
              <a:lnSpc>
                <a:spcPct val="108000"/>
              </a:lnSpc>
              <a:buNone/>
            </a:pPr>
            <a:r>
              <a:rPr lang="en-US" sz="1200" dirty="0">
                <a:solidFill>
                  <a:srgbClr val="586274"/>
                </a:solidFill>
                <a:latin typeface="Calibri" pitchFamily="34" charset="0"/>
                <a:ea typeface="Calibri" pitchFamily="34" charset="-122"/>
                <a:cs typeface="Calibri" pitchFamily="34" charset="-120"/>
              </a:rPr>
              <a:t>It works, and it is the obvious baseline. </a:t>
            </a:r>
            <a:r>
              <a:rPr lang="en-US" sz="1200" b="1" dirty="0">
                <a:solidFill>
                  <a:srgbClr val="161B24"/>
                </a:solidFill>
                <a:latin typeface="Calibri" pitchFamily="34" charset="0"/>
                <a:ea typeface="Calibri" pitchFamily="34" charset="-122"/>
                <a:cs typeface="Calibri" pitchFamily="34" charset="-120"/>
              </a:rPr>
              <a:t>So why not stop here?</a:t>
            </a:r>
            <a:endParaRPr lang="en-US" sz="1200" dirty="0"/>
          </a:p>
        </p:txBody>
      </p:sp>
      <p:sp>
        <p:nvSpPr>
          <p:cNvPr id="18" name="Shape 16"/>
          <p:cNvSpPr/>
          <p:nvPr/>
        </p:nvSpPr>
        <p:spPr>
          <a:xfrm>
            <a:off x="566928" y="5093208"/>
            <a:ext cx="64008" cy="548640"/>
          </a:xfrm>
          <a:prstGeom prst="rect">
            <a:avLst/>
          </a:prstGeom>
          <a:solidFill>
            <a:srgbClr val="0F766E"/>
          </a:solid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04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DC2626"/>
                </a:solidFill>
                <a:latin typeface="Consolas" pitchFamily="34" charset="0"/>
                <a:ea typeface="Consolas" pitchFamily="34" charset="-122"/>
                <a:cs typeface="Consolas" pitchFamily="34" charset="-120"/>
              </a:rPr>
              <a:t>02 · THE CATCH</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Costly, a black box — and not even that accurate</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609344"/>
            <a:ext cx="11055096" cy="548640"/>
          </a:xfrm>
          <a:prstGeom prst="rect">
            <a:avLst/>
          </a:prstGeom>
          <a:noFill/>
          <a:ln/>
        </p:spPr>
        <p:txBody>
          <a:bodyPr wrap="square" rtlCol="0" anchor="t"/>
          <a:lstStyle/>
          <a:p>
            <a:pPr marL="0" indent="0">
              <a:lnSpc>
                <a:spcPct val="110000"/>
              </a:lnSpc>
              <a:buNone/>
            </a:pPr>
            <a:r>
              <a:rPr lang="en-US" sz="1300" dirty="0">
                <a:solidFill>
                  <a:srgbClr val="586274"/>
                </a:solidFill>
                <a:latin typeface="Calibri" pitchFamily="34" charset="0"/>
                <a:ea typeface="Calibri" pitchFamily="34" charset="-122"/>
                <a:cs typeface="Calibri" pitchFamily="34" charset="-120"/>
              </a:rPr>
              <a:t>The convenience comes at a price. For anything you want to deploy, audit, or trust, the end-to-end model fails on three counts.</a:t>
            </a:r>
            <a:endParaRPr lang="en-US" sz="1300" dirty="0"/>
          </a:p>
        </p:txBody>
      </p:sp>
      <p:sp>
        <p:nvSpPr>
          <p:cNvPr id="9" name="Text 7"/>
          <p:cNvSpPr/>
          <p:nvPr/>
        </p:nvSpPr>
        <p:spPr>
          <a:xfrm>
            <a:off x="566928" y="2240280"/>
            <a:ext cx="3520440" cy="1691640"/>
          </a:xfrm>
          <a:prstGeom prst="roundRect">
            <a:avLst>
              <a:gd name="adj" fmla="val 3784"/>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DC2626"/>
                </a:solidFill>
                <a:latin typeface="Consolas" pitchFamily="34" charset="0"/>
                <a:ea typeface="Consolas" pitchFamily="34" charset="-122"/>
                <a:cs typeface="Consolas" pitchFamily="34" charset="-120"/>
              </a:rPr>
              <a:t>EXPENSIVE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A model call per label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~7.5 s / image and a GPU pass every time. Cost and latency scale linearly with volume.</a:t>
            </a:r>
            <a:endParaRPr lang="en-US" sz="900" dirty="0"/>
          </a:p>
        </p:txBody>
      </p:sp>
      <p:sp>
        <p:nvSpPr>
          <p:cNvPr id="10" name="Text 8"/>
          <p:cNvSpPr/>
          <p:nvPr/>
        </p:nvSpPr>
        <p:spPr>
          <a:xfrm>
            <a:off x="4334256" y="2240280"/>
            <a:ext cx="3520440" cy="1691640"/>
          </a:xfrm>
          <a:prstGeom prst="roundRect">
            <a:avLst>
              <a:gd name="adj" fmla="val 3784"/>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DC2626"/>
                </a:solidFill>
                <a:latin typeface="Consolas" pitchFamily="34" charset="0"/>
                <a:ea typeface="Consolas" pitchFamily="34" charset="-122"/>
                <a:cs typeface="Consolas" pitchFamily="34" charset="-120"/>
              </a:rPr>
              <a:t>BLACK BOX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No intermediate to inspect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Image goes in, tuples come out. There is no token table, no graph, nothing between to check.</a:t>
            </a:r>
            <a:endParaRPr lang="en-US" sz="900" dirty="0"/>
          </a:p>
        </p:txBody>
      </p:sp>
      <p:sp>
        <p:nvSpPr>
          <p:cNvPr id="11" name="Text 9"/>
          <p:cNvSpPr/>
          <p:nvPr/>
        </p:nvSpPr>
        <p:spPr>
          <a:xfrm>
            <a:off x="8101584" y="2240280"/>
            <a:ext cx="3520440" cy="1691640"/>
          </a:xfrm>
          <a:prstGeom prst="roundRect">
            <a:avLst>
              <a:gd name="adj" fmla="val 3784"/>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DC2626"/>
                </a:solidFill>
                <a:latin typeface="Consolas" pitchFamily="34" charset="0"/>
                <a:ea typeface="Consolas" pitchFamily="34" charset="-122"/>
                <a:cs typeface="Consolas" pitchFamily="34" charset="-120"/>
              </a:rPr>
              <a:t>NOT TRANSPARENT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No audit trail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When a tuple is wrong, you cannot say which stage failed — reading, role, or binding.</a:t>
            </a:r>
            <a:endParaRPr lang="en-US" sz="900" dirty="0"/>
          </a:p>
        </p:txBody>
      </p:sp>
      <p:sp>
        <p:nvSpPr>
          <p:cNvPr id="12" name="Shape 10"/>
          <p:cNvSpPr/>
          <p:nvPr/>
        </p:nvSpPr>
        <p:spPr>
          <a:xfrm>
            <a:off x="566928" y="4206240"/>
            <a:ext cx="11055096" cy="1371600"/>
          </a:xfrm>
          <a:prstGeom prst="roundRect">
            <a:avLst>
              <a:gd name="adj" fmla="val 4000"/>
            </a:avLst>
          </a:prstGeom>
          <a:solidFill>
            <a:srgbClr val="FCEBEB"/>
          </a:solidFill>
          <a:ln w="17780">
            <a:solidFill>
              <a:srgbClr val="DC2626"/>
            </a:solidFill>
            <a:prstDash val="solid"/>
          </a:ln>
        </p:spPr>
        <p:txBody>
          <a:bodyPr/>
          <a:lstStyle/>
          <a:p>
            <a:endParaRPr lang="en-US"/>
          </a:p>
        </p:txBody>
      </p:sp>
      <p:sp>
        <p:nvSpPr>
          <p:cNvPr id="13" name="Text 11"/>
          <p:cNvSpPr/>
          <p:nvPr/>
        </p:nvSpPr>
        <p:spPr>
          <a:xfrm>
            <a:off x="841248" y="4206240"/>
            <a:ext cx="2194560" cy="1371600"/>
          </a:xfrm>
          <a:prstGeom prst="rect">
            <a:avLst/>
          </a:prstGeom>
          <a:noFill/>
          <a:ln/>
        </p:spPr>
        <p:txBody>
          <a:bodyPr wrap="square" rtlCol="0" anchor="ctr"/>
          <a:lstStyle/>
          <a:p>
            <a:pPr marL="0" indent="0" algn="ctr">
              <a:buNone/>
            </a:pPr>
            <a:r>
              <a:rPr lang="en-US" sz="5000" b="1" dirty="0">
                <a:solidFill>
                  <a:srgbClr val="DC2626"/>
                </a:solidFill>
                <a:latin typeface="Georgia" pitchFamily="34" charset="0"/>
                <a:ea typeface="Georgia" pitchFamily="34" charset="-122"/>
                <a:cs typeface="Georgia" pitchFamily="34" charset="-120"/>
              </a:rPr>
              <a:t>36.0</a:t>
            </a:r>
            <a:r>
              <a:rPr lang="en-US" sz="2200" dirty="0">
                <a:solidFill>
                  <a:srgbClr val="586274"/>
                </a:solidFill>
                <a:latin typeface="Georgia" pitchFamily="34" charset="0"/>
                <a:ea typeface="Georgia" pitchFamily="34" charset="-122"/>
                <a:cs typeface="Georgia" pitchFamily="34" charset="-120"/>
              </a:rPr>
              <a:t>%</a:t>
            </a:r>
            <a:endParaRPr lang="en-US" sz="5000" dirty="0"/>
          </a:p>
        </p:txBody>
      </p:sp>
      <p:sp>
        <p:nvSpPr>
          <p:cNvPr id="14" name="Text 12"/>
          <p:cNvSpPr/>
          <p:nvPr/>
        </p:nvSpPr>
        <p:spPr>
          <a:xfrm>
            <a:off x="3035808" y="4315968"/>
            <a:ext cx="8229600" cy="1152144"/>
          </a:xfrm>
          <a:prstGeom prst="rect">
            <a:avLst/>
          </a:prstGeom>
          <a:noFill/>
          <a:ln/>
        </p:spPr>
        <p:txBody>
          <a:bodyPr wrap="square" rtlCol="0" anchor="ctr"/>
          <a:lstStyle/>
          <a:p>
            <a:pPr marL="0" indent="0">
              <a:lnSpc>
                <a:spcPct val="106000"/>
              </a:lnSpc>
              <a:buNone/>
            </a:pPr>
            <a:r>
              <a:rPr lang="en-US" sz="1500" b="1" dirty="0">
                <a:solidFill>
                  <a:srgbClr val="161B24"/>
                </a:solidFill>
                <a:latin typeface="Georgia" pitchFamily="34" charset="0"/>
                <a:ea typeface="Georgia" pitchFamily="34" charset="-122"/>
                <a:cs typeface="Georgia" pitchFamily="34" charset="-120"/>
              </a:rPr>
              <a:t>And it is not even the most accurate
</a:t>
            </a:r>
            <a:endParaRPr lang="en-US" sz="1500" dirty="0"/>
          </a:p>
          <a:p>
            <a:pPr marL="0" indent="0">
              <a:lnSpc>
                <a:spcPct val="106000"/>
              </a:lnSpc>
              <a:buNone/>
            </a:pPr>
            <a:r>
              <a:rPr lang="en-US" sz="1150" dirty="0">
                <a:solidFill>
                  <a:srgbClr val="586274"/>
                </a:solidFill>
                <a:latin typeface="Calibri" pitchFamily="34" charset="0"/>
                <a:ea typeface="Calibri" pitchFamily="34" charset="-122"/>
                <a:cs typeface="Calibri" pitchFamily="34" charset="-120"/>
              </a:rPr>
              <a:t>The end-to-end VLM reaches only 36.0% four-field tuple F1 on this benchmark — it must read, type, and bind in one shot, and OCR-style errors compound. So: opaque, slow, costly — and beatable.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05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02 · OUR ANSWER</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A modular pipeline — comparable accuracy, fully transparent</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609344"/>
            <a:ext cx="11055096" cy="731520"/>
          </a:xfrm>
          <a:prstGeom prst="rect">
            <a:avLst/>
          </a:prstGeom>
          <a:noFill/>
          <a:ln/>
        </p:spPr>
        <p:txBody>
          <a:bodyPr wrap="square" rtlCol="0" anchor="t"/>
          <a:lstStyle/>
          <a:p>
            <a:pPr marL="0" indent="0">
              <a:lnSpc>
                <a:spcPct val="110000"/>
              </a:lnSpc>
              <a:buNone/>
            </a:pPr>
            <a:r>
              <a:rPr lang="en-US" sz="1300" dirty="0">
                <a:solidFill>
                  <a:srgbClr val="586274"/>
                </a:solidFill>
                <a:latin typeface="Calibri" pitchFamily="34" charset="0"/>
                <a:ea typeface="Calibri" pitchFamily="34" charset="-122"/>
                <a:cs typeface="Calibri" pitchFamily="34" charset="-120"/>
              </a:rPr>
              <a:t>Instead of one opaque model, build an </a:t>
            </a:r>
            <a:r>
              <a:rPr lang="en-US" sz="1300" b="1" dirty="0">
                <a:solidFill>
                  <a:srgbClr val="161B24"/>
                </a:solidFill>
                <a:latin typeface="Calibri" pitchFamily="34" charset="0"/>
                <a:ea typeface="Calibri" pitchFamily="34" charset="-122"/>
                <a:cs typeface="Calibri" pitchFamily="34" charset="-120"/>
              </a:rPr>
              <a:t>explicit graph over zero-shot-classified OCR tokens</a:t>
            </a:r>
            <a:r>
              <a:rPr lang="en-US" sz="1300" dirty="0">
                <a:solidFill>
                  <a:srgbClr val="586274"/>
                </a:solidFill>
                <a:latin typeface="Calibri" pitchFamily="34" charset="0"/>
                <a:ea typeface="Calibri" pitchFamily="34" charset="-122"/>
                <a:cs typeface="Calibri" pitchFamily="34" charset="-120"/>
              </a:rPr>
              <a:t>, where edges are decided by closed-form geometric and structural rules — </a:t>
            </a:r>
            <a:r>
              <a:rPr lang="en-US" sz="1300" b="1" dirty="0">
                <a:solidFill>
                  <a:srgbClr val="161B24"/>
                </a:solidFill>
                <a:latin typeface="Calibri" pitchFamily="34" charset="0"/>
                <a:ea typeface="Calibri" pitchFamily="34" charset="-122"/>
                <a:cs typeface="Calibri" pitchFamily="34" charset="-120"/>
              </a:rPr>
              <a:t>not learned weights</a:t>
            </a:r>
            <a:r>
              <a:rPr lang="en-US" sz="1300" dirty="0">
                <a:solidFill>
                  <a:srgbClr val="586274"/>
                </a:solidFill>
                <a:latin typeface="Calibri" pitchFamily="34" charset="0"/>
                <a:ea typeface="Calibri" pitchFamily="34" charset="-122"/>
                <a:cs typeface="Calibri" pitchFamily="34" charset="-120"/>
              </a:rPr>
              <a:t>. Relational power without supervision, every decision open to inspection.</a:t>
            </a:r>
            <a:endParaRPr lang="en-US" sz="1300" dirty="0"/>
          </a:p>
        </p:txBody>
      </p:sp>
      <p:sp>
        <p:nvSpPr>
          <p:cNvPr id="9" name="Text 7"/>
          <p:cNvSpPr/>
          <p:nvPr/>
        </p:nvSpPr>
        <p:spPr>
          <a:xfrm>
            <a:off x="566928" y="2468880"/>
            <a:ext cx="3520440" cy="1737360"/>
          </a:xfrm>
          <a:prstGeom prst="roundRect">
            <a:avLst>
              <a:gd name="adj" fmla="val 3684"/>
            </a:avLst>
          </a:prstGeom>
          <a:solidFill>
            <a:srgbClr val="EAF2F1"/>
          </a:solidFill>
          <a:ln w="17780">
            <a:solidFill>
              <a:srgbClr val="0F766E"/>
            </a:solidFill>
          </a:ln>
        </p:spPr>
        <p:txBody>
          <a:bodyPr wrap="square" lIns="114300" tIns="114300" rIns="114300" bIns="114300" rtlCol="0" anchor="t"/>
          <a:lstStyle/>
          <a:p>
            <a:pPr marL="0" indent="0">
              <a:lnSpc>
                <a:spcPct val="104000"/>
              </a:lnSpc>
              <a:buNone/>
            </a:pPr>
            <a:r>
              <a:rPr lang="en-US" sz="900" kern="0" spc="100" dirty="0">
                <a:solidFill>
                  <a:srgbClr val="0F766E"/>
                </a:solidFill>
                <a:latin typeface="Consolas" pitchFamily="34" charset="0"/>
                <a:ea typeface="Consolas" pitchFamily="34" charset="-122"/>
                <a:cs typeface="Consolas" pitchFamily="34" charset="-120"/>
              </a:rPr>
              <a:t>COMPARABLE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43.0% &gt; 36.0%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The best interpretable chain matches — in fact beats — the end-to-end VLM on four-field tuple F1.</a:t>
            </a:r>
            <a:endParaRPr lang="en-US" sz="900" dirty="0"/>
          </a:p>
        </p:txBody>
      </p:sp>
      <p:sp>
        <p:nvSpPr>
          <p:cNvPr id="10" name="Text 8"/>
          <p:cNvSpPr/>
          <p:nvPr/>
        </p:nvSpPr>
        <p:spPr>
          <a:xfrm>
            <a:off x="4334256" y="2468880"/>
            <a:ext cx="3520440" cy="1737360"/>
          </a:xfrm>
          <a:prstGeom prst="roundRect">
            <a:avLst>
              <a:gd name="adj" fmla="val 3684"/>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0F766E"/>
                </a:solidFill>
                <a:latin typeface="Consolas" pitchFamily="34" charset="0"/>
                <a:ea typeface="Consolas" pitchFamily="34" charset="-122"/>
                <a:cs typeface="Consolas" pitchFamily="34" charset="-120"/>
              </a:rPr>
              <a:t>CHEAPER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~4.5 s, no model call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The interpretable pipeline never calls a VLM — about 40% faster, no GPU inference per label.</a:t>
            </a:r>
            <a:endParaRPr lang="en-US" sz="900" dirty="0"/>
          </a:p>
        </p:txBody>
      </p:sp>
      <p:sp>
        <p:nvSpPr>
          <p:cNvPr id="11" name="Text 9"/>
          <p:cNvSpPr/>
          <p:nvPr/>
        </p:nvSpPr>
        <p:spPr>
          <a:xfrm>
            <a:off x="8101584" y="2468880"/>
            <a:ext cx="3520440" cy="1737360"/>
          </a:xfrm>
          <a:prstGeom prst="roundRect">
            <a:avLst>
              <a:gd name="adj" fmla="val 3684"/>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0F766E"/>
                </a:solidFill>
                <a:latin typeface="Consolas" pitchFamily="34" charset="0"/>
                <a:ea typeface="Consolas" pitchFamily="34" charset="-122"/>
                <a:cs typeface="Consolas" pitchFamily="34" charset="-120"/>
              </a:rPr>
              <a:t>TRANSPARENT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Every tuple is a path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Each binding is an edge built by a rule you can read — so a wrong tuple can be traced to one stage.</a:t>
            </a:r>
            <a:endParaRPr lang="en-US" sz="900" dirty="0"/>
          </a:p>
        </p:txBody>
      </p:sp>
      <p:sp>
        <p:nvSpPr>
          <p:cNvPr id="12" name="Text 10"/>
          <p:cNvSpPr/>
          <p:nvPr/>
        </p:nvSpPr>
        <p:spPr>
          <a:xfrm>
            <a:off x="566928" y="4434840"/>
            <a:ext cx="11055096" cy="685800"/>
          </a:xfrm>
          <a:prstGeom prst="roundRect">
            <a:avLst>
              <a:gd name="adj" fmla="val 6667"/>
            </a:avLst>
          </a:prstGeom>
          <a:solidFill>
            <a:srgbClr val="EAF2F1"/>
          </a:solidFill>
          <a:ln/>
        </p:spPr>
        <p:txBody>
          <a:bodyPr wrap="square" lIns="139700" tIns="139700" rIns="139700" bIns="139700" rtlCol="0" anchor="ctr"/>
          <a:lstStyle/>
          <a:p>
            <a:pPr marL="0" indent="0">
              <a:lnSpc>
                <a:spcPct val="108000"/>
              </a:lnSpc>
              <a:buNone/>
            </a:pPr>
            <a:r>
              <a:rPr lang="en-US" sz="1200" dirty="0">
                <a:solidFill>
                  <a:srgbClr val="586274"/>
                </a:solidFill>
                <a:latin typeface="Calibri" pitchFamily="34" charset="0"/>
                <a:ea typeface="Calibri" pitchFamily="34" charset="-122"/>
                <a:cs typeface="Calibri" pitchFamily="34" charset="-120"/>
              </a:rPr>
              <a:t>A second variant frees a VLM for the </a:t>
            </a:r>
            <a:r>
              <a:rPr lang="en-US" sz="1200" b="1" dirty="0">
                <a:solidFill>
                  <a:srgbClr val="161B24"/>
                </a:solidFill>
                <a:latin typeface="Calibri" pitchFamily="34" charset="0"/>
                <a:ea typeface="Calibri" pitchFamily="34" charset="-122"/>
                <a:cs typeface="Calibri" pitchFamily="34" charset="-120"/>
              </a:rPr>
              <a:t>association sub-task only</a:t>
            </a:r>
            <a:r>
              <a:rPr lang="en-US" sz="1200" dirty="0">
                <a:solidFill>
                  <a:srgbClr val="586274"/>
                </a:solidFill>
                <a:latin typeface="Calibri" pitchFamily="34" charset="0"/>
                <a:ea typeface="Calibri" pitchFamily="34" charset="-122"/>
                <a:cs typeface="Calibri" pitchFamily="34" charset="-120"/>
              </a:rPr>
              <a:t> — the model’s flexibility used where it pays, the rest kept interpretable.</a:t>
            </a:r>
            <a:endParaRPr lang="en-US" sz="1200" dirty="0"/>
          </a:p>
        </p:txBody>
      </p:sp>
      <p:sp>
        <p:nvSpPr>
          <p:cNvPr id="13" name="Shape 11"/>
          <p:cNvSpPr/>
          <p:nvPr/>
        </p:nvSpPr>
        <p:spPr>
          <a:xfrm>
            <a:off x="566928" y="4434840"/>
            <a:ext cx="64008" cy="685800"/>
          </a:xfrm>
          <a:prstGeom prst="rect">
            <a:avLst/>
          </a:prstGeom>
          <a:solidFill>
            <a:srgbClr val="0F766E"/>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06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03 · THE PIPELINE</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Three stages: OCR → classification → association</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91056"/>
            <a:ext cx="6035040" cy="640080"/>
          </a:xfrm>
          <a:prstGeom prst="rect">
            <a:avLst/>
          </a:prstGeom>
          <a:noFill/>
          <a:ln/>
        </p:spPr>
        <p:txBody>
          <a:bodyPr wrap="square" rtlCol="0" anchor="t"/>
          <a:lstStyle/>
          <a:p>
            <a:pPr marL="0" indent="0">
              <a:lnSpc>
                <a:spcPct val="110000"/>
              </a:lnSpc>
              <a:buNone/>
            </a:pPr>
            <a:r>
              <a:rPr lang="en-US" sz="1300" dirty="0">
                <a:solidFill>
                  <a:srgbClr val="586274"/>
                </a:solidFill>
                <a:latin typeface="Calibri" pitchFamily="34" charset="0"/>
                <a:ea typeface="Calibri" pitchFamily="34" charset="-122"/>
                <a:cs typeface="Calibri" pitchFamily="34" charset="-120"/>
              </a:rPr>
              <a:t>Three independently swappable, individually measurable stages — exactly what makes the per-stage ablation possible. The thesis figure (right) maps each stage to its ablated variants.</a:t>
            </a:r>
            <a:endParaRPr lang="en-US" sz="1300" dirty="0"/>
          </a:p>
        </p:txBody>
      </p:sp>
      <p:sp>
        <p:nvSpPr>
          <p:cNvPr id="9" name="Text 7"/>
          <p:cNvSpPr/>
          <p:nvPr/>
        </p:nvSpPr>
        <p:spPr>
          <a:xfrm>
            <a:off x="566928" y="2377440"/>
            <a:ext cx="5760720" cy="914400"/>
          </a:xfrm>
          <a:prstGeom prst="roundRect">
            <a:avLst>
              <a:gd name="adj" fmla="val 6000"/>
            </a:avLst>
          </a:prstGeom>
          <a:solidFill>
            <a:srgbClr val="FFFFFF"/>
          </a:solidFill>
          <a:ln w="12700">
            <a:solidFill>
              <a:srgbClr val="E0E4EA"/>
            </a:solidFill>
          </a:ln>
        </p:spPr>
        <p:txBody>
          <a:bodyPr wrap="square" lIns="139700" tIns="139700" rIns="139700" bIns="139700" rtlCol="0" anchor="ctr"/>
          <a:lstStyle/>
          <a:p>
            <a:pPr marL="0" indent="0">
              <a:buNone/>
            </a:pPr>
            <a:r>
              <a:rPr lang="en-US" sz="900" kern="0" spc="100" dirty="0">
                <a:solidFill>
                  <a:srgbClr val="959DAB"/>
                </a:solidFill>
                <a:latin typeface="Consolas" pitchFamily="34" charset="0"/>
                <a:ea typeface="Consolas" pitchFamily="34" charset="-122"/>
                <a:cs typeface="Consolas" pitchFamily="34" charset="-120"/>
              </a:rPr>
              <a:t>STAGE 1 · OCR
</a:t>
            </a:r>
            <a:endParaRPr lang="en-US" sz="900" dirty="0"/>
          </a:p>
          <a:p>
            <a:pPr marL="0" indent="0">
              <a:buNone/>
            </a:pPr>
            <a:r>
              <a:rPr lang="en-US" sz="1400" b="1" dirty="0">
                <a:solidFill>
                  <a:srgbClr val="161B24"/>
                </a:solidFill>
                <a:latin typeface="Georgia" pitchFamily="34" charset="0"/>
                <a:ea typeface="Georgia" pitchFamily="34" charset="-122"/>
                <a:cs typeface="Georgia" pitchFamily="34" charset="-120"/>
              </a:rPr>
              <a:t>Read &amp; correct tokens</a:t>
            </a:r>
            <a:endParaRPr lang="en-US" sz="900" dirty="0"/>
          </a:p>
        </p:txBody>
      </p:sp>
      <p:sp>
        <p:nvSpPr>
          <p:cNvPr id="10" name="Text 8"/>
          <p:cNvSpPr/>
          <p:nvPr/>
        </p:nvSpPr>
        <p:spPr>
          <a:xfrm>
            <a:off x="566928" y="3474720"/>
            <a:ext cx="5760720" cy="914400"/>
          </a:xfrm>
          <a:prstGeom prst="roundRect">
            <a:avLst>
              <a:gd name="adj" fmla="val 6000"/>
            </a:avLst>
          </a:prstGeom>
          <a:solidFill>
            <a:srgbClr val="FFFFFF"/>
          </a:solidFill>
          <a:ln w="12700">
            <a:solidFill>
              <a:srgbClr val="E0E4EA"/>
            </a:solidFill>
          </a:ln>
        </p:spPr>
        <p:txBody>
          <a:bodyPr wrap="square" lIns="139700" tIns="139700" rIns="139700" bIns="139700" rtlCol="0" anchor="ctr"/>
          <a:lstStyle/>
          <a:p>
            <a:pPr marL="0" indent="0">
              <a:buNone/>
            </a:pPr>
            <a:r>
              <a:rPr lang="en-US" sz="900" kern="0" spc="100" dirty="0">
                <a:solidFill>
                  <a:srgbClr val="959DAB"/>
                </a:solidFill>
                <a:latin typeface="Consolas" pitchFamily="34" charset="0"/>
                <a:ea typeface="Consolas" pitchFamily="34" charset="-122"/>
                <a:cs typeface="Consolas" pitchFamily="34" charset="-120"/>
              </a:rPr>
              <a:t>STAGE 2 · CLASSIFY
</a:t>
            </a:r>
            <a:endParaRPr lang="en-US" sz="900" dirty="0"/>
          </a:p>
          <a:p>
            <a:pPr marL="0" indent="0">
              <a:buNone/>
            </a:pPr>
            <a:r>
              <a:rPr lang="en-US" sz="1400" b="1" dirty="0">
                <a:solidFill>
                  <a:srgbClr val="161B24"/>
                </a:solidFill>
                <a:latin typeface="Georgia" pitchFamily="34" charset="0"/>
                <a:ea typeface="Georgia" pitchFamily="34" charset="-122"/>
                <a:cs typeface="Georgia" pitchFamily="34" charset="-120"/>
              </a:rPr>
              <a:t>Semantic role per token</a:t>
            </a:r>
            <a:endParaRPr lang="en-US" sz="900" dirty="0"/>
          </a:p>
        </p:txBody>
      </p:sp>
      <p:sp>
        <p:nvSpPr>
          <p:cNvPr id="11" name="Text 9"/>
          <p:cNvSpPr/>
          <p:nvPr/>
        </p:nvSpPr>
        <p:spPr>
          <a:xfrm>
            <a:off x="566928" y="4572000"/>
            <a:ext cx="5760720" cy="914400"/>
          </a:xfrm>
          <a:prstGeom prst="roundRect">
            <a:avLst>
              <a:gd name="adj" fmla="val 6000"/>
            </a:avLst>
          </a:prstGeom>
          <a:solidFill>
            <a:srgbClr val="EAF2F1"/>
          </a:solidFill>
          <a:ln w="17780">
            <a:solidFill>
              <a:srgbClr val="0F766E"/>
            </a:solidFill>
          </a:ln>
        </p:spPr>
        <p:txBody>
          <a:bodyPr wrap="square" lIns="139700" tIns="139700" rIns="139700" bIns="139700" rtlCol="0" anchor="ctr"/>
          <a:lstStyle/>
          <a:p>
            <a:pPr marL="0" indent="0">
              <a:buNone/>
            </a:pPr>
            <a:r>
              <a:rPr lang="en-US" sz="900" kern="0" spc="100" dirty="0">
                <a:solidFill>
                  <a:srgbClr val="959DAB"/>
                </a:solidFill>
                <a:latin typeface="Consolas" pitchFamily="34" charset="0"/>
                <a:ea typeface="Consolas" pitchFamily="34" charset="-122"/>
                <a:cs typeface="Consolas" pitchFamily="34" charset="-120"/>
              </a:rPr>
              <a:t>STAGE 3 · ASSOCIATE — the novelty
</a:t>
            </a:r>
            <a:endParaRPr lang="en-US" sz="900" dirty="0"/>
          </a:p>
          <a:p>
            <a:pPr marL="0" indent="0">
              <a:buNone/>
            </a:pPr>
            <a:r>
              <a:rPr lang="en-US" sz="1400" b="1" dirty="0">
                <a:solidFill>
                  <a:srgbClr val="0F766E"/>
                </a:solidFill>
                <a:latin typeface="Georgia" pitchFamily="34" charset="0"/>
                <a:ea typeface="Georgia" pitchFamily="34" charset="-122"/>
                <a:cs typeface="Georgia" pitchFamily="34" charset="-120"/>
              </a:rPr>
              <a:t>Typed graph → tuples</a:t>
            </a:r>
            <a:endParaRPr lang="en-US" sz="900" dirty="0"/>
          </a:p>
        </p:txBody>
      </p:sp>
      <p:sp>
        <p:nvSpPr>
          <p:cNvPr id="12" name="Shape 10"/>
          <p:cNvSpPr/>
          <p:nvPr/>
        </p:nvSpPr>
        <p:spPr>
          <a:xfrm>
            <a:off x="6858000" y="1600200"/>
            <a:ext cx="4754880" cy="4617720"/>
          </a:xfrm>
          <a:prstGeom prst="roundRect">
            <a:avLst>
              <a:gd name="adj" fmla="val 792"/>
            </a:avLst>
          </a:prstGeom>
          <a:solidFill>
            <a:srgbClr val="FFFFFF"/>
          </a:solidFill>
          <a:ln w="12700">
            <a:solidFill>
              <a:srgbClr val="E0E4EA"/>
            </a:solidFill>
            <a:prstDash val="solid"/>
          </a:ln>
        </p:spPr>
        <p:txBody>
          <a:bodyPr/>
          <a:lstStyle/>
          <a:p>
            <a:endParaRPr lang="en-US"/>
          </a:p>
        </p:txBody>
      </p:sp>
      <p:pic>
        <p:nvPicPr>
          <p:cNvPr id="13" name="Image 0" descr="preencoded.png"/>
          <p:cNvPicPr>
            <a:picLocks noChangeAspect="1"/>
          </p:cNvPicPr>
          <p:nvPr/>
        </p:nvPicPr>
        <p:blipFill>
          <a:blip r:embed="rId3"/>
          <a:srcRect/>
          <a:stretch/>
        </p:blipFill>
        <p:spPr>
          <a:xfrm>
            <a:off x="6931152" y="1673352"/>
            <a:ext cx="4608576" cy="44714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07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03 · THE HEADLINE RESULT</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Interpretable pipeline vs. the pure VLM</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72768"/>
            <a:ext cx="11055096" cy="365760"/>
          </a:xfrm>
          <a:prstGeom prst="rect">
            <a:avLst/>
          </a:prstGeom>
          <a:noFill/>
          <a:ln/>
        </p:spPr>
        <p:txBody>
          <a:bodyPr wrap="square" rtlCol="0" anchor="t"/>
          <a:lstStyle/>
          <a:p>
            <a:pPr marL="0" indent="0">
              <a:buNone/>
            </a:pPr>
            <a:r>
              <a:rPr lang="en-US" sz="1250" dirty="0">
                <a:solidFill>
                  <a:srgbClr val="586274"/>
                </a:solidFill>
                <a:latin typeface="Calibri" pitchFamily="34" charset="0"/>
                <a:ea typeface="Calibri" pitchFamily="34" charset="-122"/>
                <a:cs typeface="Calibri" pitchFamily="34" charset="-120"/>
              </a:rPr>
              <a:t>Same 57-image benchmark (866 gold tuples), same deterministic scorer. The interpretable chain is more accurate, faster, and fully inspectable.</a:t>
            </a:r>
            <a:endParaRPr lang="en-US" sz="1250" dirty="0"/>
          </a:p>
        </p:txBody>
      </p:sp>
      <p:sp>
        <p:nvSpPr>
          <p:cNvPr id="9" name="Shape 7"/>
          <p:cNvSpPr/>
          <p:nvPr/>
        </p:nvSpPr>
        <p:spPr>
          <a:xfrm>
            <a:off x="566928" y="2148840"/>
            <a:ext cx="5376672" cy="2971800"/>
          </a:xfrm>
          <a:prstGeom prst="roundRect">
            <a:avLst>
              <a:gd name="adj" fmla="val 1846"/>
            </a:avLst>
          </a:prstGeom>
          <a:solidFill>
            <a:srgbClr val="EAF2F1"/>
          </a:solidFill>
          <a:ln w="20320">
            <a:solidFill>
              <a:srgbClr val="0F766E"/>
            </a:solidFill>
            <a:prstDash val="solid"/>
          </a:ln>
        </p:spPr>
        <p:txBody>
          <a:bodyPr/>
          <a:lstStyle/>
          <a:p>
            <a:endParaRPr lang="en-US"/>
          </a:p>
        </p:txBody>
      </p:sp>
      <p:sp>
        <p:nvSpPr>
          <p:cNvPr id="10" name="Text 8"/>
          <p:cNvSpPr/>
          <p:nvPr/>
        </p:nvSpPr>
        <p:spPr>
          <a:xfrm>
            <a:off x="841248" y="2313432"/>
            <a:ext cx="4828032" cy="228600"/>
          </a:xfrm>
          <a:prstGeom prst="rect">
            <a:avLst/>
          </a:prstGeom>
          <a:noFill/>
          <a:ln/>
        </p:spPr>
        <p:txBody>
          <a:bodyPr wrap="square" rtlCol="0" anchor="ctr"/>
          <a:lstStyle/>
          <a:p>
            <a:pPr marL="0" indent="0">
              <a:buNone/>
            </a:pPr>
            <a:r>
              <a:rPr lang="en-US" sz="1000" b="1" kern="0" spc="100" dirty="0">
                <a:solidFill>
                  <a:srgbClr val="0F766E"/>
                </a:solidFill>
                <a:latin typeface="Consolas" pitchFamily="34" charset="0"/>
                <a:ea typeface="Consolas" pitchFamily="34" charset="-122"/>
                <a:cs typeface="Consolas" pitchFamily="34" charset="-120"/>
              </a:rPr>
              <a:t>OURS · BEST INTERPRETABLE  (E2-C)</a:t>
            </a:r>
            <a:endParaRPr lang="en-US" sz="1000" dirty="0"/>
          </a:p>
        </p:txBody>
      </p:sp>
      <p:sp>
        <p:nvSpPr>
          <p:cNvPr id="11" name="Text 9"/>
          <p:cNvSpPr/>
          <p:nvPr/>
        </p:nvSpPr>
        <p:spPr>
          <a:xfrm>
            <a:off x="841248" y="2560320"/>
            <a:ext cx="4828032" cy="228600"/>
          </a:xfrm>
          <a:prstGeom prst="rect">
            <a:avLst/>
          </a:prstGeom>
          <a:noFill/>
          <a:ln/>
        </p:spPr>
        <p:txBody>
          <a:bodyPr wrap="square" rtlCol="0" anchor="ctr"/>
          <a:lstStyle/>
          <a:p>
            <a:pPr marL="0" indent="0">
              <a:buNone/>
            </a:pPr>
            <a:r>
              <a:rPr lang="en-US" sz="1000" dirty="0">
                <a:solidFill>
                  <a:srgbClr val="586274"/>
                </a:solidFill>
                <a:latin typeface="Consolas" pitchFamily="34" charset="0"/>
                <a:ea typeface="Consolas" pitchFamily="34" charset="-122"/>
                <a:cs typeface="Consolas" pitchFamily="34" charset="-120"/>
              </a:rPr>
              <a:t>PaddleOCR → GLiNER → graph v2 · overlap</a:t>
            </a:r>
            <a:endParaRPr lang="en-US" sz="1000" dirty="0"/>
          </a:p>
        </p:txBody>
      </p:sp>
      <p:sp>
        <p:nvSpPr>
          <p:cNvPr id="12" name="Text 10"/>
          <p:cNvSpPr/>
          <p:nvPr/>
        </p:nvSpPr>
        <p:spPr>
          <a:xfrm>
            <a:off x="841248" y="2825496"/>
            <a:ext cx="2286000" cy="914400"/>
          </a:xfrm>
          <a:prstGeom prst="rect">
            <a:avLst/>
          </a:prstGeom>
          <a:noFill/>
          <a:ln/>
        </p:spPr>
        <p:txBody>
          <a:bodyPr wrap="square" rtlCol="0" anchor="ctr"/>
          <a:lstStyle/>
          <a:p>
            <a:pPr marL="0" indent="0">
              <a:buNone/>
            </a:pPr>
            <a:r>
              <a:rPr lang="en-US" sz="5000" b="1" dirty="0">
                <a:solidFill>
                  <a:srgbClr val="0F766E"/>
                </a:solidFill>
                <a:latin typeface="Georgia" pitchFamily="34" charset="0"/>
                <a:ea typeface="Georgia" pitchFamily="34" charset="-122"/>
                <a:cs typeface="Georgia" pitchFamily="34" charset="-120"/>
              </a:rPr>
              <a:t>43.0</a:t>
            </a:r>
            <a:r>
              <a:rPr lang="en-US" sz="2200" dirty="0">
                <a:solidFill>
                  <a:srgbClr val="586274"/>
                </a:solidFill>
                <a:latin typeface="Georgia" pitchFamily="34" charset="0"/>
                <a:ea typeface="Georgia" pitchFamily="34" charset="-122"/>
                <a:cs typeface="Georgia" pitchFamily="34" charset="-120"/>
              </a:rPr>
              <a:t>%</a:t>
            </a:r>
            <a:endParaRPr lang="en-US" sz="5000" dirty="0"/>
          </a:p>
        </p:txBody>
      </p:sp>
      <p:sp>
        <p:nvSpPr>
          <p:cNvPr id="13" name="Text 11"/>
          <p:cNvSpPr/>
          <p:nvPr/>
        </p:nvSpPr>
        <p:spPr>
          <a:xfrm>
            <a:off x="859536" y="3721608"/>
            <a:ext cx="2194560" cy="201168"/>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4-field tuple F1</a:t>
            </a:r>
            <a:endParaRPr lang="en-US" sz="900" dirty="0"/>
          </a:p>
        </p:txBody>
      </p:sp>
      <p:sp>
        <p:nvSpPr>
          <p:cNvPr id="14" name="Text 12"/>
          <p:cNvSpPr/>
          <p:nvPr/>
        </p:nvSpPr>
        <p:spPr>
          <a:xfrm>
            <a:off x="3172968" y="2825496"/>
            <a:ext cx="1325880" cy="182880"/>
          </a:xfrm>
          <a:prstGeom prst="rect">
            <a:avLst/>
          </a:prstGeom>
          <a:noFill/>
          <a:ln/>
        </p:spPr>
        <p:txBody>
          <a:bodyPr wrap="square" rtlCol="0" anchor="ctr"/>
          <a:lstStyle/>
          <a:p>
            <a:pPr marL="0" indent="0">
              <a:buNone/>
            </a:pPr>
            <a:r>
              <a:rPr lang="en-US" sz="800" kern="0" spc="100" dirty="0">
                <a:solidFill>
                  <a:srgbClr val="959DAB"/>
                </a:solidFill>
                <a:latin typeface="Consolas" pitchFamily="34" charset="0"/>
                <a:ea typeface="Consolas" pitchFamily="34" charset="-122"/>
                <a:cs typeface="Consolas" pitchFamily="34" charset="-120"/>
              </a:rPr>
              <a:t>PRECISION</a:t>
            </a:r>
            <a:endParaRPr lang="en-US" sz="800" dirty="0"/>
          </a:p>
        </p:txBody>
      </p:sp>
      <p:sp>
        <p:nvSpPr>
          <p:cNvPr id="15" name="Text 13"/>
          <p:cNvSpPr/>
          <p:nvPr/>
        </p:nvSpPr>
        <p:spPr>
          <a:xfrm>
            <a:off x="3172968" y="2990088"/>
            <a:ext cx="1325880" cy="365760"/>
          </a:xfrm>
          <a:prstGeom prst="rect">
            <a:avLst/>
          </a:prstGeom>
          <a:noFill/>
          <a:ln/>
        </p:spPr>
        <p:txBody>
          <a:bodyPr wrap="square" rtlCol="0" anchor="ctr"/>
          <a:lstStyle/>
          <a:p>
            <a:pPr marL="0" indent="0">
              <a:buNone/>
            </a:pPr>
            <a:r>
              <a:rPr lang="en-US" sz="1700" b="1" dirty="0">
                <a:solidFill>
                  <a:srgbClr val="0F766E"/>
                </a:solidFill>
                <a:latin typeface="Georgia" pitchFamily="34" charset="0"/>
                <a:ea typeface="Georgia" pitchFamily="34" charset="-122"/>
                <a:cs typeface="Georgia" pitchFamily="34" charset="-120"/>
              </a:rPr>
              <a:t>0.4634</a:t>
            </a:r>
            <a:endParaRPr lang="en-US" sz="1700" dirty="0"/>
          </a:p>
        </p:txBody>
      </p:sp>
      <p:sp>
        <p:nvSpPr>
          <p:cNvPr id="16" name="Text 14"/>
          <p:cNvSpPr/>
          <p:nvPr/>
        </p:nvSpPr>
        <p:spPr>
          <a:xfrm>
            <a:off x="4498848" y="2825496"/>
            <a:ext cx="1325880" cy="182880"/>
          </a:xfrm>
          <a:prstGeom prst="rect">
            <a:avLst/>
          </a:prstGeom>
          <a:noFill/>
          <a:ln/>
        </p:spPr>
        <p:txBody>
          <a:bodyPr wrap="square" rtlCol="0" anchor="ctr"/>
          <a:lstStyle/>
          <a:p>
            <a:pPr marL="0" indent="0">
              <a:buNone/>
            </a:pPr>
            <a:r>
              <a:rPr lang="en-US" sz="800" kern="0" spc="100" dirty="0">
                <a:solidFill>
                  <a:srgbClr val="959DAB"/>
                </a:solidFill>
                <a:latin typeface="Consolas" pitchFamily="34" charset="0"/>
                <a:ea typeface="Consolas" pitchFamily="34" charset="-122"/>
                <a:cs typeface="Consolas" pitchFamily="34" charset="-120"/>
              </a:rPr>
              <a:t>RECALL</a:t>
            </a:r>
            <a:endParaRPr lang="en-US" sz="800" dirty="0"/>
          </a:p>
        </p:txBody>
      </p:sp>
      <p:sp>
        <p:nvSpPr>
          <p:cNvPr id="17" name="Text 15"/>
          <p:cNvSpPr/>
          <p:nvPr/>
        </p:nvSpPr>
        <p:spPr>
          <a:xfrm>
            <a:off x="4498848" y="2990088"/>
            <a:ext cx="1325880" cy="365760"/>
          </a:xfrm>
          <a:prstGeom prst="rect">
            <a:avLst/>
          </a:prstGeom>
          <a:noFill/>
          <a:ln/>
        </p:spPr>
        <p:txBody>
          <a:bodyPr wrap="square" rtlCol="0" anchor="ctr"/>
          <a:lstStyle/>
          <a:p>
            <a:pPr marL="0" indent="0">
              <a:buNone/>
            </a:pPr>
            <a:r>
              <a:rPr lang="en-US" sz="1700" b="1" dirty="0">
                <a:solidFill>
                  <a:srgbClr val="0F766E"/>
                </a:solidFill>
                <a:latin typeface="Georgia" pitchFamily="34" charset="0"/>
                <a:ea typeface="Georgia" pitchFamily="34" charset="-122"/>
                <a:cs typeface="Georgia" pitchFamily="34" charset="-120"/>
              </a:rPr>
              <a:t>0.4018</a:t>
            </a:r>
            <a:endParaRPr lang="en-US" sz="1700" dirty="0"/>
          </a:p>
        </p:txBody>
      </p:sp>
      <p:sp>
        <p:nvSpPr>
          <p:cNvPr id="18" name="Text 16"/>
          <p:cNvSpPr/>
          <p:nvPr/>
        </p:nvSpPr>
        <p:spPr>
          <a:xfrm>
            <a:off x="3172968" y="3447288"/>
            <a:ext cx="1325880" cy="182880"/>
          </a:xfrm>
          <a:prstGeom prst="rect">
            <a:avLst/>
          </a:prstGeom>
          <a:noFill/>
          <a:ln/>
        </p:spPr>
        <p:txBody>
          <a:bodyPr wrap="square" rtlCol="0" anchor="ctr"/>
          <a:lstStyle/>
          <a:p>
            <a:pPr marL="0" indent="0">
              <a:buNone/>
            </a:pPr>
            <a:r>
              <a:rPr lang="en-US" sz="800" kern="0" spc="100" dirty="0">
                <a:solidFill>
                  <a:srgbClr val="959DAB"/>
                </a:solidFill>
                <a:latin typeface="Consolas" pitchFamily="34" charset="0"/>
                <a:ea typeface="Consolas" pitchFamily="34" charset="-122"/>
                <a:cs typeface="Consolas" pitchFamily="34" charset="-120"/>
              </a:rPr>
              <a:t>TRUE HITS</a:t>
            </a:r>
            <a:endParaRPr lang="en-US" sz="800" dirty="0"/>
          </a:p>
        </p:txBody>
      </p:sp>
      <p:sp>
        <p:nvSpPr>
          <p:cNvPr id="19" name="Text 17"/>
          <p:cNvSpPr/>
          <p:nvPr/>
        </p:nvSpPr>
        <p:spPr>
          <a:xfrm>
            <a:off x="3172968" y="3611880"/>
            <a:ext cx="1325880" cy="365760"/>
          </a:xfrm>
          <a:prstGeom prst="rect">
            <a:avLst/>
          </a:prstGeom>
          <a:noFill/>
          <a:ln/>
        </p:spPr>
        <p:txBody>
          <a:bodyPr wrap="square" rtlCol="0" anchor="ctr"/>
          <a:lstStyle/>
          <a:p>
            <a:pPr marL="0" indent="0">
              <a:buNone/>
            </a:pPr>
            <a:r>
              <a:rPr lang="en-US" sz="1700" b="1" dirty="0">
                <a:solidFill>
                  <a:srgbClr val="16A34A"/>
                </a:solidFill>
                <a:latin typeface="Georgia" pitchFamily="34" charset="0"/>
                <a:ea typeface="Georgia" pitchFamily="34" charset="-122"/>
                <a:cs typeface="Georgia" pitchFamily="34" charset="-120"/>
              </a:rPr>
              <a:t>348</a:t>
            </a:r>
            <a:endParaRPr lang="en-US" sz="1700" dirty="0"/>
          </a:p>
        </p:txBody>
      </p:sp>
      <p:sp>
        <p:nvSpPr>
          <p:cNvPr id="20" name="Text 18"/>
          <p:cNvSpPr/>
          <p:nvPr/>
        </p:nvSpPr>
        <p:spPr>
          <a:xfrm>
            <a:off x="4498848" y="3447288"/>
            <a:ext cx="1325880" cy="182880"/>
          </a:xfrm>
          <a:prstGeom prst="rect">
            <a:avLst/>
          </a:prstGeom>
          <a:noFill/>
          <a:ln/>
        </p:spPr>
        <p:txBody>
          <a:bodyPr wrap="square" rtlCol="0" anchor="ctr"/>
          <a:lstStyle/>
          <a:p>
            <a:pPr marL="0" indent="0">
              <a:buNone/>
            </a:pPr>
            <a:r>
              <a:rPr lang="en-US" sz="800" kern="0" spc="100" dirty="0">
                <a:solidFill>
                  <a:srgbClr val="959DAB"/>
                </a:solidFill>
                <a:latin typeface="Consolas" pitchFamily="34" charset="0"/>
                <a:ea typeface="Consolas" pitchFamily="34" charset="-122"/>
                <a:cs typeface="Consolas" pitchFamily="34" charset="-120"/>
              </a:rPr>
              <a:t>FALSE POS.</a:t>
            </a:r>
            <a:endParaRPr lang="en-US" sz="800" dirty="0"/>
          </a:p>
        </p:txBody>
      </p:sp>
      <p:sp>
        <p:nvSpPr>
          <p:cNvPr id="21" name="Text 19"/>
          <p:cNvSpPr/>
          <p:nvPr/>
        </p:nvSpPr>
        <p:spPr>
          <a:xfrm>
            <a:off x="4498848" y="3611880"/>
            <a:ext cx="1325880" cy="365760"/>
          </a:xfrm>
          <a:prstGeom prst="rect">
            <a:avLst/>
          </a:prstGeom>
          <a:noFill/>
          <a:ln/>
        </p:spPr>
        <p:txBody>
          <a:bodyPr wrap="square" rtlCol="0" anchor="ctr"/>
          <a:lstStyle/>
          <a:p>
            <a:pPr marL="0" indent="0">
              <a:buNone/>
            </a:pPr>
            <a:r>
              <a:rPr lang="en-US" sz="1700" b="1" dirty="0">
                <a:solidFill>
                  <a:srgbClr val="586274"/>
                </a:solidFill>
                <a:latin typeface="Georgia" pitchFamily="34" charset="0"/>
                <a:ea typeface="Georgia" pitchFamily="34" charset="-122"/>
                <a:cs typeface="Georgia" pitchFamily="34" charset="-120"/>
              </a:rPr>
              <a:t>403</a:t>
            </a:r>
            <a:endParaRPr lang="en-US" sz="1700" dirty="0"/>
          </a:p>
        </p:txBody>
      </p:sp>
      <p:sp>
        <p:nvSpPr>
          <p:cNvPr id="22" name="Shape 20"/>
          <p:cNvSpPr/>
          <p:nvPr/>
        </p:nvSpPr>
        <p:spPr>
          <a:xfrm>
            <a:off x="841248" y="4270248"/>
            <a:ext cx="4828032" cy="0"/>
          </a:xfrm>
          <a:prstGeom prst="line">
            <a:avLst/>
          </a:prstGeom>
          <a:noFill/>
          <a:ln w="12700">
            <a:solidFill>
              <a:srgbClr val="E0E4EA"/>
            </a:solidFill>
            <a:prstDash val="solid"/>
          </a:ln>
        </p:spPr>
        <p:txBody>
          <a:bodyPr/>
          <a:lstStyle/>
          <a:p>
            <a:endParaRPr lang="en-US"/>
          </a:p>
        </p:txBody>
      </p:sp>
      <p:sp>
        <p:nvSpPr>
          <p:cNvPr id="23" name="Text 21"/>
          <p:cNvSpPr/>
          <p:nvPr/>
        </p:nvSpPr>
        <p:spPr>
          <a:xfrm>
            <a:off x="841248" y="4389120"/>
            <a:ext cx="1600200" cy="548640"/>
          </a:xfrm>
          <a:prstGeom prst="rect">
            <a:avLst/>
          </a:prstGeom>
          <a:noFill/>
          <a:ln/>
        </p:spPr>
        <p:txBody>
          <a:bodyPr wrap="square" rtlCol="0" anchor="t"/>
          <a:lstStyle/>
          <a:p>
            <a:pPr marL="0" indent="0">
              <a:buNone/>
            </a:pPr>
            <a:r>
              <a:rPr lang="en-US" sz="1800" b="1" dirty="0">
                <a:solidFill>
                  <a:srgbClr val="161B24"/>
                </a:solidFill>
                <a:latin typeface="Georgia" pitchFamily="34" charset="0"/>
                <a:ea typeface="Georgia" pitchFamily="34" charset="-122"/>
                <a:cs typeface="Georgia" pitchFamily="34" charset="-120"/>
              </a:rPr>
              <a:t>4.50 s
</a:t>
            </a:r>
            <a:endParaRPr lang="en-US" sz="1800" dirty="0"/>
          </a:p>
          <a:p>
            <a:pPr marL="0" indent="0">
              <a:buNone/>
            </a:pPr>
            <a:r>
              <a:rPr lang="en-US" sz="850" dirty="0">
                <a:solidFill>
                  <a:srgbClr val="586274"/>
                </a:solidFill>
                <a:latin typeface="Consolas" pitchFamily="34" charset="0"/>
                <a:ea typeface="Consolas" pitchFamily="34" charset="-122"/>
                <a:cs typeface="Consolas" pitchFamily="34" charset="-120"/>
              </a:rPr>
              <a:t>per image</a:t>
            </a:r>
            <a:endParaRPr lang="en-US" sz="1800" dirty="0"/>
          </a:p>
        </p:txBody>
      </p:sp>
      <p:sp>
        <p:nvSpPr>
          <p:cNvPr id="24" name="Text 22"/>
          <p:cNvSpPr/>
          <p:nvPr/>
        </p:nvSpPr>
        <p:spPr>
          <a:xfrm>
            <a:off x="2532888" y="4389120"/>
            <a:ext cx="1600200" cy="548640"/>
          </a:xfrm>
          <a:prstGeom prst="rect">
            <a:avLst/>
          </a:prstGeom>
          <a:noFill/>
          <a:ln/>
        </p:spPr>
        <p:txBody>
          <a:bodyPr wrap="square" rtlCol="0" anchor="t"/>
          <a:lstStyle/>
          <a:p>
            <a:pPr marL="0" indent="0">
              <a:buNone/>
            </a:pPr>
            <a:r>
              <a:rPr lang="en-US" sz="1800" b="1" dirty="0">
                <a:solidFill>
                  <a:srgbClr val="161B24"/>
                </a:solidFill>
                <a:latin typeface="Georgia" pitchFamily="34" charset="0"/>
                <a:ea typeface="Georgia" pitchFamily="34" charset="-122"/>
                <a:cs typeface="Georgia" pitchFamily="34" charset="-120"/>
              </a:rPr>
              <a:t>0
</a:t>
            </a:r>
            <a:endParaRPr lang="en-US" sz="1800" dirty="0"/>
          </a:p>
          <a:p>
            <a:pPr marL="0" indent="0">
              <a:buNone/>
            </a:pPr>
            <a:r>
              <a:rPr lang="en-US" sz="850" dirty="0">
                <a:solidFill>
                  <a:srgbClr val="586274"/>
                </a:solidFill>
                <a:latin typeface="Consolas" pitchFamily="34" charset="0"/>
                <a:ea typeface="Consolas" pitchFamily="34" charset="-122"/>
                <a:cs typeface="Consolas" pitchFamily="34" charset="-120"/>
              </a:rPr>
              <a:t>VLM calls</a:t>
            </a:r>
            <a:endParaRPr lang="en-US" sz="1800" dirty="0"/>
          </a:p>
        </p:txBody>
      </p:sp>
      <p:sp>
        <p:nvSpPr>
          <p:cNvPr id="25" name="Text 23"/>
          <p:cNvSpPr/>
          <p:nvPr/>
        </p:nvSpPr>
        <p:spPr>
          <a:xfrm>
            <a:off x="4087368" y="4389120"/>
            <a:ext cx="1600200" cy="548640"/>
          </a:xfrm>
          <a:prstGeom prst="rect">
            <a:avLst/>
          </a:prstGeom>
          <a:noFill/>
          <a:ln/>
        </p:spPr>
        <p:txBody>
          <a:bodyPr wrap="square" rtlCol="0" anchor="t"/>
          <a:lstStyle/>
          <a:p>
            <a:pPr marL="0" indent="0">
              <a:buNone/>
            </a:pPr>
            <a:r>
              <a:rPr lang="en-US" sz="1800" b="1" dirty="0">
                <a:solidFill>
                  <a:srgbClr val="0F766E"/>
                </a:solidFill>
                <a:latin typeface="Georgia" pitchFamily="34" charset="0"/>
                <a:ea typeface="Georgia" pitchFamily="34" charset="-122"/>
                <a:cs typeface="Georgia" pitchFamily="34" charset="-120"/>
              </a:rPr>
              <a:t>✓
</a:t>
            </a:r>
            <a:endParaRPr lang="en-US" sz="1800" dirty="0"/>
          </a:p>
          <a:p>
            <a:pPr marL="0" indent="0">
              <a:buNone/>
            </a:pPr>
            <a:r>
              <a:rPr lang="en-US" sz="850" dirty="0">
                <a:solidFill>
                  <a:srgbClr val="586274"/>
                </a:solidFill>
                <a:latin typeface="Consolas" pitchFamily="34" charset="0"/>
                <a:ea typeface="Consolas" pitchFamily="34" charset="-122"/>
                <a:cs typeface="Consolas" pitchFamily="34" charset="-120"/>
              </a:rPr>
              <a:t>inspectable</a:t>
            </a:r>
            <a:endParaRPr lang="en-US" sz="1800" dirty="0"/>
          </a:p>
        </p:txBody>
      </p:sp>
      <p:sp>
        <p:nvSpPr>
          <p:cNvPr id="26" name="Shape 24"/>
          <p:cNvSpPr/>
          <p:nvPr/>
        </p:nvSpPr>
        <p:spPr>
          <a:xfrm>
            <a:off x="6245352" y="2148840"/>
            <a:ext cx="5376672" cy="2971800"/>
          </a:xfrm>
          <a:prstGeom prst="roundRect">
            <a:avLst>
              <a:gd name="adj" fmla="val 1846"/>
            </a:avLst>
          </a:prstGeom>
          <a:solidFill>
            <a:srgbClr val="FCEBEB"/>
          </a:solidFill>
          <a:ln w="20320">
            <a:solidFill>
              <a:srgbClr val="DC2626"/>
            </a:solidFill>
            <a:prstDash val="solid"/>
          </a:ln>
        </p:spPr>
        <p:txBody>
          <a:bodyPr/>
          <a:lstStyle/>
          <a:p>
            <a:endParaRPr lang="en-US"/>
          </a:p>
        </p:txBody>
      </p:sp>
      <p:sp>
        <p:nvSpPr>
          <p:cNvPr id="27" name="Text 25"/>
          <p:cNvSpPr/>
          <p:nvPr/>
        </p:nvSpPr>
        <p:spPr>
          <a:xfrm>
            <a:off x="6519672" y="2313432"/>
            <a:ext cx="4828032" cy="228600"/>
          </a:xfrm>
          <a:prstGeom prst="rect">
            <a:avLst/>
          </a:prstGeom>
          <a:noFill/>
          <a:ln/>
        </p:spPr>
        <p:txBody>
          <a:bodyPr wrap="square" rtlCol="0" anchor="ctr"/>
          <a:lstStyle/>
          <a:p>
            <a:pPr marL="0" indent="0">
              <a:buNone/>
            </a:pPr>
            <a:r>
              <a:rPr lang="en-US" sz="1000" b="1" kern="0" spc="100" dirty="0">
                <a:solidFill>
                  <a:srgbClr val="DC2626"/>
                </a:solidFill>
                <a:latin typeface="Consolas" pitchFamily="34" charset="0"/>
                <a:ea typeface="Consolas" pitchFamily="34" charset="-122"/>
                <a:cs typeface="Consolas" pitchFamily="34" charset="-120"/>
              </a:rPr>
              <a:t>BASELINE · PURE END-TO-END VLM  (E4)</a:t>
            </a:r>
            <a:endParaRPr lang="en-US" sz="1000" dirty="0"/>
          </a:p>
        </p:txBody>
      </p:sp>
      <p:sp>
        <p:nvSpPr>
          <p:cNvPr id="28" name="Text 26"/>
          <p:cNvSpPr/>
          <p:nvPr/>
        </p:nvSpPr>
        <p:spPr>
          <a:xfrm>
            <a:off x="6519672" y="2560320"/>
            <a:ext cx="4828032" cy="228600"/>
          </a:xfrm>
          <a:prstGeom prst="rect">
            <a:avLst/>
          </a:prstGeom>
          <a:noFill/>
          <a:ln/>
        </p:spPr>
        <p:txBody>
          <a:bodyPr wrap="square" rtlCol="0" anchor="ctr"/>
          <a:lstStyle/>
          <a:p>
            <a:pPr marL="0" indent="0">
              <a:buNone/>
            </a:pPr>
            <a:r>
              <a:rPr lang="en-US" sz="1000" dirty="0">
                <a:solidFill>
                  <a:srgbClr val="586274"/>
                </a:solidFill>
                <a:latin typeface="Consolas" pitchFamily="34" charset="0"/>
                <a:ea typeface="Consolas" pitchFamily="34" charset="-122"/>
                <a:cs typeface="Consolas" pitchFamily="34" charset="-120"/>
              </a:rPr>
              <a:t>image → Gemma 3 4B → tuples · no pipeline</a:t>
            </a:r>
            <a:endParaRPr lang="en-US" sz="1000" dirty="0"/>
          </a:p>
        </p:txBody>
      </p:sp>
      <p:sp>
        <p:nvSpPr>
          <p:cNvPr id="29" name="Text 27"/>
          <p:cNvSpPr/>
          <p:nvPr/>
        </p:nvSpPr>
        <p:spPr>
          <a:xfrm>
            <a:off x="6519672" y="2825496"/>
            <a:ext cx="2286000" cy="914400"/>
          </a:xfrm>
          <a:prstGeom prst="rect">
            <a:avLst/>
          </a:prstGeom>
          <a:noFill/>
          <a:ln/>
        </p:spPr>
        <p:txBody>
          <a:bodyPr wrap="square" rtlCol="0" anchor="ctr"/>
          <a:lstStyle/>
          <a:p>
            <a:pPr marL="0" indent="0">
              <a:buNone/>
            </a:pPr>
            <a:r>
              <a:rPr lang="en-US" sz="5000" b="1" dirty="0">
                <a:solidFill>
                  <a:srgbClr val="DC2626"/>
                </a:solidFill>
                <a:latin typeface="Georgia" pitchFamily="34" charset="0"/>
                <a:ea typeface="Georgia" pitchFamily="34" charset="-122"/>
                <a:cs typeface="Georgia" pitchFamily="34" charset="-120"/>
              </a:rPr>
              <a:t>36.0</a:t>
            </a:r>
            <a:r>
              <a:rPr lang="en-US" sz="2200" dirty="0">
                <a:solidFill>
                  <a:srgbClr val="586274"/>
                </a:solidFill>
                <a:latin typeface="Georgia" pitchFamily="34" charset="0"/>
                <a:ea typeface="Georgia" pitchFamily="34" charset="-122"/>
                <a:cs typeface="Georgia" pitchFamily="34" charset="-120"/>
              </a:rPr>
              <a:t>%</a:t>
            </a:r>
            <a:endParaRPr lang="en-US" sz="5000" dirty="0"/>
          </a:p>
        </p:txBody>
      </p:sp>
      <p:sp>
        <p:nvSpPr>
          <p:cNvPr id="30" name="Text 28"/>
          <p:cNvSpPr/>
          <p:nvPr/>
        </p:nvSpPr>
        <p:spPr>
          <a:xfrm>
            <a:off x="6537960" y="3721608"/>
            <a:ext cx="2194560" cy="201168"/>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4-field tuple F1</a:t>
            </a:r>
            <a:endParaRPr lang="en-US" sz="900" dirty="0"/>
          </a:p>
        </p:txBody>
      </p:sp>
      <p:sp>
        <p:nvSpPr>
          <p:cNvPr id="31" name="Text 29"/>
          <p:cNvSpPr/>
          <p:nvPr/>
        </p:nvSpPr>
        <p:spPr>
          <a:xfrm>
            <a:off x="8851392" y="2825496"/>
            <a:ext cx="1325880" cy="182880"/>
          </a:xfrm>
          <a:prstGeom prst="rect">
            <a:avLst/>
          </a:prstGeom>
          <a:noFill/>
          <a:ln/>
        </p:spPr>
        <p:txBody>
          <a:bodyPr wrap="square" rtlCol="0" anchor="ctr"/>
          <a:lstStyle/>
          <a:p>
            <a:pPr marL="0" indent="0">
              <a:buNone/>
            </a:pPr>
            <a:r>
              <a:rPr lang="en-US" sz="800" kern="0" spc="100" dirty="0">
                <a:solidFill>
                  <a:srgbClr val="959DAB"/>
                </a:solidFill>
                <a:latin typeface="Consolas" pitchFamily="34" charset="0"/>
                <a:ea typeface="Consolas" pitchFamily="34" charset="-122"/>
                <a:cs typeface="Consolas" pitchFamily="34" charset="-120"/>
              </a:rPr>
              <a:t>PRECISION</a:t>
            </a:r>
            <a:endParaRPr lang="en-US" sz="800" dirty="0"/>
          </a:p>
        </p:txBody>
      </p:sp>
      <p:sp>
        <p:nvSpPr>
          <p:cNvPr id="32" name="Text 30"/>
          <p:cNvSpPr/>
          <p:nvPr/>
        </p:nvSpPr>
        <p:spPr>
          <a:xfrm>
            <a:off x="8851392" y="2990088"/>
            <a:ext cx="1325880" cy="365760"/>
          </a:xfrm>
          <a:prstGeom prst="rect">
            <a:avLst/>
          </a:prstGeom>
          <a:noFill/>
          <a:ln/>
        </p:spPr>
        <p:txBody>
          <a:bodyPr wrap="square" rtlCol="0" anchor="ctr"/>
          <a:lstStyle/>
          <a:p>
            <a:pPr marL="0" indent="0">
              <a:buNone/>
            </a:pPr>
            <a:r>
              <a:rPr lang="en-US" sz="1700" b="1" dirty="0">
                <a:solidFill>
                  <a:srgbClr val="DC2626"/>
                </a:solidFill>
                <a:latin typeface="Georgia" pitchFamily="34" charset="0"/>
                <a:ea typeface="Georgia" pitchFamily="34" charset="-122"/>
                <a:cs typeface="Georgia" pitchFamily="34" charset="-120"/>
              </a:rPr>
              <a:t>0.4228</a:t>
            </a:r>
            <a:endParaRPr lang="en-US" sz="1700" dirty="0"/>
          </a:p>
        </p:txBody>
      </p:sp>
      <p:sp>
        <p:nvSpPr>
          <p:cNvPr id="33" name="Text 31"/>
          <p:cNvSpPr/>
          <p:nvPr/>
        </p:nvSpPr>
        <p:spPr>
          <a:xfrm>
            <a:off x="10177272" y="2825496"/>
            <a:ext cx="1325880" cy="182880"/>
          </a:xfrm>
          <a:prstGeom prst="rect">
            <a:avLst/>
          </a:prstGeom>
          <a:noFill/>
          <a:ln/>
        </p:spPr>
        <p:txBody>
          <a:bodyPr wrap="square" rtlCol="0" anchor="ctr"/>
          <a:lstStyle/>
          <a:p>
            <a:pPr marL="0" indent="0">
              <a:buNone/>
            </a:pPr>
            <a:r>
              <a:rPr lang="en-US" sz="800" kern="0" spc="100" dirty="0">
                <a:solidFill>
                  <a:srgbClr val="959DAB"/>
                </a:solidFill>
                <a:latin typeface="Consolas" pitchFamily="34" charset="0"/>
                <a:ea typeface="Consolas" pitchFamily="34" charset="-122"/>
                <a:cs typeface="Consolas" pitchFamily="34" charset="-120"/>
              </a:rPr>
              <a:t>RECALL</a:t>
            </a:r>
            <a:endParaRPr lang="en-US" sz="800" dirty="0"/>
          </a:p>
        </p:txBody>
      </p:sp>
      <p:sp>
        <p:nvSpPr>
          <p:cNvPr id="34" name="Text 32"/>
          <p:cNvSpPr/>
          <p:nvPr/>
        </p:nvSpPr>
        <p:spPr>
          <a:xfrm>
            <a:off x="10177272" y="2990088"/>
            <a:ext cx="1325880" cy="365760"/>
          </a:xfrm>
          <a:prstGeom prst="rect">
            <a:avLst/>
          </a:prstGeom>
          <a:noFill/>
          <a:ln/>
        </p:spPr>
        <p:txBody>
          <a:bodyPr wrap="square" rtlCol="0" anchor="ctr"/>
          <a:lstStyle/>
          <a:p>
            <a:pPr marL="0" indent="0">
              <a:buNone/>
            </a:pPr>
            <a:r>
              <a:rPr lang="en-US" sz="1700" b="1" dirty="0">
                <a:solidFill>
                  <a:srgbClr val="DC2626"/>
                </a:solidFill>
                <a:latin typeface="Georgia" pitchFamily="34" charset="0"/>
                <a:ea typeface="Georgia" pitchFamily="34" charset="-122"/>
                <a:cs typeface="Georgia" pitchFamily="34" charset="-120"/>
              </a:rPr>
              <a:t>0.3129</a:t>
            </a:r>
            <a:endParaRPr lang="en-US" sz="1700" dirty="0"/>
          </a:p>
        </p:txBody>
      </p:sp>
      <p:sp>
        <p:nvSpPr>
          <p:cNvPr id="35" name="Text 33"/>
          <p:cNvSpPr/>
          <p:nvPr/>
        </p:nvSpPr>
        <p:spPr>
          <a:xfrm>
            <a:off x="8851392" y="3447288"/>
            <a:ext cx="1325880" cy="182880"/>
          </a:xfrm>
          <a:prstGeom prst="rect">
            <a:avLst/>
          </a:prstGeom>
          <a:noFill/>
          <a:ln/>
        </p:spPr>
        <p:txBody>
          <a:bodyPr wrap="square" rtlCol="0" anchor="ctr"/>
          <a:lstStyle/>
          <a:p>
            <a:pPr marL="0" indent="0">
              <a:buNone/>
            </a:pPr>
            <a:r>
              <a:rPr lang="en-US" sz="800" kern="0" spc="100" dirty="0">
                <a:solidFill>
                  <a:srgbClr val="959DAB"/>
                </a:solidFill>
                <a:latin typeface="Consolas" pitchFamily="34" charset="0"/>
                <a:ea typeface="Consolas" pitchFamily="34" charset="-122"/>
                <a:cs typeface="Consolas" pitchFamily="34" charset="-120"/>
              </a:rPr>
              <a:t>TRUE HITS</a:t>
            </a:r>
            <a:endParaRPr lang="en-US" sz="800" dirty="0"/>
          </a:p>
        </p:txBody>
      </p:sp>
      <p:sp>
        <p:nvSpPr>
          <p:cNvPr id="36" name="Text 34"/>
          <p:cNvSpPr/>
          <p:nvPr/>
        </p:nvSpPr>
        <p:spPr>
          <a:xfrm>
            <a:off x="8851392" y="3611880"/>
            <a:ext cx="1325880" cy="365760"/>
          </a:xfrm>
          <a:prstGeom prst="rect">
            <a:avLst/>
          </a:prstGeom>
          <a:noFill/>
          <a:ln/>
        </p:spPr>
        <p:txBody>
          <a:bodyPr wrap="square" rtlCol="0" anchor="ctr"/>
          <a:lstStyle/>
          <a:p>
            <a:pPr marL="0" indent="0">
              <a:buNone/>
            </a:pPr>
            <a:r>
              <a:rPr lang="en-US" sz="1700" b="1" dirty="0">
                <a:solidFill>
                  <a:srgbClr val="16A34A"/>
                </a:solidFill>
                <a:latin typeface="Georgia" pitchFamily="34" charset="0"/>
                <a:ea typeface="Georgia" pitchFamily="34" charset="-122"/>
                <a:cs typeface="Georgia" pitchFamily="34" charset="-120"/>
              </a:rPr>
              <a:t>271</a:t>
            </a:r>
            <a:endParaRPr lang="en-US" sz="1700" dirty="0"/>
          </a:p>
        </p:txBody>
      </p:sp>
      <p:sp>
        <p:nvSpPr>
          <p:cNvPr id="37" name="Text 35"/>
          <p:cNvSpPr/>
          <p:nvPr/>
        </p:nvSpPr>
        <p:spPr>
          <a:xfrm>
            <a:off x="10177272" y="3447288"/>
            <a:ext cx="1325880" cy="182880"/>
          </a:xfrm>
          <a:prstGeom prst="rect">
            <a:avLst/>
          </a:prstGeom>
          <a:noFill/>
          <a:ln/>
        </p:spPr>
        <p:txBody>
          <a:bodyPr wrap="square" rtlCol="0" anchor="ctr"/>
          <a:lstStyle/>
          <a:p>
            <a:pPr marL="0" indent="0">
              <a:buNone/>
            </a:pPr>
            <a:r>
              <a:rPr lang="en-US" sz="800" kern="0" spc="100" dirty="0">
                <a:solidFill>
                  <a:srgbClr val="959DAB"/>
                </a:solidFill>
                <a:latin typeface="Consolas" pitchFamily="34" charset="0"/>
                <a:ea typeface="Consolas" pitchFamily="34" charset="-122"/>
                <a:cs typeface="Consolas" pitchFamily="34" charset="-120"/>
              </a:rPr>
              <a:t>FALSE POS.</a:t>
            </a:r>
            <a:endParaRPr lang="en-US" sz="800" dirty="0"/>
          </a:p>
        </p:txBody>
      </p:sp>
      <p:sp>
        <p:nvSpPr>
          <p:cNvPr id="38" name="Text 36"/>
          <p:cNvSpPr/>
          <p:nvPr/>
        </p:nvSpPr>
        <p:spPr>
          <a:xfrm>
            <a:off x="10177272" y="3611880"/>
            <a:ext cx="1325880" cy="365760"/>
          </a:xfrm>
          <a:prstGeom prst="rect">
            <a:avLst/>
          </a:prstGeom>
          <a:noFill/>
          <a:ln/>
        </p:spPr>
        <p:txBody>
          <a:bodyPr wrap="square" rtlCol="0" anchor="ctr"/>
          <a:lstStyle/>
          <a:p>
            <a:pPr marL="0" indent="0">
              <a:buNone/>
            </a:pPr>
            <a:r>
              <a:rPr lang="en-US" sz="1700" b="1" dirty="0">
                <a:solidFill>
                  <a:srgbClr val="586274"/>
                </a:solidFill>
                <a:latin typeface="Georgia" pitchFamily="34" charset="0"/>
                <a:ea typeface="Georgia" pitchFamily="34" charset="-122"/>
                <a:cs typeface="Georgia" pitchFamily="34" charset="-120"/>
              </a:rPr>
              <a:t>370</a:t>
            </a:r>
            <a:endParaRPr lang="en-US" sz="1700" dirty="0"/>
          </a:p>
        </p:txBody>
      </p:sp>
      <p:sp>
        <p:nvSpPr>
          <p:cNvPr id="39" name="Shape 37"/>
          <p:cNvSpPr/>
          <p:nvPr/>
        </p:nvSpPr>
        <p:spPr>
          <a:xfrm>
            <a:off x="6519672" y="4270248"/>
            <a:ext cx="4828032" cy="0"/>
          </a:xfrm>
          <a:prstGeom prst="line">
            <a:avLst/>
          </a:prstGeom>
          <a:noFill/>
          <a:ln w="12700">
            <a:solidFill>
              <a:srgbClr val="E0E4EA"/>
            </a:solidFill>
            <a:prstDash val="solid"/>
          </a:ln>
        </p:spPr>
        <p:txBody>
          <a:bodyPr/>
          <a:lstStyle/>
          <a:p>
            <a:endParaRPr lang="en-US"/>
          </a:p>
        </p:txBody>
      </p:sp>
      <p:sp>
        <p:nvSpPr>
          <p:cNvPr id="40" name="Text 38"/>
          <p:cNvSpPr/>
          <p:nvPr/>
        </p:nvSpPr>
        <p:spPr>
          <a:xfrm>
            <a:off x="6519672" y="4389120"/>
            <a:ext cx="1600200" cy="548640"/>
          </a:xfrm>
          <a:prstGeom prst="rect">
            <a:avLst/>
          </a:prstGeom>
          <a:noFill/>
          <a:ln/>
        </p:spPr>
        <p:txBody>
          <a:bodyPr wrap="square" rtlCol="0" anchor="t"/>
          <a:lstStyle/>
          <a:p>
            <a:pPr marL="0" indent="0">
              <a:buNone/>
            </a:pPr>
            <a:r>
              <a:rPr lang="en-US" sz="1800" b="1" dirty="0">
                <a:solidFill>
                  <a:srgbClr val="161B24"/>
                </a:solidFill>
                <a:latin typeface="Georgia" pitchFamily="34" charset="0"/>
                <a:ea typeface="Georgia" pitchFamily="34" charset="-122"/>
                <a:cs typeface="Georgia" pitchFamily="34" charset="-120"/>
              </a:rPr>
              <a:t>7.53 s
</a:t>
            </a:r>
            <a:endParaRPr lang="en-US" sz="1800" dirty="0"/>
          </a:p>
          <a:p>
            <a:pPr marL="0" indent="0">
              <a:buNone/>
            </a:pPr>
            <a:r>
              <a:rPr lang="en-US" sz="850" dirty="0">
                <a:solidFill>
                  <a:srgbClr val="586274"/>
                </a:solidFill>
                <a:latin typeface="Consolas" pitchFamily="34" charset="0"/>
                <a:ea typeface="Consolas" pitchFamily="34" charset="-122"/>
                <a:cs typeface="Consolas" pitchFamily="34" charset="-120"/>
              </a:rPr>
              <a:t>per image</a:t>
            </a:r>
            <a:endParaRPr lang="en-US" sz="1800" dirty="0"/>
          </a:p>
        </p:txBody>
      </p:sp>
      <p:sp>
        <p:nvSpPr>
          <p:cNvPr id="41" name="Text 39"/>
          <p:cNvSpPr/>
          <p:nvPr/>
        </p:nvSpPr>
        <p:spPr>
          <a:xfrm>
            <a:off x="8211312" y="4389120"/>
            <a:ext cx="1600200" cy="548640"/>
          </a:xfrm>
          <a:prstGeom prst="rect">
            <a:avLst/>
          </a:prstGeom>
          <a:noFill/>
          <a:ln/>
        </p:spPr>
        <p:txBody>
          <a:bodyPr wrap="square" rtlCol="0" anchor="t"/>
          <a:lstStyle/>
          <a:p>
            <a:pPr marL="0" indent="0">
              <a:buNone/>
            </a:pPr>
            <a:r>
              <a:rPr lang="en-US" sz="1800" b="1" dirty="0">
                <a:solidFill>
                  <a:srgbClr val="161B24"/>
                </a:solidFill>
                <a:latin typeface="Georgia" pitchFamily="34" charset="0"/>
                <a:ea typeface="Georgia" pitchFamily="34" charset="-122"/>
                <a:cs typeface="Georgia" pitchFamily="34" charset="-120"/>
              </a:rPr>
              <a:t>1
</a:t>
            </a:r>
            <a:endParaRPr lang="en-US" sz="1800" dirty="0"/>
          </a:p>
          <a:p>
            <a:pPr marL="0" indent="0">
              <a:buNone/>
            </a:pPr>
            <a:r>
              <a:rPr lang="en-US" sz="850" dirty="0">
                <a:solidFill>
                  <a:srgbClr val="586274"/>
                </a:solidFill>
                <a:latin typeface="Consolas" pitchFamily="34" charset="0"/>
                <a:ea typeface="Consolas" pitchFamily="34" charset="-122"/>
                <a:cs typeface="Consolas" pitchFamily="34" charset="-120"/>
              </a:rPr>
              <a:t>VLM call/img</a:t>
            </a:r>
            <a:endParaRPr lang="en-US" sz="1800" dirty="0"/>
          </a:p>
        </p:txBody>
      </p:sp>
      <p:sp>
        <p:nvSpPr>
          <p:cNvPr id="42" name="Text 40"/>
          <p:cNvSpPr/>
          <p:nvPr/>
        </p:nvSpPr>
        <p:spPr>
          <a:xfrm>
            <a:off x="9765792" y="4389120"/>
            <a:ext cx="1600200" cy="548640"/>
          </a:xfrm>
          <a:prstGeom prst="rect">
            <a:avLst/>
          </a:prstGeom>
          <a:noFill/>
          <a:ln/>
        </p:spPr>
        <p:txBody>
          <a:bodyPr wrap="square" rtlCol="0" anchor="t"/>
          <a:lstStyle/>
          <a:p>
            <a:pPr marL="0" indent="0">
              <a:buNone/>
            </a:pPr>
            <a:r>
              <a:rPr lang="en-US" sz="1800" b="1" dirty="0">
                <a:solidFill>
                  <a:srgbClr val="DC2626"/>
                </a:solidFill>
                <a:latin typeface="Georgia" pitchFamily="34" charset="0"/>
                <a:ea typeface="Georgia" pitchFamily="34" charset="-122"/>
                <a:cs typeface="Georgia" pitchFamily="34" charset="-120"/>
              </a:rPr>
              <a:t>✕
</a:t>
            </a:r>
            <a:endParaRPr lang="en-US" sz="1800" dirty="0"/>
          </a:p>
          <a:p>
            <a:pPr marL="0" indent="0">
              <a:buNone/>
            </a:pPr>
            <a:r>
              <a:rPr lang="en-US" sz="850" dirty="0">
                <a:solidFill>
                  <a:srgbClr val="586274"/>
                </a:solidFill>
                <a:latin typeface="Consolas" pitchFamily="34" charset="0"/>
                <a:ea typeface="Consolas" pitchFamily="34" charset="-122"/>
                <a:cs typeface="Consolas" pitchFamily="34" charset="-120"/>
              </a:rPr>
              <a:t>black box</a:t>
            </a:r>
            <a:endParaRPr lang="en-US" sz="1800" dirty="0"/>
          </a:p>
        </p:txBody>
      </p:sp>
      <p:sp>
        <p:nvSpPr>
          <p:cNvPr id="43" name="Text 41"/>
          <p:cNvSpPr/>
          <p:nvPr/>
        </p:nvSpPr>
        <p:spPr>
          <a:xfrm>
            <a:off x="566928" y="5285232"/>
            <a:ext cx="11055096" cy="603504"/>
          </a:xfrm>
          <a:prstGeom prst="roundRect">
            <a:avLst>
              <a:gd name="adj" fmla="val 7576"/>
            </a:avLst>
          </a:prstGeom>
          <a:solidFill>
            <a:srgbClr val="EAF2F1"/>
          </a:solidFill>
          <a:ln/>
        </p:spPr>
        <p:txBody>
          <a:bodyPr wrap="square" lIns="139700" tIns="139700" rIns="139700" bIns="139700" rtlCol="0" anchor="ctr"/>
          <a:lstStyle/>
          <a:p>
            <a:pPr marL="0" indent="0">
              <a:lnSpc>
                <a:spcPct val="106000"/>
              </a:lnSpc>
              <a:buNone/>
            </a:pPr>
            <a:r>
              <a:rPr lang="en-US" sz="1150" b="1" dirty="0">
                <a:solidFill>
                  <a:srgbClr val="161B24"/>
                </a:solidFill>
                <a:latin typeface="Calibri" pitchFamily="34" charset="0"/>
                <a:ea typeface="Calibri" pitchFamily="34" charset="-122"/>
                <a:cs typeface="Calibri" pitchFamily="34" charset="-120"/>
              </a:rPr>
              <a:t>+6.4 pts F1, +77 more correct tuples, ~40% faster, and transparent. </a:t>
            </a:r>
            <a:r>
              <a:rPr lang="en-US" sz="1150" dirty="0">
                <a:solidFill>
                  <a:srgbClr val="586274"/>
                </a:solidFill>
                <a:latin typeface="Calibri" pitchFamily="34" charset="0"/>
                <a:ea typeface="Calibri" pitchFamily="34" charset="-122"/>
                <a:cs typeface="Calibri" pitchFamily="34" charset="-120"/>
              </a:rPr>
              <a:t>Ours predicts more (751 vs 641) so it carries a few more false positives, but converts far more gold tuples. The 49.5% embedding+VLM hybrid scores higher still — at 13.7 s/image and a black-box binding step.</a:t>
            </a:r>
            <a:endParaRPr lang="en-US" sz="1150" dirty="0"/>
          </a:p>
        </p:txBody>
      </p:sp>
      <p:sp>
        <p:nvSpPr>
          <p:cNvPr id="44" name="Shape 42"/>
          <p:cNvSpPr/>
          <p:nvPr/>
        </p:nvSpPr>
        <p:spPr>
          <a:xfrm>
            <a:off x="566928" y="5285232"/>
            <a:ext cx="64008" cy="603504"/>
          </a:xfrm>
          <a:prstGeom prst="rect">
            <a:avLst/>
          </a:prstGeom>
          <a:solidFill>
            <a:srgbClr val="0F766E"/>
          </a:solidFill>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08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04 · EVALUATION DATASET</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57 labels, 866 nutritional facts — every image is a test image</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72768"/>
            <a:ext cx="11055096" cy="457200"/>
          </a:xfrm>
          <a:prstGeom prst="rect">
            <a:avLst/>
          </a:prstGeom>
          <a:noFill/>
          <a:ln/>
        </p:spPr>
        <p:txBody>
          <a:bodyPr wrap="square" rtlCol="0" anchor="t"/>
          <a:lstStyle/>
          <a:p>
            <a:pPr marL="0" indent="0">
              <a:lnSpc>
                <a:spcPct val="115000"/>
              </a:lnSpc>
              <a:buNone/>
            </a:pPr>
            <a:r>
              <a:rPr lang="en-US" sz="1250" dirty="0">
                <a:solidFill>
                  <a:srgbClr val="586274"/>
                </a:solidFill>
                <a:latin typeface="Calibri" pitchFamily="34" charset="0"/>
                <a:ea typeface="Calibri" pitchFamily="34" charset="-122"/>
                <a:cs typeface="Calibri" pitchFamily="34" charset="-120"/>
              </a:rPr>
              <a:t>A zero-shot benchmark of photographed and supplier-provided nutrition &amp; supplement labels. Nothing is held out for training — all 57 images are evaluation-only, scored by one deterministic evaluator.</a:t>
            </a:r>
            <a:endParaRPr lang="en-US" sz="1250" dirty="0"/>
          </a:p>
        </p:txBody>
      </p:sp>
      <p:sp>
        <p:nvSpPr>
          <p:cNvPr id="9" name="Text 7"/>
          <p:cNvSpPr/>
          <p:nvPr/>
        </p:nvSpPr>
        <p:spPr>
          <a:xfrm>
            <a:off x="566928" y="2148840"/>
            <a:ext cx="2084832" cy="1060704"/>
          </a:xfrm>
          <a:prstGeom prst="roundRect">
            <a:avLst>
              <a:gd name="adj" fmla="val 5714"/>
            </a:avLst>
          </a:prstGeom>
          <a:solidFill>
            <a:srgbClr val="F6F7FA"/>
          </a:solidFill>
          <a:ln w="12700">
            <a:solidFill>
              <a:srgbClr val="E0E4EA"/>
            </a:solidFill>
          </a:ln>
        </p:spPr>
        <p:txBody>
          <a:bodyPr wrap="square" rtlCol="0" anchor="ctr"/>
          <a:lstStyle/>
          <a:p>
            <a:pPr marL="0" indent="0" algn="ctr">
              <a:lnSpc>
                <a:spcPct val="100000"/>
              </a:lnSpc>
              <a:buNone/>
            </a:pPr>
            <a:r>
              <a:rPr lang="en-US" sz="3000" b="1" dirty="0">
                <a:solidFill>
                  <a:srgbClr val="0F766E"/>
                </a:solidFill>
                <a:latin typeface="Georgia" pitchFamily="34" charset="0"/>
                <a:ea typeface="Georgia" pitchFamily="34" charset="-122"/>
                <a:cs typeface="Georgia" pitchFamily="34" charset="-120"/>
              </a:rPr>
              <a:t>57
</a:t>
            </a:r>
            <a:endParaRPr lang="en-US" sz="3000" dirty="0"/>
          </a:p>
          <a:p>
            <a:pPr marL="0" indent="0" algn="ctr">
              <a:lnSpc>
                <a:spcPct val="100000"/>
              </a:lnSpc>
              <a:buNone/>
            </a:pPr>
            <a:r>
              <a:rPr lang="en-US" sz="850" dirty="0">
                <a:solidFill>
                  <a:srgbClr val="586274"/>
                </a:solidFill>
                <a:latin typeface="Consolas" pitchFamily="34" charset="0"/>
                <a:ea typeface="Consolas" pitchFamily="34" charset="-122"/>
                <a:cs typeface="Consolas" pitchFamily="34" charset="-120"/>
              </a:rPr>
              <a:t>label images</a:t>
            </a:r>
            <a:endParaRPr lang="en-US" sz="3000" dirty="0"/>
          </a:p>
        </p:txBody>
      </p:sp>
      <p:sp>
        <p:nvSpPr>
          <p:cNvPr id="10" name="Text 8"/>
          <p:cNvSpPr/>
          <p:nvPr/>
        </p:nvSpPr>
        <p:spPr>
          <a:xfrm>
            <a:off x="2816352" y="2148840"/>
            <a:ext cx="2084832" cy="1060704"/>
          </a:xfrm>
          <a:prstGeom prst="roundRect">
            <a:avLst>
              <a:gd name="adj" fmla="val 5714"/>
            </a:avLst>
          </a:prstGeom>
          <a:solidFill>
            <a:srgbClr val="F6F7FA"/>
          </a:solidFill>
          <a:ln w="12700">
            <a:solidFill>
              <a:srgbClr val="E0E4EA"/>
            </a:solidFill>
          </a:ln>
        </p:spPr>
        <p:txBody>
          <a:bodyPr wrap="square" rtlCol="0" anchor="ctr"/>
          <a:lstStyle/>
          <a:p>
            <a:pPr marL="0" indent="0" algn="ctr">
              <a:lnSpc>
                <a:spcPct val="100000"/>
              </a:lnSpc>
              <a:buNone/>
            </a:pPr>
            <a:r>
              <a:rPr lang="en-US" sz="3000" b="1" dirty="0">
                <a:solidFill>
                  <a:srgbClr val="0F766E"/>
                </a:solidFill>
                <a:latin typeface="Georgia" pitchFamily="34" charset="0"/>
                <a:ea typeface="Georgia" pitchFamily="34" charset="-122"/>
                <a:cs typeface="Georgia" pitchFamily="34" charset="-120"/>
              </a:rPr>
              <a:t>866
</a:t>
            </a:r>
            <a:endParaRPr lang="en-US" sz="3000" dirty="0"/>
          </a:p>
          <a:p>
            <a:pPr marL="0" indent="0" algn="ctr">
              <a:lnSpc>
                <a:spcPct val="100000"/>
              </a:lnSpc>
              <a:buNone/>
            </a:pPr>
            <a:r>
              <a:rPr lang="en-US" sz="850" dirty="0">
                <a:solidFill>
                  <a:srgbClr val="586274"/>
                </a:solidFill>
                <a:latin typeface="Consolas" pitchFamily="34" charset="0"/>
                <a:ea typeface="Consolas" pitchFamily="34" charset="-122"/>
                <a:cs typeface="Consolas" pitchFamily="34" charset="-120"/>
              </a:rPr>
              <a:t>gold tuples</a:t>
            </a:r>
            <a:endParaRPr lang="en-US" sz="3000" dirty="0"/>
          </a:p>
        </p:txBody>
      </p:sp>
      <p:sp>
        <p:nvSpPr>
          <p:cNvPr id="11" name="Text 9"/>
          <p:cNvSpPr/>
          <p:nvPr/>
        </p:nvSpPr>
        <p:spPr>
          <a:xfrm>
            <a:off x="5065776" y="2148840"/>
            <a:ext cx="2084832" cy="1078992"/>
          </a:xfrm>
          <a:prstGeom prst="roundRect">
            <a:avLst>
              <a:gd name="adj" fmla="val 5714"/>
            </a:avLst>
          </a:prstGeom>
          <a:solidFill>
            <a:srgbClr val="F6F7FA"/>
          </a:solidFill>
          <a:ln w="12700">
            <a:solidFill>
              <a:srgbClr val="E0E4EA"/>
            </a:solidFill>
          </a:ln>
        </p:spPr>
        <p:txBody>
          <a:bodyPr wrap="square" rtlCol="0" anchor="ctr"/>
          <a:lstStyle/>
          <a:p>
            <a:pPr marL="0" indent="0" algn="ctr">
              <a:lnSpc>
                <a:spcPct val="100000"/>
              </a:lnSpc>
              <a:buNone/>
            </a:pPr>
            <a:r>
              <a:rPr lang="en-US" sz="3000" b="1" dirty="0">
                <a:solidFill>
                  <a:srgbClr val="0F766E"/>
                </a:solidFill>
                <a:latin typeface="Georgia" pitchFamily="34" charset="0"/>
                <a:ea typeface="Georgia" pitchFamily="34" charset="-122"/>
                <a:cs typeface="Georgia" pitchFamily="34" charset="-120"/>
              </a:rPr>
              <a:t>15.2
</a:t>
            </a:r>
            <a:endParaRPr lang="en-US" sz="3000" dirty="0"/>
          </a:p>
          <a:p>
            <a:pPr marL="0" indent="0" algn="ctr">
              <a:lnSpc>
                <a:spcPct val="100000"/>
              </a:lnSpc>
              <a:buNone/>
            </a:pPr>
            <a:r>
              <a:rPr lang="en-US" sz="850" dirty="0">
                <a:solidFill>
                  <a:srgbClr val="586274"/>
                </a:solidFill>
                <a:latin typeface="Consolas" pitchFamily="34" charset="0"/>
                <a:ea typeface="Consolas" pitchFamily="34" charset="-122"/>
                <a:cs typeface="Consolas" pitchFamily="34" charset="-120"/>
              </a:rPr>
              <a:t>mean tuples/image · max 48</a:t>
            </a:r>
            <a:endParaRPr lang="en-US" sz="3000" dirty="0"/>
          </a:p>
        </p:txBody>
      </p:sp>
      <p:sp>
        <p:nvSpPr>
          <p:cNvPr id="12" name="Text 10"/>
          <p:cNvSpPr/>
          <p:nvPr/>
        </p:nvSpPr>
        <p:spPr>
          <a:xfrm>
            <a:off x="7315200" y="2148840"/>
            <a:ext cx="2084832" cy="1060704"/>
          </a:xfrm>
          <a:prstGeom prst="roundRect">
            <a:avLst>
              <a:gd name="adj" fmla="val 5714"/>
            </a:avLst>
          </a:prstGeom>
          <a:solidFill>
            <a:srgbClr val="F6F7FA"/>
          </a:solidFill>
          <a:ln w="12700">
            <a:solidFill>
              <a:srgbClr val="E0E4EA"/>
            </a:solidFill>
          </a:ln>
        </p:spPr>
        <p:txBody>
          <a:bodyPr wrap="square" rtlCol="0" anchor="ctr"/>
          <a:lstStyle/>
          <a:p>
            <a:pPr marL="0" indent="0" algn="ctr">
              <a:lnSpc>
                <a:spcPct val="100000"/>
              </a:lnSpc>
              <a:buNone/>
            </a:pPr>
            <a:r>
              <a:rPr lang="en-US" sz="3000" b="1" dirty="0">
                <a:solidFill>
                  <a:srgbClr val="0F766E"/>
                </a:solidFill>
                <a:latin typeface="Georgia" pitchFamily="34" charset="0"/>
                <a:ea typeface="Georgia" pitchFamily="34" charset="-122"/>
                <a:cs typeface="Georgia" pitchFamily="34" charset="-120"/>
              </a:rPr>
              <a:t>62
</a:t>
            </a:r>
            <a:endParaRPr lang="en-US" sz="3000" dirty="0"/>
          </a:p>
          <a:p>
            <a:pPr marL="0" indent="0" algn="ctr">
              <a:lnSpc>
                <a:spcPct val="100000"/>
              </a:lnSpc>
              <a:buNone/>
            </a:pPr>
            <a:r>
              <a:rPr lang="en-US" sz="850" dirty="0">
                <a:solidFill>
                  <a:srgbClr val="586274"/>
                </a:solidFill>
                <a:latin typeface="Consolas" pitchFamily="34" charset="0"/>
                <a:ea typeface="Consolas" pitchFamily="34" charset="-122"/>
                <a:cs typeface="Consolas" pitchFamily="34" charset="-120"/>
              </a:rPr>
              <a:t>unique nutrients</a:t>
            </a:r>
            <a:endParaRPr lang="en-US" sz="3000" dirty="0"/>
          </a:p>
        </p:txBody>
      </p:sp>
      <p:sp>
        <p:nvSpPr>
          <p:cNvPr id="13" name="Text 11"/>
          <p:cNvSpPr/>
          <p:nvPr/>
        </p:nvSpPr>
        <p:spPr>
          <a:xfrm>
            <a:off x="9564624" y="2148840"/>
            <a:ext cx="2084832" cy="1060704"/>
          </a:xfrm>
          <a:prstGeom prst="roundRect">
            <a:avLst>
              <a:gd name="adj" fmla="val 5714"/>
            </a:avLst>
          </a:prstGeom>
          <a:solidFill>
            <a:srgbClr val="F6F7FA"/>
          </a:solidFill>
          <a:ln w="12700">
            <a:solidFill>
              <a:srgbClr val="E0E4EA"/>
            </a:solidFill>
          </a:ln>
        </p:spPr>
        <p:txBody>
          <a:bodyPr wrap="square" rtlCol="0" anchor="ctr"/>
          <a:lstStyle/>
          <a:p>
            <a:pPr marL="0" indent="0" algn="ctr">
              <a:lnSpc>
                <a:spcPct val="100000"/>
              </a:lnSpc>
              <a:buNone/>
            </a:pPr>
            <a:r>
              <a:rPr lang="en-US" sz="3000" b="1" dirty="0">
                <a:solidFill>
                  <a:srgbClr val="0F766E"/>
                </a:solidFill>
                <a:latin typeface="Georgia" pitchFamily="34" charset="0"/>
                <a:ea typeface="Georgia" pitchFamily="34" charset="-122"/>
                <a:cs typeface="Georgia" pitchFamily="34" charset="-120"/>
              </a:rPr>
              <a:t>0
</a:t>
            </a:r>
            <a:endParaRPr lang="en-US" sz="3000" dirty="0"/>
          </a:p>
          <a:p>
            <a:pPr marL="0" indent="0" algn="ctr">
              <a:lnSpc>
                <a:spcPct val="100000"/>
              </a:lnSpc>
              <a:buNone/>
            </a:pPr>
            <a:r>
              <a:rPr lang="en-US" sz="850" dirty="0">
                <a:solidFill>
                  <a:srgbClr val="586274"/>
                </a:solidFill>
                <a:latin typeface="Consolas" pitchFamily="34" charset="0"/>
                <a:ea typeface="Consolas" pitchFamily="34" charset="-122"/>
                <a:cs typeface="Consolas" pitchFamily="34" charset="-120"/>
              </a:rPr>
              <a:t>used for training</a:t>
            </a:r>
            <a:endParaRPr lang="en-US" sz="3000" dirty="0"/>
          </a:p>
        </p:txBody>
      </p:sp>
      <p:sp>
        <p:nvSpPr>
          <p:cNvPr id="14" name="Text 12"/>
          <p:cNvSpPr/>
          <p:nvPr/>
        </p:nvSpPr>
        <p:spPr>
          <a:xfrm>
            <a:off x="566928" y="3429000"/>
            <a:ext cx="5303520" cy="228600"/>
          </a:xfrm>
          <a:prstGeom prst="rect">
            <a:avLst/>
          </a:prstGeom>
          <a:noFill/>
          <a:ln/>
        </p:spPr>
        <p:txBody>
          <a:bodyPr wrap="square" rtlCol="0" anchor="ctr"/>
          <a:lstStyle/>
          <a:p>
            <a:pPr marL="0" indent="0">
              <a:buNone/>
            </a:pPr>
            <a:r>
              <a:rPr lang="en-US" sz="950" kern="0" spc="100" dirty="0">
                <a:solidFill>
                  <a:srgbClr val="959DAB"/>
                </a:solidFill>
                <a:latin typeface="Consolas" pitchFamily="34" charset="0"/>
                <a:ea typeface="Consolas" pitchFamily="34" charset="-122"/>
                <a:cs typeface="Consolas" pitchFamily="34" charset="-120"/>
              </a:rPr>
              <a:t>CONTEXT DISTRIBUTION</a:t>
            </a:r>
            <a:endParaRPr lang="en-US" sz="950" dirty="0"/>
          </a:p>
        </p:txBody>
      </p:sp>
      <p:sp>
        <p:nvSpPr>
          <p:cNvPr id="15" name="Text 13"/>
          <p:cNvSpPr/>
          <p:nvPr/>
        </p:nvSpPr>
        <p:spPr>
          <a:xfrm>
            <a:off x="566928" y="3767328"/>
            <a:ext cx="1737360" cy="310896"/>
          </a:xfrm>
          <a:prstGeom prst="rect">
            <a:avLst/>
          </a:prstGeom>
          <a:noFill/>
          <a:ln/>
        </p:spPr>
        <p:txBody>
          <a:bodyPr wrap="square" rtlCol="0" anchor="ctr"/>
          <a:lstStyle/>
          <a:p>
            <a:pPr marL="0" indent="0">
              <a:buNone/>
            </a:pPr>
            <a:r>
              <a:rPr lang="en-US" sz="1000" dirty="0">
                <a:solidFill>
                  <a:srgbClr val="161B24"/>
                </a:solidFill>
                <a:latin typeface="Consolas" pitchFamily="34" charset="0"/>
                <a:ea typeface="Consolas" pitchFamily="34" charset="-122"/>
                <a:cs typeface="Consolas" pitchFamily="34" charset="-120"/>
              </a:rPr>
              <a:t>per_100g</a:t>
            </a:r>
            <a:endParaRPr lang="en-US" sz="1000" dirty="0"/>
          </a:p>
        </p:txBody>
      </p:sp>
      <p:sp>
        <p:nvSpPr>
          <p:cNvPr id="16" name="Shape 14"/>
          <p:cNvSpPr/>
          <p:nvPr/>
        </p:nvSpPr>
        <p:spPr>
          <a:xfrm>
            <a:off x="2304288" y="3831336"/>
            <a:ext cx="2743200" cy="182880"/>
          </a:xfrm>
          <a:prstGeom prst="rect">
            <a:avLst/>
          </a:prstGeom>
          <a:solidFill>
            <a:srgbClr val="EDEFF3"/>
          </a:solidFill>
          <a:ln/>
        </p:spPr>
        <p:txBody>
          <a:bodyPr/>
          <a:lstStyle/>
          <a:p>
            <a:endParaRPr lang="en-US"/>
          </a:p>
        </p:txBody>
      </p:sp>
      <p:sp>
        <p:nvSpPr>
          <p:cNvPr id="17" name="Shape 15"/>
          <p:cNvSpPr/>
          <p:nvPr/>
        </p:nvSpPr>
        <p:spPr>
          <a:xfrm>
            <a:off x="2304288" y="3831336"/>
            <a:ext cx="2414016" cy="182880"/>
          </a:xfrm>
          <a:prstGeom prst="rect">
            <a:avLst/>
          </a:prstGeom>
          <a:solidFill>
            <a:srgbClr val="0F766E"/>
          </a:solidFill>
          <a:ln/>
        </p:spPr>
        <p:txBody>
          <a:bodyPr/>
          <a:lstStyle/>
          <a:p>
            <a:endParaRPr lang="en-US"/>
          </a:p>
        </p:txBody>
      </p:sp>
      <p:sp>
        <p:nvSpPr>
          <p:cNvPr id="18" name="Text 16"/>
          <p:cNvSpPr/>
          <p:nvPr/>
        </p:nvSpPr>
        <p:spPr>
          <a:xfrm>
            <a:off x="5120640" y="3767328"/>
            <a:ext cx="731520" cy="310896"/>
          </a:xfrm>
          <a:prstGeom prst="rect">
            <a:avLst/>
          </a:prstGeom>
          <a:noFill/>
          <a:ln/>
        </p:spPr>
        <p:txBody>
          <a:bodyPr wrap="square" rtlCol="0" anchor="ctr"/>
          <a:lstStyle/>
          <a:p>
            <a:pPr marL="0" indent="0">
              <a:buNone/>
            </a:pPr>
            <a:r>
              <a:rPr lang="en-US" sz="950" b="1" dirty="0">
                <a:solidFill>
                  <a:srgbClr val="0F766E"/>
                </a:solidFill>
                <a:latin typeface="Consolas" pitchFamily="34" charset="0"/>
                <a:ea typeface="Consolas" pitchFamily="34" charset="-122"/>
                <a:cs typeface="Consolas" pitchFamily="34" charset="-120"/>
              </a:rPr>
              <a:t>44.0%</a:t>
            </a:r>
            <a:endParaRPr lang="en-US" sz="950" dirty="0"/>
          </a:p>
        </p:txBody>
      </p:sp>
      <p:sp>
        <p:nvSpPr>
          <p:cNvPr id="19" name="Text 17"/>
          <p:cNvSpPr/>
          <p:nvPr/>
        </p:nvSpPr>
        <p:spPr>
          <a:xfrm>
            <a:off x="566928" y="4187952"/>
            <a:ext cx="1737360" cy="310896"/>
          </a:xfrm>
          <a:prstGeom prst="rect">
            <a:avLst/>
          </a:prstGeom>
          <a:noFill/>
          <a:ln/>
        </p:spPr>
        <p:txBody>
          <a:bodyPr wrap="square" rtlCol="0" anchor="ctr"/>
          <a:lstStyle/>
          <a:p>
            <a:pPr marL="0" indent="0">
              <a:buNone/>
            </a:pPr>
            <a:r>
              <a:rPr lang="en-US" sz="1000" dirty="0">
                <a:solidFill>
                  <a:srgbClr val="161B24"/>
                </a:solidFill>
                <a:latin typeface="Consolas" pitchFamily="34" charset="0"/>
                <a:ea typeface="Consolas" pitchFamily="34" charset="-122"/>
                <a:cs typeface="Consolas" pitchFamily="34" charset="-120"/>
              </a:rPr>
              <a:t>per_serving</a:t>
            </a:r>
            <a:endParaRPr lang="en-US" sz="1000" dirty="0"/>
          </a:p>
        </p:txBody>
      </p:sp>
      <p:sp>
        <p:nvSpPr>
          <p:cNvPr id="20" name="Shape 18"/>
          <p:cNvSpPr/>
          <p:nvPr/>
        </p:nvSpPr>
        <p:spPr>
          <a:xfrm>
            <a:off x="2304288" y="4251960"/>
            <a:ext cx="2743200" cy="182880"/>
          </a:xfrm>
          <a:prstGeom prst="rect">
            <a:avLst/>
          </a:prstGeom>
          <a:solidFill>
            <a:srgbClr val="EDEFF3"/>
          </a:solidFill>
          <a:ln/>
        </p:spPr>
        <p:txBody>
          <a:bodyPr/>
          <a:lstStyle/>
          <a:p>
            <a:endParaRPr lang="en-US"/>
          </a:p>
        </p:txBody>
      </p:sp>
      <p:sp>
        <p:nvSpPr>
          <p:cNvPr id="21" name="Shape 19"/>
          <p:cNvSpPr/>
          <p:nvPr/>
        </p:nvSpPr>
        <p:spPr>
          <a:xfrm>
            <a:off x="2304288" y="4251960"/>
            <a:ext cx="2046427" cy="182880"/>
          </a:xfrm>
          <a:prstGeom prst="rect">
            <a:avLst/>
          </a:prstGeom>
          <a:solidFill>
            <a:srgbClr val="0F766E"/>
          </a:solidFill>
          <a:ln/>
        </p:spPr>
        <p:txBody>
          <a:bodyPr/>
          <a:lstStyle/>
          <a:p>
            <a:endParaRPr lang="en-US"/>
          </a:p>
        </p:txBody>
      </p:sp>
      <p:sp>
        <p:nvSpPr>
          <p:cNvPr id="22" name="Text 20"/>
          <p:cNvSpPr/>
          <p:nvPr/>
        </p:nvSpPr>
        <p:spPr>
          <a:xfrm>
            <a:off x="5120640" y="4187952"/>
            <a:ext cx="731520" cy="310896"/>
          </a:xfrm>
          <a:prstGeom prst="rect">
            <a:avLst/>
          </a:prstGeom>
          <a:noFill/>
          <a:ln/>
        </p:spPr>
        <p:txBody>
          <a:bodyPr wrap="square" rtlCol="0" anchor="ctr"/>
          <a:lstStyle/>
          <a:p>
            <a:pPr marL="0" indent="0">
              <a:buNone/>
            </a:pPr>
            <a:r>
              <a:rPr lang="en-US" sz="950" b="1" dirty="0">
                <a:solidFill>
                  <a:srgbClr val="0F766E"/>
                </a:solidFill>
                <a:latin typeface="Consolas" pitchFamily="34" charset="0"/>
                <a:ea typeface="Consolas" pitchFamily="34" charset="-122"/>
                <a:cs typeface="Consolas" pitchFamily="34" charset="-120"/>
              </a:rPr>
              <a:t>37.3%</a:t>
            </a:r>
            <a:endParaRPr lang="en-US" sz="950" dirty="0"/>
          </a:p>
        </p:txBody>
      </p:sp>
      <p:sp>
        <p:nvSpPr>
          <p:cNvPr id="23" name="Text 21"/>
          <p:cNvSpPr/>
          <p:nvPr/>
        </p:nvSpPr>
        <p:spPr>
          <a:xfrm>
            <a:off x="566928" y="4608576"/>
            <a:ext cx="1737360" cy="310896"/>
          </a:xfrm>
          <a:prstGeom prst="rect">
            <a:avLst/>
          </a:prstGeom>
          <a:noFill/>
          <a:ln/>
        </p:spPr>
        <p:txBody>
          <a:bodyPr wrap="square" rtlCol="0" anchor="ctr"/>
          <a:lstStyle/>
          <a:p>
            <a:pPr marL="0" indent="0">
              <a:buNone/>
            </a:pPr>
            <a:r>
              <a:rPr lang="en-US" sz="1000" dirty="0">
                <a:solidFill>
                  <a:srgbClr val="161B24"/>
                </a:solidFill>
                <a:latin typeface="Consolas" pitchFamily="34" charset="0"/>
                <a:ea typeface="Consolas" pitchFamily="34" charset="-122"/>
                <a:cs typeface="Consolas" pitchFamily="34" charset="-120"/>
              </a:rPr>
              <a:t>per_daily_dose</a:t>
            </a:r>
            <a:endParaRPr lang="en-US" sz="1000" dirty="0"/>
          </a:p>
        </p:txBody>
      </p:sp>
      <p:sp>
        <p:nvSpPr>
          <p:cNvPr id="24" name="Shape 22"/>
          <p:cNvSpPr/>
          <p:nvPr/>
        </p:nvSpPr>
        <p:spPr>
          <a:xfrm>
            <a:off x="2304288" y="4672584"/>
            <a:ext cx="2743200" cy="182880"/>
          </a:xfrm>
          <a:prstGeom prst="rect">
            <a:avLst/>
          </a:prstGeom>
          <a:solidFill>
            <a:srgbClr val="EDEFF3"/>
          </a:solidFill>
          <a:ln/>
        </p:spPr>
        <p:txBody>
          <a:bodyPr/>
          <a:lstStyle/>
          <a:p>
            <a:endParaRPr lang="en-US"/>
          </a:p>
        </p:txBody>
      </p:sp>
      <p:sp>
        <p:nvSpPr>
          <p:cNvPr id="25" name="Shape 23"/>
          <p:cNvSpPr/>
          <p:nvPr/>
        </p:nvSpPr>
        <p:spPr>
          <a:xfrm>
            <a:off x="2304288" y="4672584"/>
            <a:ext cx="822960" cy="182880"/>
          </a:xfrm>
          <a:prstGeom prst="rect">
            <a:avLst/>
          </a:prstGeom>
          <a:solidFill>
            <a:srgbClr val="0F766E"/>
          </a:solidFill>
          <a:ln/>
        </p:spPr>
        <p:txBody>
          <a:bodyPr/>
          <a:lstStyle/>
          <a:p>
            <a:endParaRPr lang="en-US"/>
          </a:p>
        </p:txBody>
      </p:sp>
      <p:sp>
        <p:nvSpPr>
          <p:cNvPr id="26" name="Text 24"/>
          <p:cNvSpPr/>
          <p:nvPr/>
        </p:nvSpPr>
        <p:spPr>
          <a:xfrm>
            <a:off x="5120640" y="4608576"/>
            <a:ext cx="731520" cy="310896"/>
          </a:xfrm>
          <a:prstGeom prst="rect">
            <a:avLst/>
          </a:prstGeom>
          <a:noFill/>
          <a:ln/>
        </p:spPr>
        <p:txBody>
          <a:bodyPr wrap="square" rtlCol="0" anchor="ctr"/>
          <a:lstStyle/>
          <a:p>
            <a:pPr marL="0" indent="0">
              <a:buNone/>
            </a:pPr>
            <a:r>
              <a:rPr lang="en-US" sz="950" b="1" dirty="0">
                <a:solidFill>
                  <a:srgbClr val="0F766E"/>
                </a:solidFill>
                <a:latin typeface="Consolas" pitchFamily="34" charset="0"/>
                <a:ea typeface="Consolas" pitchFamily="34" charset="-122"/>
                <a:cs typeface="Consolas" pitchFamily="34" charset="-120"/>
              </a:rPr>
              <a:t>15.0%</a:t>
            </a:r>
            <a:endParaRPr lang="en-US" sz="950" dirty="0"/>
          </a:p>
        </p:txBody>
      </p:sp>
      <p:sp>
        <p:nvSpPr>
          <p:cNvPr id="27" name="Text 25"/>
          <p:cNvSpPr/>
          <p:nvPr/>
        </p:nvSpPr>
        <p:spPr>
          <a:xfrm>
            <a:off x="566928" y="5029200"/>
            <a:ext cx="1737360" cy="310896"/>
          </a:xfrm>
          <a:prstGeom prst="rect">
            <a:avLst/>
          </a:prstGeom>
          <a:noFill/>
          <a:ln/>
        </p:spPr>
        <p:txBody>
          <a:bodyPr wrap="square" rtlCol="0" anchor="ctr"/>
          <a:lstStyle/>
          <a:p>
            <a:pPr marL="0" indent="0">
              <a:buNone/>
            </a:pPr>
            <a:r>
              <a:rPr lang="en-US" sz="1000" dirty="0">
                <a:solidFill>
                  <a:srgbClr val="161B24"/>
                </a:solidFill>
                <a:latin typeface="Consolas" pitchFamily="34" charset="0"/>
                <a:ea typeface="Consolas" pitchFamily="34" charset="-122"/>
                <a:cs typeface="Consolas" pitchFamily="34" charset="-120"/>
              </a:rPr>
              <a:t>per_100ml</a:t>
            </a:r>
            <a:endParaRPr lang="en-US" sz="1000" dirty="0"/>
          </a:p>
        </p:txBody>
      </p:sp>
      <p:sp>
        <p:nvSpPr>
          <p:cNvPr id="28" name="Shape 26"/>
          <p:cNvSpPr/>
          <p:nvPr/>
        </p:nvSpPr>
        <p:spPr>
          <a:xfrm>
            <a:off x="2304288" y="5093208"/>
            <a:ext cx="2743200" cy="182880"/>
          </a:xfrm>
          <a:prstGeom prst="rect">
            <a:avLst/>
          </a:prstGeom>
          <a:solidFill>
            <a:srgbClr val="EDEFF3"/>
          </a:solidFill>
          <a:ln/>
        </p:spPr>
        <p:txBody>
          <a:bodyPr/>
          <a:lstStyle/>
          <a:p>
            <a:endParaRPr lang="en-US"/>
          </a:p>
        </p:txBody>
      </p:sp>
      <p:sp>
        <p:nvSpPr>
          <p:cNvPr id="29" name="Shape 27"/>
          <p:cNvSpPr/>
          <p:nvPr/>
        </p:nvSpPr>
        <p:spPr>
          <a:xfrm>
            <a:off x="2304288" y="5093208"/>
            <a:ext cx="202997" cy="182880"/>
          </a:xfrm>
          <a:prstGeom prst="rect">
            <a:avLst/>
          </a:prstGeom>
          <a:solidFill>
            <a:srgbClr val="0F766E"/>
          </a:solidFill>
          <a:ln/>
        </p:spPr>
        <p:txBody>
          <a:bodyPr/>
          <a:lstStyle/>
          <a:p>
            <a:endParaRPr lang="en-US"/>
          </a:p>
        </p:txBody>
      </p:sp>
      <p:sp>
        <p:nvSpPr>
          <p:cNvPr id="30" name="Text 28"/>
          <p:cNvSpPr/>
          <p:nvPr/>
        </p:nvSpPr>
        <p:spPr>
          <a:xfrm>
            <a:off x="5120640" y="5029200"/>
            <a:ext cx="731520" cy="310896"/>
          </a:xfrm>
          <a:prstGeom prst="rect">
            <a:avLst/>
          </a:prstGeom>
          <a:noFill/>
          <a:ln/>
        </p:spPr>
        <p:txBody>
          <a:bodyPr wrap="square" rtlCol="0" anchor="ctr"/>
          <a:lstStyle/>
          <a:p>
            <a:pPr marL="0" indent="0">
              <a:buNone/>
            </a:pPr>
            <a:r>
              <a:rPr lang="en-US" sz="950" b="1" dirty="0">
                <a:solidFill>
                  <a:srgbClr val="0F766E"/>
                </a:solidFill>
                <a:latin typeface="Consolas" pitchFamily="34" charset="0"/>
                <a:ea typeface="Consolas" pitchFamily="34" charset="-122"/>
                <a:cs typeface="Consolas" pitchFamily="34" charset="-120"/>
              </a:rPr>
              <a:t>3.7%</a:t>
            </a:r>
            <a:endParaRPr lang="en-US" sz="950" dirty="0"/>
          </a:p>
        </p:txBody>
      </p:sp>
      <p:sp>
        <p:nvSpPr>
          <p:cNvPr id="31" name="Text 29"/>
          <p:cNvSpPr/>
          <p:nvPr/>
        </p:nvSpPr>
        <p:spPr>
          <a:xfrm>
            <a:off x="566928" y="5495544"/>
            <a:ext cx="5440680" cy="548640"/>
          </a:xfrm>
          <a:prstGeom prst="rect">
            <a:avLst/>
          </a:prstGeom>
          <a:noFill/>
          <a:ln/>
        </p:spPr>
        <p:txBody>
          <a:bodyPr wrap="square" rtlCol="0" anchor="t"/>
          <a:lstStyle/>
          <a:p>
            <a:pPr marL="0" indent="0">
              <a:lnSpc>
                <a:spcPct val="115000"/>
              </a:lnSpc>
              <a:buNone/>
            </a:pPr>
            <a:r>
              <a:rPr lang="en-US" sz="1000" dirty="0">
                <a:solidFill>
                  <a:srgbClr val="586274"/>
                </a:solidFill>
                <a:latin typeface="Calibri" pitchFamily="34" charset="0"/>
                <a:ea typeface="Calibri" pitchFamily="34" charset="-122"/>
                <a:cs typeface="Calibri" pitchFamily="34" charset="-120"/>
              </a:rPr>
              <a:t>Units: g 56% · mg 20% · kcal 9% · kJ 9% · μg 5%  ·  NRV % on 175 rows · serving size on 499.</a:t>
            </a:r>
            <a:endParaRPr lang="en-US" sz="1000" dirty="0"/>
          </a:p>
        </p:txBody>
      </p:sp>
      <p:sp>
        <p:nvSpPr>
          <p:cNvPr id="32" name="Text 30"/>
          <p:cNvSpPr/>
          <p:nvPr/>
        </p:nvSpPr>
        <p:spPr>
          <a:xfrm>
            <a:off x="6309360" y="3429000"/>
            <a:ext cx="5303520" cy="228600"/>
          </a:xfrm>
          <a:prstGeom prst="rect">
            <a:avLst/>
          </a:prstGeom>
          <a:noFill/>
          <a:ln/>
        </p:spPr>
        <p:txBody>
          <a:bodyPr wrap="square" rtlCol="0" anchor="ctr"/>
          <a:lstStyle/>
          <a:p>
            <a:pPr marL="0" indent="0">
              <a:buNone/>
            </a:pPr>
            <a:r>
              <a:rPr lang="en-US" sz="950" kern="0" spc="100" dirty="0">
                <a:solidFill>
                  <a:srgbClr val="959DAB"/>
                </a:solidFill>
                <a:latin typeface="Consolas" pitchFamily="34" charset="0"/>
                <a:ea typeface="Consolas" pitchFamily="34" charset="-122"/>
                <a:cs typeface="Consolas" pitchFamily="34" charset="-120"/>
              </a:rPr>
              <a:t>SINGLE- VS MULTI-CONTEXT</a:t>
            </a:r>
            <a:endParaRPr lang="en-US" sz="950" dirty="0"/>
          </a:p>
        </p:txBody>
      </p:sp>
      <p:sp>
        <p:nvSpPr>
          <p:cNvPr id="33" name="Text 31"/>
          <p:cNvSpPr/>
          <p:nvPr/>
        </p:nvSpPr>
        <p:spPr>
          <a:xfrm>
            <a:off x="6309360" y="3749040"/>
            <a:ext cx="5303520" cy="822960"/>
          </a:xfrm>
          <a:prstGeom prst="roundRect">
            <a:avLst>
              <a:gd name="adj" fmla="val 6667"/>
            </a:avLst>
          </a:prstGeom>
          <a:solidFill>
            <a:srgbClr val="F6F7FA"/>
          </a:solidFill>
          <a:ln w="12700">
            <a:solidFill>
              <a:srgbClr val="E0E4EA"/>
            </a:solidFill>
          </a:ln>
        </p:spPr>
        <p:txBody>
          <a:bodyPr wrap="square" lIns="139700" tIns="139700" rIns="139700" bIns="139700" rtlCol="0" anchor="ctr"/>
          <a:lstStyle/>
          <a:p>
            <a:pPr marL="0" indent="0">
              <a:buNone/>
            </a:pPr>
            <a:r>
              <a:rPr lang="en-US" sz="1500" b="1" dirty="0">
                <a:solidFill>
                  <a:srgbClr val="161B24"/>
                </a:solidFill>
                <a:latin typeface="Georgia" pitchFamily="34" charset="0"/>
                <a:ea typeface="Georgia" pitchFamily="34" charset="-122"/>
                <a:cs typeface="Georgia" pitchFamily="34" charset="-120"/>
              </a:rPr>
              <a:t>20 images · 159 tuples
</a:t>
            </a:r>
            <a:endParaRPr lang="en-US" sz="1500" dirty="0"/>
          </a:p>
          <a:p>
            <a:pPr marL="0" indent="0">
              <a:buNone/>
            </a:pPr>
            <a:r>
              <a:rPr lang="en-US" sz="1050" dirty="0">
                <a:solidFill>
                  <a:srgbClr val="586274"/>
                </a:solidFill>
                <a:latin typeface="Calibri" pitchFamily="34" charset="0"/>
                <a:ea typeface="Calibri" pitchFamily="34" charset="-122"/>
                <a:cs typeface="Calibri" pitchFamily="34" charset="-120"/>
              </a:rPr>
              <a:t>one reference basis (single-context)</a:t>
            </a:r>
            <a:endParaRPr lang="en-US" sz="1500" dirty="0"/>
          </a:p>
        </p:txBody>
      </p:sp>
      <p:sp>
        <p:nvSpPr>
          <p:cNvPr id="34" name="Text 32"/>
          <p:cNvSpPr/>
          <p:nvPr/>
        </p:nvSpPr>
        <p:spPr>
          <a:xfrm>
            <a:off x="6309360" y="4645152"/>
            <a:ext cx="5303520" cy="822960"/>
          </a:xfrm>
          <a:prstGeom prst="roundRect">
            <a:avLst>
              <a:gd name="adj" fmla="val 6667"/>
            </a:avLst>
          </a:prstGeom>
          <a:solidFill>
            <a:srgbClr val="F5EDFB"/>
          </a:solidFill>
          <a:ln w="17780">
            <a:solidFill>
              <a:srgbClr val="9333EA"/>
            </a:solidFill>
          </a:ln>
        </p:spPr>
        <p:txBody>
          <a:bodyPr wrap="square" lIns="139700" tIns="139700" rIns="139700" bIns="139700" rtlCol="0" anchor="ctr"/>
          <a:lstStyle/>
          <a:p>
            <a:pPr marL="0" indent="0">
              <a:buNone/>
            </a:pPr>
            <a:r>
              <a:rPr lang="en-US" sz="1500" b="1" dirty="0">
                <a:solidFill>
                  <a:srgbClr val="9333EA"/>
                </a:solidFill>
                <a:latin typeface="Georgia" pitchFamily="34" charset="0"/>
                <a:ea typeface="Georgia" pitchFamily="34" charset="-122"/>
                <a:cs typeface="Georgia" pitchFamily="34" charset="-120"/>
              </a:rPr>
              <a:t>37 images · 707 tuples
</a:t>
            </a:r>
            <a:endParaRPr lang="en-US" sz="1500" dirty="0"/>
          </a:p>
          <a:p>
            <a:pPr marL="0" indent="0">
              <a:buNone/>
            </a:pPr>
            <a:r>
              <a:rPr lang="en-US" sz="1050" dirty="0">
                <a:solidFill>
                  <a:srgbClr val="586274"/>
                </a:solidFill>
                <a:latin typeface="Calibri" pitchFamily="34" charset="0"/>
                <a:ea typeface="Calibri" pitchFamily="34" charset="-122"/>
                <a:cs typeface="Calibri" pitchFamily="34" charset="-120"/>
              </a:rPr>
              <a:t>two or more bases (multi-context) — 82% of all facts</a:t>
            </a:r>
            <a:endParaRPr lang="en-US" sz="1500" dirty="0"/>
          </a:p>
        </p:txBody>
      </p:sp>
      <p:sp>
        <p:nvSpPr>
          <p:cNvPr id="35" name="Text 33"/>
          <p:cNvSpPr/>
          <p:nvPr/>
        </p:nvSpPr>
        <p:spPr>
          <a:xfrm>
            <a:off x="6309360" y="5559552"/>
            <a:ext cx="5303520" cy="640080"/>
          </a:xfrm>
          <a:prstGeom prst="rect">
            <a:avLst/>
          </a:prstGeom>
          <a:noFill/>
          <a:ln/>
        </p:spPr>
        <p:txBody>
          <a:bodyPr wrap="square" rtlCol="0" anchor="t"/>
          <a:lstStyle/>
          <a:p>
            <a:pPr marL="0" indent="0">
              <a:lnSpc>
                <a:spcPct val="112000"/>
              </a:lnSpc>
              <a:buNone/>
            </a:pPr>
            <a:r>
              <a:rPr lang="en-US" sz="1050" b="1" dirty="0">
                <a:solidFill>
                  <a:srgbClr val="161B24"/>
                </a:solidFill>
                <a:latin typeface="Calibri" pitchFamily="34" charset="0"/>
                <a:ea typeface="Calibri" pitchFamily="34" charset="-122"/>
                <a:cs typeface="Calibri" pitchFamily="34" charset="-120"/>
              </a:rPr>
              <a:t>Why this split matters:  </a:t>
            </a:r>
            <a:r>
              <a:rPr lang="en-US" sz="1050" dirty="0">
                <a:solidFill>
                  <a:srgbClr val="586274"/>
                </a:solidFill>
                <a:latin typeface="Calibri" pitchFamily="34" charset="0"/>
                <a:ea typeface="Calibri" pitchFamily="34" charset="-122"/>
                <a:cs typeface="Calibri" pitchFamily="34" charset="-120"/>
              </a:rPr>
              <a:t>multi-context labels are exactly where graph v2’s HEADER_SCOPE earns its gain — and they carry most of the tuples.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09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04 · THE CONFIGURATION SPACE</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14 configurations — the ablation tree</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91056"/>
            <a:ext cx="1143000" cy="274320"/>
          </a:xfrm>
          <a:prstGeom prst="rect">
            <a:avLst/>
          </a:prstGeom>
          <a:noFill/>
          <a:ln/>
        </p:spPr>
        <p:txBody>
          <a:bodyPr wrap="square" rtlCol="0" anchor="ctr"/>
          <a:lstStyle/>
          <a:p>
            <a:pPr marL="0" indent="0" algn="l">
              <a:buNone/>
            </a:pPr>
            <a:r>
              <a:rPr lang="en-US" sz="850" b="1" kern="0" spc="100" dirty="0">
                <a:solidFill>
                  <a:srgbClr val="959DAB"/>
                </a:solidFill>
                <a:latin typeface="Consolas" pitchFamily="34" charset="0"/>
                <a:ea typeface="Consolas" pitchFamily="34" charset="-122"/>
                <a:cs typeface="Consolas" pitchFamily="34" charset="-120"/>
              </a:rPr>
              <a:t>OCR</a:t>
            </a:r>
            <a:endParaRPr lang="en-US" sz="850" dirty="0"/>
          </a:p>
        </p:txBody>
      </p:sp>
      <p:sp>
        <p:nvSpPr>
          <p:cNvPr id="9" name="Text 7"/>
          <p:cNvSpPr/>
          <p:nvPr/>
        </p:nvSpPr>
        <p:spPr>
          <a:xfrm>
            <a:off x="1783080" y="1591056"/>
            <a:ext cx="1371600" cy="274320"/>
          </a:xfrm>
          <a:prstGeom prst="rect">
            <a:avLst/>
          </a:prstGeom>
          <a:noFill/>
          <a:ln/>
        </p:spPr>
        <p:txBody>
          <a:bodyPr wrap="square" rtlCol="0" anchor="ctr"/>
          <a:lstStyle/>
          <a:p>
            <a:pPr marL="0" indent="0" algn="l">
              <a:buNone/>
            </a:pPr>
            <a:r>
              <a:rPr lang="en-US" sz="850" b="1" kern="0" spc="100" dirty="0">
                <a:solidFill>
                  <a:srgbClr val="959DAB"/>
                </a:solidFill>
                <a:latin typeface="Consolas" pitchFamily="34" charset="0"/>
                <a:ea typeface="Consolas" pitchFamily="34" charset="-122"/>
                <a:cs typeface="Consolas" pitchFamily="34" charset="-120"/>
              </a:rPr>
              <a:t>CLASSIFIER</a:t>
            </a:r>
            <a:endParaRPr lang="en-US" sz="850" dirty="0"/>
          </a:p>
        </p:txBody>
      </p:sp>
      <p:sp>
        <p:nvSpPr>
          <p:cNvPr id="10" name="Text 8"/>
          <p:cNvSpPr/>
          <p:nvPr/>
        </p:nvSpPr>
        <p:spPr>
          <a:xfrm>
            <a:off x="3246120" y="1591056"/>
            <a:ext cx="2331720" cy="274320"/>
          </a:xfrm>
          <a:prstGeom prst="rect">
            <a:avLst/>
          </a:prstGeom>
          <a:noFill/>
          <a:ln/>
        </p:spPr>
        <p:txBody>
          <a:bodyPr wrap="square" rtlCol="0" anchor="ctr"/>
          <a:lstStyle/>
          <a:p>
            <a:pPr marL="0" indent="0" algn="l">
              <a:buNone/>
            </a:pPr>
            <a:r>
              <a:rPr lang="en-US" sz="850" b="1" kern="0" spc="100" dirty="0">
                <a:solidFill>
                  <a:srgbClr val="959DAB"/>
                </a:solidFill>
                <a:latin typeface="Consolas" pitchFamily="34" charset="0"/>
                <a:ea typeface="Consolas" pitchFamily="34" charset="-122"/>
                <a:cs typeface="Consolas" pitchFamily="34" charset="-120"/>
              </a:rPr>
              <a:t>ASSOCIATION · MODE</a:t>
            </a:r>
            <a:endParaRPr lang="en-US" sz="850" dirty="0"/>
          </a:p>
        </p:txBody>
      </p:sp>
      <p:sp>
        <p:nvSpPr>
          <p:cNvPr id="11" name="Text 9"/>
          <p:cNvSpPr/>
          <p:nvPr/>
        </p:nvSpPr>
        <p:spPr>
          <a:xfrm>
            <a:off x="5650992" y="1591056"/>
            <a:ext cx="1737360" cy="274320"/>
          </a:xfrm>
          <a:prstGeom prst="rect">
            <a:avLst/>
          </a:prstGeom>
          <a:noFill/>
          <a:ln/>
        </p:spPr>
        <p:txBody>
          <a:bodyPr wrap="square" rtlCol="0" anchor="ctr"/>
          <a:lstStyle/>
          <a:p>
            <a:pPr marL="0" indent="0" algn="l">
              <a:buNone/>
            </a:pPr>
            <a:r>
              <a:rPr lang="en-US" sz="850" b="1" kern="0" spc="100" dirty="0">
                <a:solidFill>
                  <a:srgbClr val="959DAB"/>
                </a:solidFill>
                <a:latin typeface="Consolas" pitchFamily="34" charset="0"/>
                <a:ea typeface="Consolas" pitchFamily="34" charset="-122"/>
                <a:cs typeface="Consolas" pitchFamily="34" charset="-120"/>
              </a:rPr>
              <a:t>RUN</a:t>
            </a:r>
            <a:endParaRPr lang="en-US" sz="850" dirty="0"/>
          </a:p>
        </p:txBody>
      </p:sp>
      <p:sp>
        <p:nvSpPr>
          <p:cNvPr id="12" name="Text 10"/>
          <p:cNvSpPr/>
          <p:nvPr/>
        </p:nvSpPr>
        <p:spPr>
          <a:xfrm>
            <a:off x="7589520" y="1591056"/>
            <a:ext cx="3977640" cy="274320"/>
          </a:xfrm>
          <a:prstGeom prst="rect">
            <a:avLst/>
          </a:prstGeom>
          <a:noFill/>
          <a:ln/>
        </p:spPr>
        <p:txBody>
          <a:bodyPr wrap="square" rtlCol="0" anchor="ctr"/>
          <a:lstStyle/>
          <a:p>
            <a:pPr marL="0" indent="0" algn="l">
              <a:buNone/>
            </a:pPr>
            <a:r>
              <a:rPr lang="en-US" sz="850" b="1" kern="0" spc="100" dirty="0">
                <a:solidFill>
                  <a:srgbClr val="959DAB"/>
                </a:solidFill>
                <a:latin typeface="Consolas" pitchFamily="34" charset="0"/>
                <a:ea typeface="Consolas" pitchFamily="34" charset="-122"/>
                <a:cs typeface="Consolas" pitchFamily="34" charset="-120"/>
              </a:rPr>
              <a:t>4-FIELD TUPLE F1</a:t>
            </a:r>
            <a:endParaRPr lang="en-US" sz="850" dirty="0"/>
          </a:p>
        </p:txBody>
      </p:sp>
      <p:sp>
        <p:nvSpPr>
          <p:cNvPr id="13" name="Text 11"/>
          <p:cNvSpPr/>
          <p:nvPr/>
        </p:nvSpPr>
        <p:spPr>
          <a:xfrm>
            <a:off x="3246120" y="1938528"/>
            <a:ext cx="2331720" cy="304495"/>
          </a:xfrm>
          <a:prstGeom prst="rect">
            <a:avLst/>
          </a:prstGeom>
          <a:noFill/>
          <a:ln/>
        </p:spPr>
        <p:txBody>
          <a:bodyPr wrap="square" rtlCol="0" anchor="ctr"/>
          <a:lstStyle/>
          <a:p>
            <a:pPr marL="0" indent="0">
              <a:buNone/>
            </a:pPr>
            <a:r>
              <a:rPr lang="en-US" sz="850" dirty="0">
                <a:solidFill>
                  <a:srgbClr val="161B24"/>
                </a:solidFill>
                <a:latin typeface="Consolas" pitchFamily="34" charset="0"/>
                <a:ea typeface="Consolas" pitchFamily="34" charset="-122"/>
                <a:cs typeface="Consolas" pitchFamily="34" charset="-120"/>
              </a:rPr>
              <a:t>end-to-end VLM</a:t>
            </a:r>
            <a:endParaRPr lang="en-US" sz="850" dirty="0"/>
          </a:p>
        </p:txBody>
      </p:sp>
      <p:sp>
        <p:nvSpPr>
          <p:cNvPr id="14" name="Text 12"/>
          <p:cNvSpPr/>
          <p:nvPr/>
        </p:nvSpPr>
        <p:spPr>
          <a:xfrm>
            <a:off x="5650992" y="1938528"/>
            <a:ext cx="1783080" cy="304495"/>
          </a:xfrm>
          <a:prstGeom prst="rect">
            <a:avLst/>
          </a:prstGeom>
          <a:noFill/>
          <a:ln/>
        </p:spPr>
        <p:txBody>
          <a:bodyPr wrap="square" rtlCol="0" anchor="ctr"/>
          <a:lstStyle/>
          <a:p>
            <a:pPr marL="0" indent="0">
              <a:buNone/>
            </a:pPr>
            <a:r>
              <a:rPr lang="en-US" sz="800" dirty="0">
                <a:solidFill>
                  <a:srgbClr val="959DAB"/>
                </a:solidFill>
                <a:latin typeface="Consolas" pitchFamily="34" charset="0"/>
                <a:ea typeface="Consolas" pitchFamily="34" charset="-122"/>
                <a:cs typeface="Consolas" pitchFamily="34" charset="-120"/>
              </a:rPr>
              <a:t>E4</a:t>
            </a:r>
            <a:endParaRPr lang="en-US" sz="800" dirty="0"/>
          </a:p>
        </p:txBody>
      </p:sp>
      <p:sp>
        <p:nvSpPr>
          <p:cNvPr id="15" name="Shape 13"/>
          <p:cNvSpPr/>
          <p:nvPr/>
        </p:nvSpPr>
        <p:spPr>
          <a:xfrm>
            <a:off x="7589520" y="2017697"/>
            <a:ext cx="3977640" cy="146158"/>
          </a:xfrm>
          <a:prstGeom prst="rect">
            <a:avLst/>
          </a:prstGeom>
          <a:solidFill>
            <a:srgbClr val="EDEFF3"/>
          </a:solidFill>
          <a:ln/>
        </p:spPr>
        <p:txBody>
          <a:bodyPr/>
          <a:lstStyle/>
          <a:p>
            <a:endParaRPr lang="en-US"/>
          </a:p>
        </p:txBody>
      </p:sp>
      <p:sp>
        <p:nvSpPr>
          <p:cNvPr id="16" name="Shape 14"/>
          <p:cNvSpPr/>
          <p:nvPr/>
        </p:nvSpPr>
        <p:spPr>
          <a:xfrm>
            <a:off x="7589520" y="2017697"/>
            <a:ext cx="2601377" cy="146158"/>
          </a:xfrm>
          <a:prstGeom prst="rect">
            <a:avLst/>
          </a:prstGeom>
          <a:solidFill>
            <a:srgbClr val="DC2626"/>
          </a:solidFill>
          <a:ln/>
        </p:spPr>
        <p:txBody>
          <a:bodyPr/>
          <a:lstStyle/>
          <a:p>
            <a:endParaRPr lang="en-US"/>
          </a:p>
        </p:txBody>
      </p:sp>
      <p:sp>
        <p:nvSpPr>
          <p:cNvPr id="17" name="Text 15"/>
          <p:cNvSpPr/>
          <p:nvPr/>
        </p:nvSpPr>
        <p:spPr>
          <a:xfrm>
            <a:off x="10227473" y="1938528"/>
            <a:ext cx="685800" cy="304495"/>
          </a:xfrm>
          <a:prstGeom prst="rect">
            <a:avLst/>
          </a:prstGeom>
          <a:noFill/>
          <a:ln/>
        </p:spPr>
        <p:txBody>
          <a:bodyPr wrap="square" rtlCol="0" anchor="ctr"/>
          <a:lstStyle/>
          <a:p>
            <a:pPr marL="0" indent="0">
              <a:buNone/>
            </a:pPr>
            <a:r>
              <a:rPr lang="en-US" sz="850" b="1" dirty="0">
                <a:solidFill>
                  <a:srgbClr val="DC2626"/>
                </a:solidFill>
                <a:latin typeface="Consolas" pitchFamily="34" charset="0"/>
                <a:ea typeface="Consolas" pitchFamily="34" charset="-122"/>
                <a:cs typeface="Consolas" pitchFamily="34" charset="-120"/>
              </a:rPr>
              <a:t>0.3597</a:t>
            </a:r>
            <a:endParaRPr lang="en-US" sz="850" dirty="0"/>
          </a:p>
        </p:txBody>
      </p:sp>
      <p:sp>
        <p:nvSpPr>
          <p:cNvPr id="18" name="Shape 16"/>
          <p:cNvSpPr/>
          <p:nvPr/>
        </p:nvSpPr>
        <p:spPr>
          <a:xfrm>
            <a:off x="3246120" y="2243023"/>
            <a:ext cx="8321040" cy="304495"/>
          </a:xfrm>
          <a:prstGeom prst="rect">
            <a:avLst/>
          </a:prstGeom>
          <a:solidFill>
            <a:srgbClr val="F7F8FA"/>
          </a:solidFill>
          <a:ln/>
        </p:spPr>
        <p:txBody>
          <a:bodyPr/>
          <a:lstStyle/>
          <a:p>
            <a:endParaRPr lang="en-US"/>
          </a:p>
        </p:txBody>
      </p:sp>
      <p:sp>
        <p:nvSpPr>
          <p:cNvPr id="19" name="Text 17"/>
          <p:cNvSpPr/>
          <p:nvPr/>
        </p:nvSpPr>
        <p:spPr>
          <a:xfrm>
            <a:off x="3246120" y="2243023"/>
            <a:ext cx="2331720" cy="304495"/>
          </a:xfrm>
          <a:prstGeom prst="rect">
            <a:avLst/>
          </a:prstGeom>
          <a:noFill/>
          <a:ln/>
        </p:spPr>
        <p:txBody>
          <a:bodyPr wrap="square" rtlCol="0" anchor="ctr"/>
          <a:lstStyle/>
          <a:p>
            <a:pPr marL="0" indent="0">
              <a:buNone/>
            </a:pPr>
            <a:r>
              <a:rPr lang="en-US" sz="850" dirty="0">
                <a:solidFill>
                  <a:srgbClr val="161B24"/>
                </a:solidFill>
                <a:latin typeface="Consolas" pitchFamily="34" charset="0"/>
                <a:ea typeface="Consolas" pitchFamily="34" charset="-122"/>
                <a:cs typeface="Consolas" pitchFamily="34" charset="-120"/>
              </a:rPr>
              <a:t>graph v2 · overlap</a:t>
            </a:r>
            <a:endParaRPr lang="en-US" sz="850" dirty="0"/>
          </a:p>
        </p:txBody>
      </p:sp>
      <p:sp>
        <p:nvSpPr>
          <p:cNvPr id="20" name="Text 18"/>
          <p:cNvSpPr/>
          <p:nvPr/>
        </p:nvSpPr>
        <p:spPr>
          <a:xfrm>
            <a:off x="5650992" y="2243023"/>
            <a:ext cx="1783080" cy="304495"/>
          </a:xfrm>
          <a:prstGeom prst="rect">
            <a:avLst/>
          </a:prstGeom>
          <a:noFill/>
          <a:ln/>
        </p:spPr>
        <p:txBody>
          <a:bodyPr wrap="square" rtlCol="0" anchor="ctr"/>
          <a:lstStyle/>
          <a:p>
            <a:pPr marL="0" indent="0">
              <a:buNone/>
            </a:pPr>
            <a:r>
              <a:rPr lang="en-US" sz="800" dirty="0">
                <a:solidFill>
                  <a:srgbClr val="959DAB"/>
                </a:solidFill>
                <a:latin typeface="Consolas" pitchFamily="34" charset="0"/>
                <a:ea typeface="Consolas" pitchFamily="34" charset="-122"/>
                <a:cs typeface="Consolas" pitchFamily="34" charset="-120"/>
              </a:rPr>
              <a:t>EXP-01</a:t>
            </a:r>
            <a:endParaRPr lang="en-US" sz="800" dirty="0"/>
          </a:p>
        </p:txBody>
      </p:sp>
      <p:sp>
        <p:nvSpPr>
          <p:cNvPr id="21" name="Shape 19"/>
          <p:cNvSpPr/>
          <p:nvPr/>
        </p:nvSpPr>
        <p:spPr>
          <a:xfrm>
            <a:off x="7589520" y="2322192"/>
            <a:ext cx="3977640" cy="146158"/>
          </a:xfrm>
          <a:prstGeom prst="rect">
            <a:avLst/>
          </a:prstGeom>
          <a:solidFill>
            <a:srgbClr val="EDEFF3"/>
          </a:solidFill>
          <a:ln/>
        </p:spPr>
        <p:txBody>
          <a:bodyPr/>
          <a:lstStyle/>
          <a:p>
            <a:endParaRPr lang="en-US"/>
          </a:p>
        </p:txBody>
      </p:sp>
      <p:sp>
        <p:nvSpPr>
          <p:cNvPr id="22" name="Shape 20"/>
          <p:cNvSpPr/>
          <p:nvPr/>
        </p:nvSpPr>
        <p:spPr>
          <a:xfrm>
            <a:off x="7589520" y="2322192"/>
            <a:ext cx="1282246" cy="146158"/>
          </a:xfrm>
          <a:prstGeom prst="rect">
            <a:avLst/>
          </a:prstGeom>
          <a:solidFill>
            <a:srgbClr val="0F766E"/>
          </a:solidFill>
          <a:ln/>
        </p:spPr>
        <p:txBody>
          <a:bodyPr/>
          <a:lstStyle/>
          <a:p>
            <a:endParaRPr lang="en-US"/>
          </a:p>
        </p:txBody>
      </p:sp>
      <p:sp>
        <p:nvSpPr>
          <p:cNvPr id="23" name="Text 21"/>
          <p:cNvSpPr/>
          <p:nvPr/>
        </p:nvSpPr>
        <p:spPr>
          <a:xfrm>
            <a:off x="8908342" y="2243023"/>
            <a:ext cx="685800" cy="304495"/>
          </a:xfrm>
          <a:prstGeom prst="rect">
            <a:avLst/>
          </a:prstGeom>
          <a:noFill/>
          <a:ln/>
        </p:spPr>
        <p:txBody>
          <a:bodyPr wrap="square" rtlCol="0" anchor="ctr"/>
          <a:lstStyle/>
          <a:p>
            <a:pPr marL="0" indent="0">
              <a:buNone/>
            </a:pPr>
            <a:r>
              <a:rPr lang="en-US" sz="850" b="1" dirty="0">
                <a:solidFill>
                  <a:srgbClr val="0F766E"/>
                </a:solidFill>
                <a:latin typeface="Consolas" pitchFamily="34" charset="0"/>
                <a:ea typeface="Consolas" pitchFamily="34" charset="-122"/>
                <a:cs typeface="Consolas" pitchFamily="34" charset="-120"/>
              </a:rPr>
              <a:t>0.1773</a:t>
            </a:r>
            <a:endParaRPr lang="en-US" sz="850" dirty="0"/>
          </a:p>
        </p:txBody>
      </p:sp>
      <p:sp>
        <p:nvSpPr>
          <p:cNvPr id="24" name="Text 22"/>
          <p:cNvSpPr/>
          <p:nvPr/>
        </p:nvSpPr>
        <p:spPr>
          <a:xfrm>
            <a:off x="3246120" y="2547518"/>
            <a:ext cx="2331720" cy="304495"/>
          </a:xfrm>
          <a:prstGeom prst="rect">
            <a:avLst/>
          </a:prstGeom>
          <a:noFill/>
          <a:ln/>
        </p:spPr>
        <p:txBody>
          <a:bodyPr wrap="square" rtlCol="0" anchor="ctr"/>
          <a:lstStyle/>
          <a:p>
            <a:pPr marL="0" indent="0">
              <a:buNone/>
            </a:pPr>
            <a:r>
              <a:rPr lang="en-US" sz="850" dirty="0">
                <a:solidFill>
                  <a:srgbClr val="161B24"/>
                </a:solidFill>
                <a:latin typeface="Consolas" pitchFamily="34" charset="0"/>
                <a:ea typeface="Consolas" pitchFamily="34" charset="-122"/>
                <a:cs typeface="Consolas" pitchFamily="34" charset="-120"/>
              </a:rPr>
              <a:t>graph v2 · overlap</a:t>
            </a:r>
            <a:endParaRPr lang="en-US" sz="850" dirty="0"/>
          </a:p>
        </p:txBody>
      </p:sp>
      <p:sp>
        <p:nvSpPr>
          <p:cNvPr id="25" name="Text 23"/>
          <p:cNvSpPr/>
          <p:nvPr/>
        </p:nvSpPr>
        <p:spPr>
          <a:xfrm>
            <a:off x="5650992" y="2547518"/>
            <a:ext cx="1783080" cy="304495"/>
          </a:xfrm>
          <a:prstGeom prst="rect">
            <a:avLst/>
          </a:prstGeom>
          <a:noFill/>
          <a:ln/>
        </p:spPr>
        <p:txBody>
          <a:bodyPr wrap="square" rtlCol="0" anchor="ctr"/>
          <a:lstStyle/>
          <a:p>
            <a:pPr marL="0" indent="0">
              <a:buNone/>
            </a:pPr>
            <a:r>
              <a:rPr lang="en-US" sz="800" dirty="0">
                <a:solidFill>
                  <a:srgbClr val="959DAB"/>
                </a:solidFill>
                <a:latin typeface="Consolas" pitchFamily="34" charset="0"/>
                <a:ea typeface="Consolas" pitchFamily="34" charset="-122"/>
                <a:cs typeface="Consolas" pitchFamily="34" charset="-120"/>
              </a:rPr>
              <a:t>E2-A</a:t>
            </a:r>
            <a:endParaRPr lang="en-US" sz="800" dirty="0"/>
          </a:p>
        </p:txBody>
      </p:sp>
      <p:sp>
        <p:nvSpPr>
          <p:cNvPr id="26" name="Shape 24"/>
          <p:cNvSpPr/>
          <p:nvPr/>
        </p:nvSpPr>
        <p:spPr>
          <a:xfrm>
            <a:off x="7589520" y="2626687"/>
            <a:ext cx="3977640" cy="146158"/>
          </a:xfrm>
          <a:prstGeom prst="rect">
            <a:avLst/>
          </a:prstGeom>
          <a:solidFill>
            <a:srgbClr val="EDEFF3"/>
          </a:solidFill>
          <a:ln/>
        </p:spPr>
        <p:txBody>
          <a:bodyPr/>
          <a:lstStyle/>
          <a:p>
            <a:endParaRPr lang="en-US"/>
          </a:p>
        </p:txBody>
      </p:sp>
      <p:sp>
        <p:nvSpPr>
          <p:cNvPr id="27" name="Shape 25"/>
          <p:cNvSpPr/>
          <p:nvPr/>
        </p:nvSpPr>
        <p:spPr>
          <a:xfrm>
            <a:off x="7589520" y="2626687"/>
            <a:ext cx="3059890" cy="146158"/>
          </a:xfrm>
          <a:prstGeom prst="rect">
            <a:avLst/>
          </a:prstGeom>
          <a:solidFill>
            <a:srgbClr val="0F766E"/>
          </a:solidFill>
          <a:ln/>
        </p:spPr>
        <p:txBody>
          <a:bodyPr/>
          <a:lstStyle/>
          <a:p>
            <a:endParaRPr lang="en-US"/>
          </a:p>
        </p:txBody>
      </p:sp>
      <p:sp>
        <p:nvSpPr>
          <p:cNvPr id="28" name="Text 26"/>
          <p:cNvSpPr/>
          <p:nvPr/>
        </p:nvSpPr>
        <p:spPr>
          <a:xfrm>
            <a:off x="10685986" y="2547518"/>
            <a:ext cx="685800" cy="304495"/>
          </a:xfrm>
          <a:prstGeom prst="rect">
            <a:avLst/>
          </a:prstGeom>
          <a:noFill/>
          <a:ln/>
        </p:spPr>
        <p:txBody>
          <a:bodyPr wrap="square" rtlCol="0" anchor="ctr"/>
          <a:lstStyle/>
          <a:p>
            <a:pPr marL="0" indent="0">
              <a:buNone/>
            </a:pPr>
            <a:r>
              <a:rPr lang="en-US" sz="850" b="1" dirty="0">
                <a:solidFill>
                  <a:srgbClr val="0F766E"/>
                </a:solidFill>
                <a:latin typeface="Consolas" pitchFamily="34" charset="0"/>
                <a:ea typeface="Consolas" pitchFamily="34" charset="-122"/>
                <a:cs typeface="Consolas" pitchFamily="34" charset="-120"/>
              </a:rPr>
              <a:t>0.4231</a:t>
            </a:r>
            <a:endParaRPr lang="en-US" sz="850" dirty="0"/>
          </a:p>
        </p:txBody>
      </p:sp>
      <p:sp>
        <p:nvSpPr>
          <p:cNvPr id="29" name="Shape 27"/>
          <p:cNvSpPr/>
          <p:nvPr/>
        </p:nvSpPr>
        <p:spPr>
          <a:xfrm>
            <a:off x="3246120" y="2852014"/>
            <a:ext cx="8321040" cy="304495"/>
          </a:xfrm>
          <a:prstGeom prst="rect">
            <a:avLst/>
          </a:prstGeom>
          <a:solidFill>
            <a:srgbClr val="F7F8FA"/>
          </a:solidFill>
          <a:ln/>
        </p:spPr>
        <p:txBody>
          <a:bodyPr/>
          <a:lstStyle/>
          <a:p>
            <a:endParaRPr lang="en-US"/>
          </a:p>
        </p:txBody>
      </p:sp>
      <p:sp>
        <p:nvSpPr>
          <p:cNvPr id="30" name="Text 28"/>
          <p:cNvSpPr/>
          <p:nvPr/>
        </p:nvSpPr>
        <p:spPr>
          <a:xfrm>
            <a:off x="3246120" y="2852014"/>
            <a:ext cx="2331720" cy="304495"/>
          </a:xfrm>
          <a:prstGeom prst="rect">
            <a:avLst/>
          </a:prstGeom>
          <a:noFill/>
          <a:ln/>
        </p:spPr>
        <p:txBody>
          <a:bodyPr wrap="square" rtlCol="0" anchor="ctr"/>
          <a:lstStyle/>
          <a:p>
            <a:pPr marL="0" indent="0">
              <a:buNone/>
            </a:pPr>
            <a:r>
              <a:rPr lang="en-US" sz="850" dirty="0">
                <a:solidFill>
                  <a:srgbClr val="161B24"/>
                </a:solidFill>
                <a:latin typeface="Consolas" pitchFamily="34" charset="0"/>
                <a:ea typeface="Consolas" pitchFamily="34" charset="-122"/>
                <a:cs typeface="Consolas" pitchFamily="34" charset="-120"/>
              </a:rPr>
              <a:t>VLM association</a:t>
            </a:r>
            <a:endParaRPr lang="en-US" sz="850" dirty="0"/>
          </a:p>
        </p:txBody>
      </p:sp>
      <p:sp>
        <p:nvSpPr>
          <p:cNvPr id="31" name="Text 29"/>
          <p:cNvSpPr/>
          <p:nvPr/>
        </p:nvSpPr>
        <p:spPr>
          <a:xfrm>
            <a:off x="5650992" y="2852014"/>
            <a:ext cx="1783080" cy="304495"/>
          </a:xfrm>
          <a:prstGeom prst="rect">
            <a:avLst/>
          </a:prstGeom>
          <a:noFill/>
          <a:ln/>
        </p:spPr>
        <p:txBody>
          <a:bodyPr wrap="square" rtlCol="0" anchor="ctr"/>
          <a:lstStyle/>
          <a:p>
            <a:pPr marL="0" indent="0">
              <a:buNone/>
            </a:pPr>
            <a:r>
              <a:rPr lang="en-US" sz="800" dirty="0">
                <a:solidFill>
                  <a:srgbClr val="959DAB"/>
                </a:solidFill>
                <a:latin typeface="Consolas" pitchFamily="34" charset="0"/>
                <a:ea typeface="Consolas" pitchFamily="34" charset="-122"/>
                <a:cs typeface="Consolas" pitchFamily="34" charset="-120"/>
              </a:rPr>
              <a:t>A_VLM</a:t>
            </a:r>
            <a:endParaRPr lang="en-US" sz="800" dirty="0"/>
          </a:p>
        </p:txBody>
      </p:sp>
      <p:sp>
        <p:nvSpPr>
          <p:cNvPr id="32" name="Shape 30"/>
          <p:cNvSpPr/>
          <p:nvPr/>
        </p:nvSpPr>
        <p:spPr>
          <a:xfrm>
            <a:off x="7589520" y="2931182"/>
            <a:ext cx="3977640" cy="146158"/>
          </a:xfrm>
          <a:prstGeom prst="rect">
            <a:avLst/>
          </a:prstGeom>
          <a:solidFill>
            <a:srgbClr val="EDEFF3"/>
          </a:solidFill>
          <a:ln/>
        </p:spPr>
        <p:txBody>
          <a:bodyPr/>
          <a:lstStyle/>
          <a:p>
            <a:endParaRPr lang="en-US"/>
          </a:p>
        </p:txBody>
      </p:sp>
      <p:sp>
        <p:nvSpPr>
          <p:cNvPr id="33" name="Shape 31"/>
          <p:cNvSpPr/>
          <p:nvPr/>
        </p:nvSpPr>
        <p:spPr>
          <a:xfrm>
            <a:off x="7589520" y="2931182"/>
            <a:ext cx="3485136" cy="146158"/>
          </a:xfrm>
          <a:prstGeom prst="rect">
            <a:avLst/>
          </a:prstGeom>
          <a:solidFill>
            <a:srgbClr val="D97706"/>
          </a:solidFill>
          <a:ln/>
        </p:spPr>
        <p:txBody>
          <a:bodyPr/>
          <a:lstStyle/>
          <a:p>
            <a:endParaRPr lang="en-US"/>
          </a:p>
        </p:txBody>
      </p:sp>
      <p:sp>
        <p:nvSpPr>
          <p:cNvPr id="34" name="Text 32"/>
          <p:cNvSpPr/>
          <p:nvPr/>
        </p:nvSpPr>
        <p:spPr>
          <a:xfrm>
            <a:off x="11111232" y="2852014"/>
            <a:ext cx="685800" cy="304495"/>
          </a:xfrm>
          <a:prstGeom prst="rect">
            <a:avLst/>
          </a:prstGeom>
          <a:noFill/>
          <a:ln/>
        </p:spPr>
        <p:txBody>
          <a:bodyPr wrap="square" rtlCol="0" anchor="ctr"/>
          <a:lstStyle/>
          <a:p>
            <a:pPr marL="0" indent="0">
              <a:buNone/>
            </a:pPr>
            <a:r>
              <a:rPr lang="en-US" sz="850" b="1" dirty="0">
                <a:solidFill>
                  <a:srgbClr val="D97706"/>
                </a:solidFill>
                <a:latin typeface="Consolas" pitchFamily="34" charset="0"/>
                <a:ea typeface="Consolas" pitchFamily="34" charset="-122"/>
                <a:cs typeface="Consolas" pitchFamily="34" charset="-120"/>
              </a:rPr>
              <a:t>0.4819</a:t>
            </a:r>
            <a:endParaRPr lang="en-US" sz="850" dirty="0"/>
          </a:p>
        </p:txBody>
      </p:sp>
      <p:sp>
        <p:nvSpPr>
          <p:cNvPr id="35" name="Text 33"/>
          <p:cNvSpPr/>
          <p:nvPr/>
        </p:nvSpPr>
        <p:spPr>
          <a:xfrm>
            <a:off x="3246120" y="3156509"/>
            <a:ext cx="2331720" cy="304495"/>
          </a:xfrm>
          <a:prstGeom prst="rect">
            <a:avLst/>
          </a:prstGeom>
          <a:noFill/>
          <a:ln/>
        </p:spPr>
        <p:txBody>
          <a:bodyPr wrap="square" rtlCol="0" anchor="ctr"/>
          <a:lstStyle/>
          <a:p>
            <a:pPr marL="0" indent="0">
              <a:buNone/>
            </a:pPr>
            <a:r>
              <a:rPr lang="en-US" sz="850" dirty="0">
                <a:solidFill>
                  <a:srgbClr val="161B24"/>
                </a:solidFill>
                <a:latin typeface="Consolas" pitchFamily="34" charset="0"/>
                <a:ea typeface="Consolas" pitchFamily="34" charset="-122"/>
                <a:cs typeface="Consolas" pitchFamily="34" charset="-120"/>
              </a:rPr>
              <a:t>graph v1</a:t>
            </a:r>
            <a:endParaRPr lang="en-US" sz="850" dirty="0"/>
          </a:p>
        </p:txBody>
      </p:sp>
      <p:sp>
        <p:nvSpPr>
          <p:cNvPr id="36" name="Text 34"/>
          <p:cNvSpPr/>
          <p:nvPr/>
        </p:nvSpPr>
        <p:spPr>
          <a:xfrm>
            <a:off x="5650992" y="3156509"/>
            <a:ext cx="1783080" cy="304495"/>
          </a:xfrm>
          <a:prstGeom prst="rect">
            <a:avLst/>
          </a:prstGeom>
          <a:noFill/>
          <a:ln/>
        </p:spPr>
        <p:txBody>
          <a:bodyPr wrap="square" rtlCol="0" anchor="ctr"/>
          <a:lstStyle/>
          <a:p>
            <a:pPr marL="0" indent="0">
              <a:buNone/>
            </a:pPr>
            <a:r>
              <a:rPr lang="en-US" sz="800" dirty="0">
                <a:solidFill>
                  <a:srgbClr val="959DAB"/>
                </a:solidFill>
                <a:latin typeface="Consolas" pitchFamily="34" charset="0"/>
                <a:ea typeface="Consolas" pitchFamily="34" charset="-122"/>
                <a:cs typeface="Consolas" pitchFamily="34" charset="-120"/>
              </a:rPr>
              <a:t>E3-EMB-G1</a:t>
            </a:r>
            <a:endParaRPr lang="en-US" sz="800" dirty="0"/>
          </a:p>
        </p:txBody>
      </p:sp>
      <p:sp>
        <p:nvSpPr>
          <p:cNvPr id="37" name="Shape 35"/>
          <p:cNvSpPr/>
          <p:nvPr/>
        </p:nvSpPr>
        <p:spPr>
          <a:xfrm>
            <a:off x="7589520" y="3235678"/>
            <a:ext cx="3977640" cy="146158"/>
          </a:xfrm>
          <a:prstGeom prst="rect">
            <a:avLst/>
          </a:prstGeom>
          <a:solidFill>
            <a:srgbClr val="EDEFF3"/>
          </a:solidFill>
          <a:ln/>
        </p:spPr>
        <p:txBody>
          <a:bodyPr/>
          <a:lstStyle/>
          <a:p>
            <a:endParaRPr lang="en-US"/>
          </a:p>
        </p:txBody>
      </p:sp>
      <p:sp>
        <p:nvSpPr>
          <p:cNvPr id="38" name="Shape 36"/>
          <p:cNvSpPr/>
          <p:nvPr/>
        </p:nvSpPr>
        <p:spPr>
          <a:xfrm>
            <a:off x="7589520" y="3235678"/>
            <a:ext cx="1681457" cy="146158"/>
          </a:xfrm>
          <a:prstGeom prst="rect">
            <a:avLst/>
          </a:prstGeom>
          <a:solidFill>
            <a:srgbClr val="0F766E"/>
          </a:solidFill>
          <a:ln/>
        </p:spPr>
        <p:txBody>
          <a:bodyPr/>
          <a:lstStyle/>
          <a:p>
            <a:endParaRPr lang="en-US"/>
          </a:p>
        </p:txBody>
      </p:sp>
      <p:sp>
        <p:nvSpPr>
          <p:cNvPr id="39" name="Text 37"/>
          <p:cNvSpPr/>
          <p:nvPr/>
        </p:nvSpPr>
        <p:spPr>
          <a:xfrm>
            <a:off x="9307553" y="3156509"/>
            <a:ext cx="685800" cy="304495"/>
          </a:xfrm>
          <a:prstGeom prst="rect">
            <a:avLst/>
          </a:prstGeom>
          <a:noFill/>
          <a:ln/>
        </p:spPr>
        <p:txBody>
          <a:bodyPr wrap="square" rtlCol="0" anchor="ctr"/>
          <a:lstStyle/>
          <a:p>
            <a:pPr marL="0" indent="0">
              <a:buNone/>
            </a:pPr>
            <a:r>
              <a:rPr lang="en-US" sz="850" b="1" dirty="0">
                <a:solidFill>
                  <a:srgbClr val="0F766E"/>
                </a:solidFill>
                <a:latin typeface="Consolas" pitchFamily="34" charset="0"/>
                <a:ea typeface="Consolas" pitchFamily="34" charset="-122"/>
                <a:cs typeface="Consolas" pitchFamily="34" charset="-120"/>
              </a:rPr>
              <a:t>0.2325</a:t>
            </a:r>
            <a:endParaRPr lang="en-US" sz="850" dirty="0"/>
          </a:p>
        </p:txBody>
      </p:sp>
      <p:sp>
        <p:nvSpPr>
          <p:cNvPr id="40" name="Shape 38"/>
          <p:cNvSpPr/>
          <p:nvPr/>
        </p:nvSpPr>
        <p:spPr>
          <a:xfrm>
            <a:off x="3246120" y="3461004"/>
            <a:ext cx="8321040" cy="304495"/>
          </a:xfrm>
          <a:prstGeom prst="rect">
            <a:avLst/>
          </a:prstGeom>
          <a:solidFill>
            <a:srgbClr val="F7F8FA"/>
          </a:solidFill>
          <a:ln/>
        </p:spPr>
        <p:txBody>
          <a:bodyPr/>
          <a:lstStyle/>
          <a:p>
            <a:endParaRPr lang="en-US"/>
          </a:p>
        </p:txBody>
      </p:sp>
      <p:sp>
        <p:nvSpPr>
          <p:cNvPr id="41" name="Text 39"/>
          <p:cNvSpPr/>
          <p:nvPr/>
        </p:nvSpPr>
        <p:spPr>
          <a:xfrm>
            <a:off x="3246120" y="3461004"/>
            <a:ext cx="2331720" cy="304495"/>
          </a:xfrm>
          <a:prstGeom prst="rect">
            <a:avLst/>
          </a:prstGeom>
          <a:noFill/>
          <a:ln/>
        </p:spPr>
        <p:txBody>
          <a:bodyPr wrap="square" rtlCol="0" anchor="ctr"/>
          <a:lstStyle/>
          <a:p>
            <a:pPr marL="0" indent="0">
              <a:buNone/>
            </a:pPr>
            <a:r>
              <a:rPr lang="en-US" sz="850" dirty="0">
                <a:solidFill>
                  <a:srgbClr val="161B24"/>
                </a:solidFill>
                <a:latin typeface="Consolas" pitchFamily="34" charset="0"/>
                <a:ea typeface="Consolas" pitchFamily="34" charset="-122"/>
                <a:cs typeface="Consolas" pitchFamily="34" charset="-120"/>
              </a:rPr>
              <a:t>graph v2 · overlap</a:t>
            </a:r>
            <a:endParaRPr lang="en-US" sz="850" dirty="0"/>
          </a:p>
        </p:txBody>
      </p:sp>
      <p:sp>
        <p:nvSpPr>
          <p:cNvPr id="42" name="Text 40"/>
          <p:cNvSpPr/>
          <p:nvPr/>
        </p:nvSpPr>
        <p:spPr>
          <a:xfrm>
            <a:off x="5650992" y="3461004"/>
            <a:ext cx="1783080" cy="304495"/>
          </a:xfrm>
          <a:prstGeom prst="rect">
            <a:avLst/>
          </a:prstGeom>
          <a:noFill/>
          <a:ln/>
        </p:spPr>
        <p:txBody>
          <a:bodyPr wrap="square" rtlCol="0" anchor="ctr"/>
          <a:lstStyle/>
          <a:p>
            <a:pPr marL="0" indent="0">
              <a:buNone/>
            </a:pPr>
            <a:r>
              <a:rPr lang="en-US" sz="800" dirty="0">
                <a:solidFill>
                  <a:srgbClr val="959DAB"/>
                </a:solidFill>
                <a:latin typeface="Consolas" pitchFamily="34" charset="0"/>
                <a:ea typeface="Consolas" pitchFamily="34" charset="-122"/>
                <a:cs typeface="Consolas" pitchFamily="34" charset="-120"/>
              </a:rPr>
              <a:t>E2-B</a:t>
            </a:r>
            <a:endParaRPr lang="en-US" sz="800" dirty="0"/>
          </a:p>
        </p:txBody>
      </p:sp>
      <p:sp>
        <p:nvSpPr>
          <p:cNvPr id="43" name="Shape 41"/>
          <p:cNvSpPr/>
          <p:nvPr/>
        </p:nvSpPr>
        <p:spPr>
          <a:xfrm>
            <a:off x="7589520" y="3540173"/>
            <a:ext cx="3977640" cy="146158"/>
          </a:xfrm>
          <a:prstGeom prst="rect">
            <a:avLst/>
          </a:prstGeom>
          <a:solidFill>
            <a:srgbClr val="EDEFF3"/>
          </a:solidFill>
          <a:ln/>
        </p:spPr>
        <p:txBody>
          <a:bodyPr/>
          <a:lstStyle/>
          <a:p>
            <a:endParaRPr lang="en-US"/>
          </a:p>
        </p:txBody>
      </p:sp>
      <p:sp>
        <p:nvSpPr>
          <p:cNvPr id="44" name="Shape 42"/>
          <p:cNvSpPr/>
          <p:nvPr/>
        </p:nvSpPr>
        <p:spPr>
          <a:xfrm>
            <a:off x="7589520" y="3540173"/>
            <a:ext cx="2910909" cy="146158"/>
          </a:xfrm>
          <a:prstGeom prst="rect">
            <a:avLst/>
          </a:prstGeom>
          <a:solidFill>
            <a:srgbClr val="0F766E"/>
          </a:solidFill>
          <a:ln/>
        </p:spPr>
        <p:txBody>
          <a:bodyPr/>
          <a:lstStyle/>
          <a:p>
            <a:endParaRPr lang="en-US"/>
          </a:p>
        </p:txBody>
      </p:sp>
      <p:sp>
        <p:nvSpPr>
          <p:cNvPr id="45" name="Text 43"/>
          <p:cNvSpPr/>
          <p:nvPr/>
        </p:nvSpPr>
        <p:spPr>
          <a:xfrm>
            <a:off x="10537005" y="3461004"/>
            <a:ext cx="685800" cy="304495"/>
          </a:xfrm>
          <a:prstGeom prst="rect">
            <a:avLst/>
          </a:prstGeom>
          <a:noFill/>
          <a:ln/>
        </p:spPr>
        <p:txBody>
          <a:bodyPr wrap="square" rtlCol="0" anchor="ctr"/>
          <a:lstStyle/>
          <a:p>
            <a:pPr marL="0" indent="0">
              <a:buNone/>
            </a:pPr>
            <a:r>
              <a:rPr lang="en-US" sz="850" b="1" dirty="0">
                <a:solidFill>
                  <a:srgbClr val="0F766E"/>
                </a:solidFill>
                <a:latin typeface="Consolas" pitchFamily="34" charset="0"/>
                <a:ea typeface="Consolas" pitchFamily="34" charset="-122"/>
                <a:cs typeface="Consolas" pitchFamily="34" charset="-120"/>
              </a:rPr>
              <a:t>0.4025</a:t>
            </a:r>
            <a:endParaRPr lang="en-US" sz="850" dirty="0"/>
          </a:p>
        </p:txBody>
      </p:sp>
      <p:sp>
        <p:nvSpPr>
          <p:cNvPr id="46" name="Text 44"/>
          <p:cNvSpPr/>
          <p:nvPr/>
        </p:nvSpPr>
        <p:spPr>
          <a:xfrm>
            <a:off x="3246120" y="3765499"/>
            <a:ext cx="2331720" cy="304495"/>
          </a:xfrm>
          <a:prstGeom prst="rect">
            <a:avLst/>
          </a:prstGeom>
          <a:noFill/>
          <a:ln/>
        </p:spPr>
        <p:txBody>
          <a:bodyPr wrap="square" rtlCol="0" anchor="ctr"/>
          <a:lstStyle/>
          <a:p>
            <a:pPr marL="0" indent="0">
              <a:buNone/>
            </a:pPr>
            <a:r>
              <a:rPr lang="en-US" sz="850" dirty="0">
                <a:solidFill>
                  <a:srgbClr val="161B24"/>
                </a:solidFill>
                <a:latin typeface="Consolas" pitchFamily="34" charset="0"/>
                <a:ea typeface="Consolas" pitchFamily="34" charset="-122"/>
                <a:cs typeface="Consolas" pitchFamily="34" charset="-120"/>
              </a:rPr>
              <a:t>graph v2 · cy-cx</a:t>
            </a:r>
            <a:endParaRPr lang="en-US" sz="850" dirty="0"/>
          </a:p>
        </p:txBody>
      </p:sp>
      <p:sp>
        <p:nvSpPr>
          <p:cNvPr id="47" name="Text 45"/>
          <p:cNvSpPr/>
          <p:nvPr/>
        </p:nvSpPr>
        <p:spPr>
          <a:xfrm>
            <a:off x="5650992" y="3765499"/>
            <a:ext cx="1783080" cy="304495"/>
          </a:xfrm>
          <a:prstGeom prst="rect">
            <a:avLst/>
          </a:prstGeom>
          <a:noFill/>
          <a:ln/>
        </p:spPr>
        <p:txBody>
          <a:bodyPr wrap="square" rtlCol="0" anchor="ctr"/>
          <a:lstStyle/>
          <a:p>
            <a:pPr marL="0" indent="0">
              <a:buNone/>
            </a:pPr>
            <a:r>
              <a:rPr lang="en-US" sz="800" dirty="0">
                <a:solidFill>
                  <a:srgbClr val="959DAB"/>
                </a:solidFill>
                <a:latin typeface="Consolas" pitchFamily="34" charset="0"/>
                <a:ea typeface="Consolas" pitchFamily="34" charset="-122"/>
                <a:cs typeface="Consolas" pitchFamily="34" charset="-120"/>
              </a:rPr>
              <a:t>exp39d</a:t>
            </a:r>
            <a:endParaRPr lang="en-US" sz="800" dirty="0"/>
          </a:p>
        </p:txBody>
      </p:sp>
      <p:sp>
        <p:nvSpPr>
          <p:cNvPr id="48" name="Shape 46"/>
          <p:cNvSpPr/>
          <p:nvPr/>
        </p:nvSpPr>
        <p:spPr>
          <a:xfrm>
            <a:off x="7589520" y="3844668"/>
            <a:ext cx="3977640" cy="146158"/>
          </a:xfrm>
          <a:prstGeom prst="rect">
            <a:avLst/>
          </a:prstGeom>
          <a:solidFill>
            <a:srgbClr val="EDEFF3"/>
          </a:solidFill>
          <a:ln/>
        </p:spPr>
        <p:txBody>
          <a:bodyPr/>
          <a:lstStyle/>
          <a:p>
            <a:endParaRPr lang="en-US"/>
          </a:p>
        </p:txBody>
      </p:sp>
      <p:sp>
        <p:nvSpPr>
          <p:cNvPr id="49" name="Shape 47"/>
          <p:cNvSpPr/>
          <p:nvPr/>
        </p:nvSpPr>
        <p:spPr>
          <a:xfrm>
            <a:off x="7589520" y="3844668"/>
            <a:ext cx="2791580" cy="146158"/>
          </a:xfrm>
          <a:prstGeom prst="rect">
            <a:avLst/>
          </a:prstGeom>
          <a:solidFill>
            <a:srgbClr val="0F766E"/>
          </a:solidFill>
          <a:ln/>
        </p:spPr>
        <p:txBody>
          <a:bodyPr/>
          <a:lstStyle/>
          <a:p>
            <a:endParaRPr lang="en-US"/>
          </a:p>
        </p:txBody>
      </p:sp>
      <p:sp>
        <p:nvSpPr>
          <p:cNvPr id="50" name="Text 48"/>
          <p:cNvSpPr/>
          <p:nvPr/>
        </p:nvSpPr>
        <p:spPr>
          <a:xfrm>
            <a:off x="10417676" y="3765499"/>
            <a:ext cx="685800" cy="304495"/>
          </a:xfrm>
          <a:prstGeom prst="rect">
            <a:avLst/>
          </a:prstGeom>
          <a:noFill/>
          <a:ln/>
        </p:spPr>
        <p:txBody>
          <a:bodyPr wrap="square" rtlCol="0" anchor="ctr"/>
          <a:lstStyle/>
          <a:p>
            <a:pPr marL="0" indent="0">
              <a:buNone/>
            </a:pPr>
            <a:r>
              <a:rPr lang="en-US" sz="850" b="1" dirty="0">
                <a:solidFill>
                  <a:srgbClr val="0F766E"/>
                </a:solidFill>
                <a:latin typeface="Consolas" pitchFamily="34" charset="0"/>
                <a:ea typeface="Consolas" pitchFamily="34" charset="-122"/>
                <a:cs typeface="Consolas" pitchFamily="34" charset="-120"/>
              </a:rPr>
              <a:t>0.3860</a:t>
            </a:r>
            <a:endParaRPr lang="en-US" sz="850" dirty="0"/>
          </a:p>
        </p:txBody>
      </p:sp>
      <p:sp>
        <p:nvSpPr>
          <p:cNvPr id="51" name="Shape 49"/>
          <p:cNvSpPr/>
          <p:nvPr/>
        </p:nvSpPr>
        <p:spPr>
          <a:xfrm>
            <a:off x="3246120" y="4069994"/>
            <a:ext cx="8321040" cy="304495"/>
          </a:xfrm>
          <a:prstGeom prst="rect">
            <a:avLst/>
          </a:prstGeom>
          <a:solidFill>
            <a:srgbClr val="F7F8FA"/>
          </a:solidFill>
          <a:ln/>
        </p:spPr>
        <p:txBody>
          <a:bodyPr/>
          <a:lstStyle/>
          <a:p>
            <a:endParaRPr lang="en-US"/>
          </a:p>
        </p:txBody>
      </p:sp>
      <p:sp>
        <p:nvSpPr>
          <p:cNvPr id="52" name="Text 50"/>
          <p:cNvSpPr/>
          <p:nvPr/>
        </p:nvSpPr>
        <p:spPr>
          <a:xfrm>
            <a:off x="3246120" y="4069994"/>
            <a:ext cx="2331720" cy="304495"/>
          </a:xfrm>
          <a:prstGeom prst="rect">
            <a:avLst/>
          </a:prstGeom>
          <a:noFill/>
          <a:ln/>
        </p:spPr>
        <p:txBody>
          <a:bodyPr wrap="square" rtlCol="0" anchor="ctr"/>
          <a:lstStyle/>
          <a:p>
            <a:pPr marL="0" indent="0">
              <a:buNone/>
            </a:pPr>
            <a:r>
              <a:rPr lang="en-US" sz="850" dirty="0">
                <a:solidFill>
                  <a:srgbClr val="161B24"/>
                </a:solidFill>
                <a:latin typeface="Consolas" pitchFamily="34" charset="0"/>
                <a:ea typeface="Consolas" pitchFamily="34" charset="-122"/>
                <a:cs typeface="Consolas" pitchFamily="34" charset="-120"/>
              </a:rPr>
              <a:t>graph v2 · cy∪role_rank</a:t>
            </a:r>
            <a:endParaRPr lang="en-US" sz="850" dirty="0"/>
          </a:p>
        </p:txBody>
      </p:sp>
      <p:sp>
        <p:nvSpPr>
          <p:cNvPr id="53" name="Text 51"/>
          <p:cNvSpPr/>
          <p:nvPr/>
        </p:nvSpPr>
        <p:spPr>
          <a:xfrm>
            <a:off x="5650992" y="4069994"/>
            <a:ext cx="1783080" cy="304495"/>
          </a:xfrm>
          <a:prstGeom prst="rect">
            <a:avLst/>
          </a:prstGeom>
          <a:noFill/>
          <a:ln/>
        </p:spPr>
        <p:txBody>
          <a:bodyPr wrap="square" rtlCol="0" anchor="ctr"/>
          <a:lstStyle/>
          <a:p>
            <a:pPr marL="0" indent="0">
              <a:buNone/>
            </a:pPr>
            <a:r>
              <a:rPr lang="en-US" sz="800" dirty="0">
                <a:solidFill>
                  <a:srgbClr val="959DAB"/>
                </a:solidFill>
                <a:latin typeface="Consolas" pitchFamily="34" charset="0"/>
                <a:ea typeface="Consolas" pitchFamily="34" charset="-122"/>
                <a:cs typeface="Consolas" pitchFamily="34" charset="-120"/>
              </a:rPr>
              <a:t>exp39f</a:t>
            </a:r>
            <a:endParaRPr lang="en-US" sz="800" dirty="0"/>
          </a:p>
        </p:txBody>
      </p:sp>
      <p:sp>
        <p:nvSpPr>
          <p:cNvPr id="54" name="Shape 52"/>
          <p:cNvSpPr/>
          <p:nvPr/>
        </p:nvSpPr>
        <p:spPr>
          <a:xfrm>
            <a:off x="7589520" y="4149163"/>
            <a:ext cx="3977640" cy="146158"/>
          </a:xfrm>
          <a:prstGeom prst="rect">
            <a:avLst/>
          </a:prstGeom>
          <a:solidFill>
            <a:srgbClr val="EDEFF3"/>
          </a:solidFill>
          <a:ln/>
        </p:spPr>
        <p:txBody>
          <a:bodyPr/>
          <a:lstStyle/>
          <a:p>
            <a:endParaRPr lang="en-US"/>
          </a:p>
        </p:txBody>
      </p:sp>
      <p:sp>
        <p:nvSpPr>
          <p:cNvPr id="55" name="Shape 53"/>
          <p:cNvSpPr/>
          <p:nvPr/>
        </p:nvSpPr>
        <p:spPr>
          <a:xfrm>
            <a:off x="7589520" y="4149163"/>
            <a:ext cx="2307031" cy="146158"/>
          </a:xfrm>
          <a:prstGeom prst="rect">
            <a:avLst/>
          </a:prstGeom>
          <a:solidFill>
            <a:srgbClr val="0F766E"/>
          </a:solidFill>
          <a:ln/>
        </p:spPr>
        <p:txBody>
          <a:bodyPr/>
          <a:lstStyle/>
          <a:p>
            <a:endParaRPr lang="en-US"/>
          </a:p>
        </p:txBody>
      </p:sp>
      <p:sp>
        <p:nvSpPr>
          <p:cNvPr id="56" name="Text 54"/>
          <p:cNvSpPr/>
          <p:nvPr/>
        </p:nvSpPr>
        <p:spPr>
          <a:xfrm>
            <a:off x="9933127" y="4069994"/>
            <a:ext cx="685800" cy="304495"/>
          </a:xfrm>
          <a:prstGeom prst="rect">
            <a:avLst/>
          </a:prstGeom>
          <a:noFill/>
          <a:ln/>
        </p:spPr>
        <p:txBody>
          <a:bodyPr wrap="square" rtlCol="0" anchor="ctr"/>
          <a:lstStyle/>
          <a:p>
            <a:pPr marL="0" indent="0">
              <a:buNone/>
            </a:pPr>
            <a:r>
              <a:rPr lang="en-US" sz="850" b="1" dirty="0">
                <a:solidFill>
                  <a:srgbClr val="0F766E"/>
                </a:solidFill>
                <a:latin typeface="Consolas" pitchFamily="34" charset="0"/>
                <a:ea typeface="Consolas" pitchFamily="34" charset="-122"/>
                <a:cs typeface="Consolas" pitchFamily="34" charset="-120"/>
              </a:rPr>
              <a:t>0.3190</a:t>
            </a:r>
            <a:endParaRPr lang="en-US" sz="850" dirty="0"/>
          </a:p>
        </p:txBody>
      </p:sp>
      <p:sp>
        <p:nvSpPr>
          <p:cNvPr id="57" name="Text 55"/>
          <p:cNvSpPr/>
          <p:nvPr/>
        </p:nvSpPr>
        <p:spPr>
          <a:xfrm>
            <a:off x="3246120" y="4374490"/>
            <a:ext cx="2331720" cy="304495"/>
          </a:xfrm>
          <a:prstGeom prst="rect">
            <a:avLst/>
          </a:prstGeom>
          <a:noFill/>
          <a:ln/>
        </p:spPr>
        <p:txBody>
          <a:bodyPr wrap="square" rtlCol="0" anchor="ctr"/>
          <a:lstStyle/>
          <a:p>
            <a:pPr marL="0" indent="0">
              <a:buNone/>
            </a:pPr>
            <a:r>
              <a:rPr lang="en-US" sz="850" dirty="0">
                <a:solidFill>
                  <a:srgbClr val="161B24"/>
                </a:solidFill>
                <a:latin typeface="Consolas" pitchFamily="34" charset="0"/>
                <a:ea typeface="Consolas" pitchFamily="34" charset="-122"/>
                <a:cs typeface="Consolas" pitchFamily="34" charset="-120"/>
              </a:rPr>
              <a:t>graph v2 · role_rank</a:t>
            </a:r>
            <a:endParaRPr lang="en-US" sz="850" dirty="0"/>
          </a:p>
        </p:txBody>
      </p:sp>
      <p:sp>
        <p:nvSpPr>
          <p:cNvPr id="58" name="Text 56"/>
          <p:cNvSpPr/>
          <p:nvPr/>
        </p:nvSpPr>
        <p:spPr>
          <a:xfrm>
            <a:off x="5650992" y="4374490"/>
            <a:ext cx="1783080" cy="304495"/>
          </a:xfrm>
          <a:prstGeom prst="rect">
            <a:avLst/>
          </a:prstGeom>
          <a:noFill/>
          <a:ln/>
        </p:spPr>
        <p:txBody>
          <a:bodyPr wrap="square" rtlCol="0" anchor="ctr"/>
          <a:lstStyle/>
          <a:p>
            <a:pPr marL="0" indent="0">
              <a:buNone/>
            </a:pPr>
            <a:r>
              <a:rPr lang="en-US" sz="800" dirty="0">
                <a:solidFill>
                  <a:srgbClr val="959DAB"/>
                </a:solidFill>
                <a:latin typeface="Consolas" pitchFamily="34" charset="0"/>
                <a:ea typeface="Consolas" pitchFamily="34" charset="-122"/>
                <a:cs typeface="Consolas" pitchFamily="34" charset="-120"/>
              </a:rPr>
              <a:t>exp39c</a:t>
            </a:r>
            <a:endParaRPr lang="en-US" sz="800" dirty="0"/>
          </a:p>
        </p:txBody>
      </p:sp>
      <p:sp>
        <p:nvSpPr>
          <p:cNvPr id="59" name="Shape 57"/>
          <p:cNvSpPr/>
          <p:nvPr/>
        </p:nvSpPr>
        <p:spPr>
          <a:xfrm>
            <a:off x="7589520" y="4453658"/>
            <a:ext cx="3977640" cy="146158"/>
          </a:xfrm>
          <a:prstGeom prst="rect">
            <a:avLst/>
          </a:prstGeom>
          <a:solidFill>
            <a:srgbClr val="EDEFF3"/>
          </a:solidFill>
          <a:ln/>
        </p:spPr>
        <p:txBody>
          <a:bodyPr/>
          <a:lstStyle/>
          <a:p>
            <a:endParaRPr lang="en-US"/>
          </a:p>
        </p:txBody>
      </p:sp>
      <p:sp>
        <p:nvSpPr>
          <p:cNvPr id="60" name="Shape 58"/>
          <p:cNvSpPr/>
          <p:nvPr/>
        </p:nvSpPr>
        <p:spPr>
          <a:xfrm>
            <a:off x="7589520" y="4453658"/>
            <a:ext cx="954634" cy="146158"/>
          </a:xfrm>
          <a:prstGeom prst="rect">
            <a:avLst/>
          </a:prstGeom>
          <a:solidFill>
            <a:srgbClr val="0F766E"/>
          </a:solidFill>
          <a:ln/>
        </p:spPr>
        <p:txBody>
          <a:bodyPr/>
          <a:lstStyle/>
          <a:p>
            <a:endParaRPr lang="en-US"/>
          </a:p>
        </p:txBody>
      </p:sp>
      <p:sp>
        <p:nvSpPr>
          <p:cNvPr id="61" name="Text 59"/>
          <p:cNvSpPr/>
          <p:nvPr/>
        </p:nvSpPr>
        <p:spPr>
          <a:xfrm>
            <a:off x="8580730" y="4374490"/>
            <a:ext cx="685800" cy="304495"/>
          </a:xfrm>
          <a:prstGeom prst="rect">
            <a:avLst/>
          </a:prstGeom>
          <a:noFill/>
          <a:ln/>
        </p:spPr>
        <p:txBody>
          <a:bodyPr wrap="square" rtlCol="0" anchor="ctr"/>
          <a:lstStyle/>
          <a:p>
            <a:pPr marL="0" indent="0">
              <a:buNone/>
            </a:pPr>
            <a:r>
              <a:rPr lang="en-US" sz="850" b="1" dirty="0">
                <a:solidFill>
                  <a:srgbClr val="0F766E"/>
                </a:solidFill>
                <a:latin typeface="Consolas" pitchFamily="34" charset="0"/>
                <a:ea typeface="Consolas" pitchFamily="34" charset="-122"/>
                <a:cs typeface="Consolas" pitchFamily="34" charset="-120"/>
              </a:rPr>
              <a:t>0.1320</a:t>
            </a:r>
            <a:endParaRPr lang="en-US" sz="850" dirty="0"/>
          </a:p>
        </p:txBody>
      </p:sp>
      <p:sp>
        <p:nvSpPr>
          <p:cNvPr id="62" name="Shape 60"/>
          <p:cNvSpPr/>
          <p:nvPr/>
        </p:nvSpPr>
        <p:spPr>
          <a:xfrm>
            <a:off x="3246120" y="4678985"/>
            <a:ext cx="8321040" cy="304495"/>
          </a:xfrm>
          <a:prstGeom prst="rect">
            <a:avLst/>
          </a:prstGeom>
          <a:solidFill>
            <a:srgbClr val="F7F8FA"/>
          </a:solidFill>
          <a:ln/>
        </p:spPr>
        <p:txBody>
          <a:bodyPr/>
          <a:lstStyle/>
          <a:p>
            <a:endParaRPr lang="en-US"/>
          </a:p>
        </p:txBody>
      </p:sp>
      <p:sp>
        <p:nvSpPr>
          <p:cNvPr id="63" name="Text 61"/>
          <p:cNvSpPr/>
          <p:nvPr/>
        </p:nvSpPr>
        <p:spPr>
          <a:xfrm>
            <a:off x="3246120" y="4678985"/>
            <a:ext cx="2331720" cy="304495"/>
          </a:xfrm>
          <a:prstGeom prst="rect">
            <a:avLst/>
          </a:prstGeom>
          <a:noFill/>
          <a:ln/>
        </p:spPr>
        <p:txBody>
          <a:bodyPr wrap="square" rtlCol="0" anchor="ctr"/>
          <a:lstStyle/>
          <a:p>
            <a:pPr marL="0" indent="0">
              <a:buNone/>
            </a:pPr>
            <a:r>
              <a:rPr lang="en-US" sz="850" dirty="0">
                <a:solidFill>
                  <a:srgbClr val="161B24"/>
                </a:solidFill>
                <a:latin typeface="Consolas" pitchFamily="34" charset="0"/>
                <a:ea typeface="Consolas" pitchFamily="34" charset="-122"/>
                <a:cs typeface="Consolas" pitchFamily="34" charset="-120"/>
              </a:rPr>
              <a:t>VLM association</a:t>
            </a:r>
            <a:endParaRPr lang="en-US" sz="850" dirty="0"/>
          </a:p>
        </p:txBody>
      </p:sp>
      <p:sp>
        <p:nvSpPr>
          <p:cNvPr id="64" name="Text 62"/>
          <p:cNvSpPr/>
          <p:nvPr/>
        </p:nvSpPr>
        <p:spPr>
          <a:xfrm>
            <a:off x="5650992" y="4678985"/>
            <a:ext cx="1783080" cy="304495"/>
          </a:xfrm>
          <a:prstGeom prst="rect">
            <a:avLst/>
          </a:prstGeom>
          <a:noFill/>
          <a:ln/>
        </p:spPr>
        <p:txBody>
          <a:bodyPr wrap="square" rtlCol="0" anchor="ctr"/>
          <a:lstStyle/>
          <a:p>
            <a:pPr marL="0" indent="0">
              <a:buNone/>
            </a:pPr>
            <a:r>
              <a:rPr lang="en-US" sz="800" dirty="0">
                <a:solidFill>
                  <a:srgbClr val="959DAB"/>
                </a:solidFill>
                <a:latin typeface="Consolas" pitchFamily="34" charset="0"/>
                <a:ea typeface="Consolas" pitchFamily="34" charset="-122"/>
                <a:cs typeface="Consolas" pitchFamily="34" charset="-120"/>
              </a:rPr>
              <a:t>E3-EMB-VLM</a:t>
            </a:r>
            <a:endParaRPr lang="en-US" sz="800" dirty="0"/>
          </a:p>
        </p:txBody>
      </p:sp>
      <p:sp>
        <p:nvSpPr>
          <p:cNvPr id="65" name="Shape 63"/>
          <p:cNvSpPr/>
          <p:nvPr/>
        </p:nvSpPr>
        <p:spPr>
          <a:xfrm>
            <a:off x="7589520" y="4758154"/>
            <a:ext cx="3977640" cy="146158"/>
          </a:xfrm>
          <a:prstGeom prst="rect">
            <a:avLst/>
          </a:prstGeom>
          <a:solidFill>
            <a:srgbClr val="EDEFF3"/>
          </a:solidFill>
          <a:ln/>
        </p:spPr>
        <p:txBody>
          <a:bodyPr/>
          <a:lstStyle/>
          <a:p>
            <a:endParaRPr lang="en-US"/>
          </a:p>
        </p:txBody>
      </p:sp>
      <p:sp>
        <p:nvSpPr>
          <p:cNvPr id="66" name="Shape 64"/>
          <p:cNvSpPr/>
          <p:nvPr/>
        </p:nvSpPr>
        <p:spPr>
          <a:xfrm>
            <a:off x="7589520" y="4758154"/>
            <a:ext cx="3576260" cy="146158"/>
          </a:xfrm>
          <a:prstGeom prst="rect">
            <a:avLst/>
          </a:prstGeom>
          <a:solidFill>
            <a:srgbClr val="D97706"/>
          </a:solidFill>
          <a:ln/>
        </p:spPr>
        <p:txBody>
          <a:bodyPr/>
          <a:lstStyle/>
          <a:p>
            <a:endParaRPr lang="en-US"/>
          </a:p>
        </p:txBody>
      </p:sp>
      <p:sp>
        <p:nvSpPr>
          <p:cNvPr id="67" name="Text 65"/>
          <p:cNvSpPr/>
          <p:nvPr/>
        </p:nvSpPr>
        <p:spPr>
          <a:xfrm>
            <a:off x="11111232" y="4661996"/>
            <a:ext cx="685800" cy="304495"/>
          </a:xfrm>
          <a:prstGeom prst="rect">
            <a:avLst/>
          </a:prstGeom>
          <a:noFill/>
          <a:ln/>
        </p:spPr>
        <p:txBody>
          <a:bodyPr wrap="square" rtlCol="0" anchor="ctr"/>
          <a:lstStyle/>
          <a:p>
            <a:pPr marL="0" indent="0">
              <a:buNone/>
            </a:pPr>
            <a:r>
              <a:rPr lang="en-US" sz="850" b="1" dirty="0">
                <a:solidFill>
                  <a:srgbClr val="D97706"/>
                </a:solidFill>
                <a:latin typeface="Consolas" pitchFamily="34" charset="0"/>
                <a:ea typeface="Consolas" pitchFamily="34" charset="-122"/>
                <a:cs typeface="Consolas" pitchFamily="34" charset="-120"/>
              </a:rPr>
              <a:t>0.4945</a:t>
            </a:r>
            <a:endParaRPr lang="en-US" sz="850" dirty="0"/>
          </a:p>
        </p:txBody>
      </p:sp>
      <p:sp>
        <p:nvSpPr>
          <p:cNvPr id="68" name="Text 66"/>
          <p:cNvSpPr/>
          <p:nvPr/>
        </p:nvSpPr>
        <p:spPr>
          <a:xfrm>
            <a:off x="11512899" y="4679725"/>
            <a:ext cx="1828800" cy="304495"/>
          </a:xfrm>
          <a:prstGeom prst="rect">
            <a:avLst/>
          </a:prstGeom>
          <a:noFill/>
          <a:ln/>
        </p:spPr>
        <p:txBody>
          <a:bodyPr wrap="square" rtlCol="0" anchor="ctr"/>
          <a:lstStyle/>
          <a:p>
            <a:pPr marL="0" indent="0">
              <a:buNone/>
            </a:pPr>
            <a:r>
              <a:rPr lang="en-US" sz="800" i="1" dirty="0">
                <a:solidFill>
                  <a:srgbClr val="D97706"/>
                </a:solidFill>
                <a:latin typeface="Calibri" pitchFamily="34" charset="0"/>
                <a:ea typeface="Calibri" pitchFamily="34" charset="-122"/>
                <a:cs typeface="Calibri" pitchFamily="34" charset="-120"/>
              </a:rPr>
              <a:t>★ best overall</a:t>
            </a:r>
            <a:endParaRPr lang="en-US" sz="800" dirty="0"/>
          </a:p>
        </p:txBody>
      </p:sp>
      <p:sp>
        <p:nvSpPr>
          <p:cNvPr id="69" name="Text 67"/>
          <p:cNvSpPr/>
          <p:nvPr/>
        </p:nvSpPr>
        <p:spPr>
          <a:xfrm>
            <a:off x="3246120" y="4983480"/>
            <a:ext cx="2331720" cy="304495"/>
          </a:xfrm>
          <a:prstGeom prst="rect">
            <a:avLst/>
          </a:prstGeom>
          <a:noFill/>
          <a:ln/>
        </p:spPr>
        <p:txBody>
          <a:bodyPr wrap="square" rtlCol="0" anchor="ctr"/>
          <a:lstStyle/>
          <a:p>
            <a:pPr marL="0" indent="0">
              <a:buNone/>
            </a:pPr>
            <a:r>
              <a:rPr lang="en-US" sz="850" dirty="0">
                <a:solidFill>
                  <a:srgbClr val="161B24"/>
                </a:solidFill>
                <a:latin typeface="Consolas" pitchFamily="34" charset="0"/>
                <a:ea typeface="Consolas" pitchFamily="34" charset="-122"/>
                <a:cs typeface="Consolas" pitchFamily="34" charset="-120"/>
              </a:rPr>
              <a:t>graph v1</a:t>
            </a:r>
            <a:endParaRPr lang="en-US" sz="850" dirty="0"/>
          </a:p>
        </p:txBody>
      </p:sp>
      <p:sp>
        <p:nvSpPr>
          <p:cNvPr id="70" name="Text 68"/>
          <p:cNvSpPr/>
          <p:nvPr/>
        </p:nvSpPr>
        <p:spPr>
          <a:xfrm>
            <a:off x="5650992" y="4983480"/>
            <a:ext cx="1783080" cy="304495"/>
          </a:xfrm>
          <a:prstGeom prst="rect">
            <a:avLst/>
          </a:prstGeom>
          <a:noFill/>
          <a:ln/>
        </p:spPr>
        <p:txBody>
          <a:bodyPr wrap="square" rtlCol="0" anchor="ctr"/>
          <a:lstStyle/>
          <a:p>
            <a:pPr marL="0" indent="0">
              <a:buNone/>
            </a:pPr>
            <a:r>
              <a:rPr lang="en-US" sz="800" dirty="0">
                <a:solidFill>
                  <a:srgbClr val="959DAB"/>
                </a:solidFill>
                <a:latin typeface="Consolas" pitchFamily="34" charset="0"/>
                <a:ea typeface="Consolas" pitchFamily="34" charset="-122"/>
                <a:cs typeface="Consolas" pitchFamily="34" charset="-120"/>
              </a:rPr>
              <a:t>E3-GLiNER-G1</a:t>
            </a:r>
            <a:endParaRPr lang="en-US" sz="800" dirty="0"/>
          </a:p>
        </p:txBody>
      </p:sp>
      <p:sp>
        <p:nvSpPr>
          <p:cNvPr id="71" name="Shape 69"/>
          <p:cNvSpPr/>
          <p:nvPr/>
        </p:nvSpPr>
        <p:spPr>
          <a:xfrm>
            <a:off x="7589520" y="5062649"/>
            <a:ext cx="3977640" cy="146158"/>
          </a:xfrm>
          <a:prstGeom prst="rect">
            <a:avLst/>
          </a:prstGeom>
          <a:solidFill>
            <a:srgbClr val="EDEFF3"/>
          </a:solidFill>
          <a:ln/>
        </p:spPr>
        <p:txBody>
          <a:bodyPr/>
          <a:lstStyle/>
          <a:p>
            <a:endParaRPr lang="en-US"/>
          </a:p>
        </p:txBody>
      </p:sp>
      <p:sp>
        <p:nvSpPr>
          <p:cNvPr id="72" name="Shape 70"/>
          <p:cNvSpPr/>
          <p:nvPr/>
        </p:nvSpPr>
        <p:spPr>
          <a:xfrm>
            <a:off x="7589520" y="5062649"/>
            <a:ext cx="1824652" cy="146158"/>
          </a:xfrm>
          <a:prstGeom prst="rect">
            <a:avLst/>
          </a:prstGeom>
          <a:solidFill>
            <a:srgbClr val="0F766E"/>
          </a:solidFill>
          <a:ln/>
        </p:spPr>
        <p:txBody>
          <a:bodyPr/>
          <a:lstStyle/>
          <a:p>
            <a:endParaRPr lang="en-US"/>
          </a:p>
        </p:txBody>
      </p:sp>
      <p:sp>
        <p:nvSpPr>
          <p:cNvPr id="73" name="Text 71"/>
          <p:cNvSpPr/>
          <p:nvPr/>
        </p:nvSpPr>
        <p:spPr>
          <a:xfrm>
            <a:off x="9450748" y="4983480"/>
            <a:ext cx="685800" cy="304495"/>
          </a:xfrm>
          <a:prstGeom prst="rect">
            <a:avLst/>
          </a:prstGeom>
          <a:noFill/>
          <a:ln/>
        </p:spPr>
        <p:txBody>
          <a:bodyPr wrap="square" rtlCol="0" anchor="ctr"/>
          <a:lstStyle/>
          <a:p>
            <a:pPr marL="0" indent="0">
              <a:buNone/>
            </a:pPr>
            <a:r>
              <a:rPr lang="en-US" sz="850" b="1" dirty="0">
                <a:solidFill>
                  <a:srgbClr val="0F766E"/>
                </a:solidFill>
                <a:latin typeface="Consolas" pitchFamily="34" charset="0"/>
                <a:ea typeface="Consolas" pitchFamily="34" charset="-122"/>
                <a:cs typeface="Consolas" pitchFamily="34" charset="-120"/>
              </a:rPr>
              <a:t>0.2523</a:t>
            </a:r>
            <a:endParaRPr lang="en-US" sz="850" dirty="0"/>
          </a:p>
        </p:txBody>
      </p:sp>
      <p:sp>
        <p:nvSpPr>
          <p:cNvPr id="74" name="Shape 72"/>
          <p:cNvSpPr/>
          <p:nvPr/>
        </p:nvSpPr>
        <p:spPr>
          <a:xfrm>
            <a:off x="3246120" y="5287975"/>
            <a:ext cx="8321040" cy="304495"/>
          </a:xfrm>
          <a:prstGeom prst="rect">
            <a:avLst/>
          </a:prstGeom>
          <a:solidFill>
            <a:srgbClr val="F7F8FA"/>
          </a:solidFill>
          <a:ln/>
        </p:spPr>
        <p:txBody>
          <a:bodyPr/>
          <a:lstStyle/>
          <a:p>
            <a:endParaRPr lang="en-US"/>
          </a:p>
        </p:txBody>
      </p:sp>
      <p:sp>
        <p:nvSpPr>
          <p:cNvPr id="75" name="Text 73"/>
          <p:cNvSpPr/>
          <p:nvPr/>
        </p:nvSpPr>
        <p:spPr>
          <a:xfrm>
            <a:off x="3246120" y="5287975"/>
            <a:ext cx="2331720" cy="304495"/>
          </a:xfrm>
          <a:prstGeom prst="rect">
            <a:avLst/>
          </a:prstGeom>
          <a:noFill/>
          <a:ln/>
        </p:spPr>
        <p:txBody>
          <a:bodyPr wrap="square" rtlCol="0" anchor="ctr"/>
          <a:lstStyle/>
          <a:p>
            <a:pPr marL="0" indent="0">
              <a:buNone/>
            </a:pPr>
            <a:r>
              <a:rPr lang="en-US" sz="850" dirty="0">
                <a:solidFill>
                  <a:srgbClr val="161B24"/>
                </a:solidFill>
                <a:latin typeface="Consolas" pitchFamily="34" charset="0"/>
                <a:ea typeface="Consolas" pitchFamily="34" charset="-122"/>
                <a:cs typeface="Consolas" pitchFamily="34" charset="-120"/>
              </a:rPr>
              <a:t>graph v2 · overlap</a:t>
            </a:r>
            <a:endParaRPr lang="en-US" sz="850" dirty="0"/>
          </a:p>
        </p:txBody>
      </p:sp>
      <p:sp>
        <p:nvSpPr>
          <p:cNvPr id="76" name="Text 74"/>
          <p:cNvSpPr/>
          <p:nvPr/>
        </p:nvSpPr>
        <p:spPr>
          <a:xfrm>
            <a:off x="5650992" y="5287975"/>
            <a:ext cx="1783080" cy="304495"/>
          </a:xfrm>
          <a:prstGeom prst="rect">
            <a:avLst/>
          </a:prstGeom>
          <a:noFill/>
          <a:ln/>
        </p:spPr>
        <p:txBody>
          <a:bodyPr wrap="square" rtlCol="0" anchor="ctr"/>
          <a:lstStyle/>
          <a:p>
            <a:pPr marL="0" indent="0">
              <a:buNone/>
            </a:pPr>
            <a:r>
              <a:rPr lang="en-US" sz="800" dirty="0">
                <a:solidFill>
                  <a:srgbClr val="959DAB"/>
                </a:solidFill>
                <a:latin typeface="Consolas" pitchFamily="34" charset="0"/>
                <a:ea typeface="Consolas" pitchFamily="34" charset="-122"/>
                <a:cs typeface="Consolas" pitchFamily="34" charset="-120"/>
              </a:rPr>
              <a:t>E2-C</a:t>
            </a:r>
            <a:endParaRPr lang="en-US" sz="800" dirty="0"/>
          </a:p>
        </p:txBody>
      </p:sp>
      <p:sp>
        <p:nvSpPr>
          <p:cNvPr id="77" name="Shape 75"/>
          <p:cNvSpPr/>
          <p:nvPr/>
        </p:nvSpPr>
        <p:spPr>
          <a:xfrm>
            <a:off x="7589520" y="5367144"/>
            <a:ext cx="3977640" cy="146158"/>
          </a:xfrm>
          <a:prstGeom prst="rect">
            <a:avLst/>
          </a:prstGeom>
          <a:solidFill>
            <a:srgbClr val="EDEFF3"/>
          </a:solidFill>
          <a:ln/>
        </p:spPr>
        <p:txBody>
          <a:bodyPr/>
          <a:lstStyle/>
          <a:p>
            <a:endParaRPr lang="en-US"/>
          </a:p>
        </p:txBody>
      </p:sp>
      <p:sp>
        <p:nvSpPr>
          <p:cNvPr id="78" name="Shape 76"/>
          <p:cNvSpPr/>
          <p:nvPr/>
        </p:nvSpPr>
        <p:spPr>
          <a:xfrm>
            <a:off x="7589520" y="5367144"/>
            <a:ext cx="3112684" cy="146158"/>
          </a:xfrm>
          <a:prstGeom prst="rect">
            <a:avLst/>
          </a:prstGeom>
          <a:solidFill>
            <a:srgbClr val="0F766E"/>
          </a:solidFill>
          <a:ln/>
        </p:spPr>
        <p:txBody>
          <a:bodyPr/>
          <a:lstStyle/>
          <a:p>
            <a:endParaRPr lang="en-US"/>
          </a:p>
        </p:txBody>
      </p:sp>
      <p:sp>
        <p:nvSpPr>
          <p:cNvPr id="79" name="Text 77"/>
          <p:cNvSpPr/>
          <p:nvPr/>
        </p:nvSpPr>
        <p:spPr>
          <a:xfrm>
            <a:off x="10738780" y="5287975"/>
            <a:ext cx="685800" cy="304495"/>
          </a:xfrm>
          <a:prstGeom prst="rect">
            <a:avLst/>
          </a:prstGeom>
          <a:noFill/>
          <a:ln/>
        </p:spPr>
        <p:txBody>
          <a:bodyPr wrap="square" rtlCol="0" anchor="ctr"/>
          <a:lstStyle/>
          <a:p>
            <a:pPr marL="0" indent="0">
              <a:buNone/>
            </a:pPr>
            <a:r>
              <a:rPr lang="en-US" sz="850" b="1" dirty="0">
                <a:solidFill>
                  <a:srgbClr val="0F766E"/>
                </a:solidFill>
                <a:latin typeface="Consolas" pitchFamily="34" charset="0"/>
                <a:ea typeface="Consolas" pitchFamily="34" charset="-122"/>
                <a:cs typeface="Consolas" pitchFamily="34" charset="-120"/>
              </a:rPr>
              <a:t>0.4304</a:t>
            </a:r>
            <a:endParaRPr lang="en-US" sz="850" dirty="0"/>
          </a:p>
        </p:txBody>
      </p:sp>
      <p:sp>
        <p:nvSpPr>
          <p:cNvPr id="80" name="Text 78"/>
          <p:cNvSpPr/>
          <p:nvPr/>
        </p:nvSpPr>
        <p:spPr>
          <a:xfrm>
            <a:off x="11305708" y="5287975"/>
            <a:ext cx="1828800" cy="304495"/>
          </a:xfrm>
          <a:prstGeom prst="rect">
            <a:avLst/>
          </a:prstGeom>
          <a:noFill/>
          <a:ln/>
        </p:spPr>
        <p:txBody>
          <a:bodyPr wrap="square" rtlCol="0" anchor="ctr"/>
          <a:lstStyle/>
          <a:p>
            <a:pPr marL="0" indent="0">
              <a:buNone/>
            </a:pPr>
            <a:r>
              <a:rPr lang="en-US" sz="800" i="1" dirty="0">
                <a:solidFill>
                  <a:srgbClr val="0F766E"/>
                </a:solidFill>
                <a:latin typeface="Calibri" pitchFamily="34" charset="0"/>
                <a:ea typeface="Calibri" pitchFamily="34" charset="-122"/>
                <a:cs typeface="Calibri" pitchFamily="34" charset="-120"/>
              </a:rPr>
              <a:t>★ best interpretable</a:t>
            </a:r>
            <a:endParaRPr lang="en-US" sz="800" dirty="0"/>
          </a:p>
        </p:txBody>
      </p:sp>
      <p:sp>
        <p:nvSpPr>
          <p:cNvPr id="81" name="Text 79"/>
          <p:cNvSpPr/>
          <p:nvPr/>
        </p:nvSpPr>
        <p:spPr>
          <a:xfrm>
            <a:off x="3246120" y="5592470"/>
            <a:ext cx="2331720" cy="304495"/>
          </a:xfrm>
          <a:prstGeom prst="rect">
            <a:avLst/>
          </a:prstGeom>
          <a:noFill/>
          <a:ln/>
        </p:spPr>
        <p:txBody>
          <a:bodyPr wrap="square" rtlCol="0" anchor="ctr"/>
          <a:lstStyle/>
          <a:p>
            <a:pPr marL="0" indent="0">
              <a:buNone/>
            </a:pPr>
            <a:r>
              <a:rPr lang="en-US" sz="850" dirty="0">
                <a:solidFill>
                  <a:srgbClr val="161B24"/>
                </a:solidFill>
                <a:latin typeface="Consolas" pitchFamily="34" charset="0"/>
                <a:ea typeface="Consolas" pitchFamily="34" charset="-122"/>
                <a:cs typeface="Consolas" pitchFamily="34" charset="-120"/>
              </a:rPr>
              <a:t>graph v2 · cy-cx</a:t>
            </a:r>
            <a:endParaRPr lang="en-US" sz="850" dirty="0"/>
          </a:p>
        </p:txBody>
      </p:sp>
      <p:sp>
        <p:nvSpPr>
          <p:cNvPr id="82" name="Text 80"/>
          <p:cNvSpPr/>
          <p:nvPr/>
        </p:nvSpPr>
        <p:spPr>
          <a:xfrm>
            <a:off x="5650992" y="5592470"/>
            <a:ext cx="1783080" cy="304495"/>
          </a:xfrm>
          <a:prstGeom prst="rect">
            <a:avLst/>
          </a:prstGeom>
          <a:noFill/>
          <a:ln/>
        </p:spPr>
        <p:txBody>
          <a:bodyPr wrap="square" rtlCol="0" anchor="ctr"/>
          <a:lstStyle/>
          <a:p>
            <a:pPr marL="0" indent="0">
              <a:buNone/>
            </a:pPr>
            <a:r>
              <a:rPr lang="en-US" sz="800" dirty="0">
                <a:solidFill>
                  <a:srgbClr val="959DAB"/>
                </a:solidFill>
                <a:latin typeface="Consolas" pitchFamily="34" charset="0"/>
                <a:ea typeface="Consolas" pitchFamily="34" charset="-122"/>
                <a:cs typeface="Consolas" pitchFamily="34" charset="-120"/>
              </a:rPr>
              <a:t>E5-GLiNER-cy</a:t>
            </a:r>
            <a:endParaRPr lang="en-US" sz="800" dirty="0"/>
          </a:p>
        </p:txBody>
      </p:sp>
      <p:sp>
        <p:nvSpPr>
          <p:cNvPr id="83" name="Shape 81"/>
          <p:cNvSpPr/>
          <p:nvPr/>
        </p:nvSpPr>
        <p:spPr>
          <a:xfrm>
            <a:off x="7589520" y="5671639"/>
            <a:ext cx="3977640" cy="146158"/>
          </a:xfrm>
          <a:prstGeom prst="rect">
            <a:avLst/>
          </a:prstGeom>
          <a:solidFill>
            <a:srgbClr val="EDEFF3"/>
          </a:solidFill>
          <a:ln/>
        </p:spPr>
        <p:txBody>
          <a:bodyPr/>
          <a:lstStyle/>
          <a:p>
            <a:endParaRPr lang="en-US"/>
          </a:p>
        </p:txBody>
      </p:sp>
      <p:sp>
        <p:nvSpPr>
          <p:cNvPr id="84" name="Shape 82"/>
          <p:cNvSpPr/>
          <p:nvPr/>
        </p:nvSpPr>
        <p:spPr>
          <a:xfrm>
            <a:off x="7589520" y="5671639"/>
            <a:ext cx="2990462" cy="146158"/>
          </a:xfrm>
          <a:prstGeom prst="rect">
            <a:avLst/>
          </a:prstGeom>
          <a:solidFill>
            <a:srgbClr val="0F766E"/>
          </a:solidFill>
          <a:ln/>
        </p:spPr>
        <p:txBody>
          <a:bodyPr/>
          <a:lstStyle/>
          <a:p>
            <a:endParaRPr lang="en-US"/>
          </a:p>
        </p:txBody>
      </p:sp>
      <p:sp>
        <p:nvSpPr>
          <p:cNvPr id="85" name="Text 83"/>
          <p:cNvSpPr/>
          <p:nvPr/>
        </p:nvSpPr>
        <p:spPr>
          <a:xfrm>
            <a:off x="10616558" y="5592470"/>
            <a:ext cx="685800" cy="304495"/>
          </a:xfrm>
          <a:prstGeom prst="rect">
            <a:avLst/>
          </a:prstGeom>
          <a:noFill/>
          <a:ln/>
        </p:spPr>
        <p:txBody>
          <a:bodyPr wrap="square" rtlCol="0" anchor="ctr"/>
          <a:lstStyle/>
          <a:p>
            <a:pPr marL="0" indent="0">
              <a:buNone/>
            </a:pPr>
            <a:r>
              <a:rPr lang="en-US" sz="850" b="1" dirty="0">
                <a:solidFill>
                  <a:srgbClr val="0F766E"/>
                </a:solidFill>
                <a:latin typeface="Consolas" pitchFamily="34" charset="0"/>
                <a:ea typeface="Consolas" pitchFamily="34" charset="-122"/>
                <a:cs typeface="Consolas" pitchFamily="34" charset="-120"/>
              </a:rPr>
              <a:t>0.4135</a:t>
            </a:r>
            <a:endParaRPr lang="en-US" sz="850" dirty="0"/>
          </a:p>
        </p:txBody>
      </p:sp>
      <p:sp>
        <p:nvSpPr>
          <p:cNvPr id="86" name="Shape 84"/>
          <p:cNvSpPr/>
          <p:nvPr/>
        </p:nvSpPr>
        <p:spPr>
          <a:xfrm>
            <a:off x="3246120" y="5896966"/>
            <a:ext cx="8321040" cy="304495"/>
          </a:xfrm>
          <a:prstGeom prst="rect">
            <a:avLst/>
          </a:prstGeom>
          <a:solidFill>
            <a:srgbClr val="F7F8FA"/>
          </a:solidFill>
          <a:ln/>
        </p:spPr>
        <p:txBody>
          <a:bodyPr/>
          <a:lstStyle/>
          <a:p>
            <a:endParaRPr lang="en-US"/>
          </a:p>
        </p:txBody>
      </p:sp>
      <p:sp>
        <p:nvSpPr>
          <p:cNvPr id="87" name="Text 85"/>
          <p:cNvSpPr/>
          <p:nvPr/>
        </p:nvSpPr>
        <p:spPr>
          <a:xfrm>
            <a:off x="3246120" y="5896966"/>
            <a:ext cx="2331720" cy="304495"/>
          </a:xfrm>
          <a:prstGeom prst="rect">
            <a:avLst/>
          </a:prstGeom>
          <a:noFill/>
          <a:ln/>
        </p:spPr>
        <p:txBody>
          <a:bodyPr wrap="square" rtlCol="0" anchor="ctr"/>
          <a:lstStyle/>
          <a:p>
            <a:pPr marL="0" indent="0">
              <a:buNone/>
            </a:pPr>
            <a:r>
              <a:rPr lang="en-US" sz="850" dirty="0">
                <a:solidFill>
                  <a:srgbClr val="161B24"/>
                </a:solidFill>
                <a:latin typeface="Consolas" pitchFamily="34" charset="0"/>
                <a:ea typeface="Consolas" pitchFamily="34" charset="-122"/>
                <a:cs typeface="Consolas" pitchFamily="34" charset="-120"/>
              </a:rPr>
              <a:t>VLM association</a:t>
            </a:r>
            <a:endParaRPr lang="en-US" sz="850" dirty="0"/>
          </a:p>
        </p:txBody>
      </p:sp>
      <p:sp>
        <p:nvSpPr>
          <p:cNvPr id="88" name="Text 86"/>
          <p:cNvSpPr/>
          <p:nvPr/>
        </p:nvSpPr>
        <p:spPr>
          <a:xfrm>
            <a:off x="5650992" y="5896966"/>
            <a:ext cx="1783080" cy="304495"/>
          </a:xfrm>
          <a:prstGeom prst="rect">
            <a:avLst/>
          </a:prstGeom>
          <a:noFill/>
          <a:ln/>
        </p:spPr>
        <p:txBody>
          <a:bodyPr wrap="square" rtlCol="0" anchor="ctr"/>
          <a:lstStyle/>
          <a:p>
            <a:pPr marL="0" indent="0">
              <a:buNone/>
            </a:pPr>
            <a:r>
              <a:rPr lang="en-US" sz="800" dirty="0">
                <a:solidFill>
                  <a:srgbClr val="959DAB"/>
                </a:solidFill>
                <a:latin typeface="Consolas" pitchFamily="34" charset="0"/>
                <a:ea typeface="Consolas" pitchFamily="34" charset="-122"/>
                <a:cs typeface="Consolas" pitchFamily="34" charset="-120"/>
              </a:rPr>
              <a:t>E3-GLiNER-VLM</a:t>
            </a:r>
            <a:endParaRPr lang="en-US" sz="800" dirty="0"/>
          </a:p>
        </p:txBody>
      </p:sp>
      <p:sp>
        <p:nvSpPr>
          <p:cNvPr id="89" name="Shape 87"/>
          <p:cNvSpPr/>
          <p:nvPr/>
        </p:nvSpPr>
        <p:spPr>
          <a:xfrm>
            <a:off x="7589520" y="5976134"/>
            <a:ext cx="3977640" cy="146158"/>
          </a:xfrm>
          <a:prstGeom prst="rect">
            <a:avLst/>
          </a:prstGeom>
          <a:solidFill>
            <a:srgbClr val="EDEFF3"/>
          </a:solidFill>
          <a:ln/>
        </p:spPr>
        <p:txBody>
          <a:bodyPr/>
          <a:lstStyle/>
          <a:p>
            <a:endParaRPr lang="en-US"/>
          </a:p>
        </p:txBody>
      </p:sp>
      <p:sp>
        <p:nvSpPr>
          <p:cNvPr id="90" name="Shape 88"/>
          <p:cNvSpPr/>
          <p:nvPr/>
        </p:nvSpPr>
        <p:spPr>
          <a:xfrm>
            <a:off x="7589520" y="5976134"/>
            <a:ext cx="3215380" cy="146158"/>
          </a:xfrm>
          <a:prstGeom prst="rect">
            <a:avLst/>
          </a:prstGeom>
          <a:solidFill>
            <a:srgbClr val="D97706"/>
          </a:solidFill>
          <a:ln/>
        </p:spPr>
        <p:txBody>
          <a:bodyPr/>
          <a:lstStyle/>
          <a:p>
            <a:endParaRPr lang="en-US"/>
          </a:p>
        </p:txBody>
      </p:sp>
      <p:sp>
        <p:nvSpPr>
          <p:cNvPr id="91" name="Text 89"/>
          <p:cNvSpPr/>
          <p:nvPr/>
        </p:nvSpPr>
        <p:spPr>
          <a:xfrm>
            <a:off x="10841476" y="5896966"/>
            <a:ext cx="685800" cy="304495"/>
          </a:xfrm>
          <a:prstGeom prst="rect">
            <a:avLst/>
          </a:prstGeom>
          <a:noFill/>
          <a:ln/>
        </p:spPr>
        <p:txBody>
          <a:bodyPr wrap="square" rtlCol="0" anchor="ctr"/>
          <a:lstStyle/>
          <a:p>
            <a:pPr marL="0" indent="0">
              <a:buNone/>
            </a:pPr>
            <a:r>
              <a:rPr lang="en-US" sz="850" b="1" dirty="0">
                <a:solidFill>
                  <a:srgbClr val="D97706"/>
                </a:solidFill>
                <a:latin typeface="Consolas" pitchFamily="34" charset="0"/>
                <a:ea typeface="Consolas" pitchFamily="34" charset="-122"/>
                <a:cs typeface="Consolas" pitchFamily="34" charset="-120"/>
              </a:rPr>
              <a:t>0.4446</a:t>
            </a:r>
            <a:endParaRPr lang="en-US" sz="850" dirty="0"/>
          </a:p>
        </p:txBody>
      </p:sp>
      <p:sp>
        <p:nvSpPr>
          <p:cNvPr id="92" name="Shape 90"/>
          <p:cNvSpPr/>
          <p:nvPr/>
        </p:nvSpPr>
        <p:spPr>
          <a:xfrm>
            <a:off x="566928" y="1961388"/>
            <a:ext cx="1143000" cy="258775"/>
          </a:xfrm>
          <a:prstGeom prst="roundRect">
            <a:avLst>
              <a:gd name="adj" fmla="val 17668"/>
            </a:avLst>
          </a:prstGeom>
          <a:solidFill>
            <a:srgbClr val="FCEBEB"/>
          </a:solidFill>
          <a:ln w="12700">
            <a:solidFill>
              <a:srgbClr val="DC2626"/>
            </a:solidFill>
            <a:prstDash val="solid"/>
          </a:ln>
        </p:spPr>
        <p:txBody>
          <a:bodyPr/>
          <a:lstStyle/>
          <a:p>
            <a:endParaRPr lang="en-US"/>
          </a:p>
        </p:txBody>
      </p:sp>
      <p:sp>
        <p:nvSpPr>
          <p:cNvPr id="93" name="Text 91"/>
          <p:cNvSpPr/>
          <p:nvPr/>
        </p:nvSpPr>
        <p:spPr>
          <a:xfrm>
            <a:off x="566928" y="1961388"/>
            <a:ext cx="1143000" cy="258775"/>
          </a:xfrm>
          <a:prstGeom prst="rect">
            <a:avLst/>
          </a:prstGeom>
          <a:noFill/>
          <a:ln/>
        </p:spPr>
        <p:txBody>
          <a:bodyPr wrap="square" rtlCol="0" anchor="ctr"/>
          <a:lstStyle/>
          <a:p>
            <a:pPr marL="0" indent="0" algn="ctr">
              <a:buNone/>
            </a:pPr>
            <a:r>
              <a:rPr lang="en-US" sz="1100" b="1" dirty="0">
                <a:solidFill>
                  <a:srgbClr val="DC2626"/>
                </a:solidFill>
                <a:latin typeface="Georgia" pitchFamily="34" charset="0"/>
                <a:ea typeface="Georgia" pitchFamily="34" charset="-122"/>
                <a:cs typeface="Georgia" pitchFamily="34" charset="-120"/>
              </a:rPr>
              <a:t>E2E-VLM</a:t>
            </a:r>
            <a:endParaRPr lang="en-US" sz="1100" dirty="0"/>
          </a:p>
        </p:txBody>
      </p:sp>
      <p:sp>
        <p:nvSpPr>
          <p:cNvPr id="94" name="Shape 92"/>
          <p:cNvSpPr/>
          <p:nvPr/>
        </p:nvSpPr>
        <p:spPr>
          <a:xfrm>
            <a:off x="566928" y="2265883"/>
            <a:ext cx="1143000" cy="258775"/>
          </a:xfrm>
          <a:prstGeom prst="roundRect">
            <a:avLst>
              <a:gd name="adj" fmla="val 17668"/>
            </a:avLst>
          </a:prstGeom>
          <a:solidFill>
            <a:srgbClr val="F6F7FA"/>
          </a:solidFill>
          <a:ln w="12700">
            <a:solidFill>
              <a:srgbClr val="E0E4EA"/>
            </a:solidFill>
            <a:prstDash val="solid"/>
          </a:ln>
        </p:spPr>
        <p:txBody>
          <a:bodyPr/>
          <a:lstStyle/>
          <a:p>
            <a:endParaRPr lang="en-US"/>
          </a:p>
        </p:txBody>
      </p:sp>
      <p:sp>
        <p:nvSpPr>
          <p:cNvPr id="95" name="Text 93"/>
          <p:cNvSpPr/>
          <p:nvPr/>
        </p:nvSpPr>
        <p:spPr>
          <a:xfrm>
            <a:off x="566928" y="2265883"/>
            <a:ext cx="1143000" cy="258775"/>
          </a:xfrm>
          <a:prstGeom prst="rect">
            <a:avLst/>
          </a:prstGeom>
          <a:noFill/>
          <a:ln/>
        </p:spPr>
        <p:txBody>
          <a:bodyPr wrap="square" rtlCol="0" anchor="ctr"/>
          <a:lstStyle/>
          <a:p>
            <a:pPr marL="0" indent="0" algn="ctr">
              <a:buNone/>
            </a:pPr>
            <a:r>
              <a:rPr lang="en-US" sz="1100" b="1" dirty="0">
                <a:solidFill>
                  <a:srgbClr val="586274"/>
                </a:solidFill>
                <a:latin typeface="Georgia" pitchFamily="34" charset="0"/>
                <a:ea typeface="Georgia" pitchFamily="34" charset="-122"/>
                <a:cs typeface="Georgia" pitchFamily="34" charset="-120"/>
              </a:rPr>
              <a:t>EasyOCR</a:t>
            </a:r>
            <a:endParaRPr lang="en-US" sz="1100" dirty="0"/>
          </a:p>
        </p:txBody>
      </p:sp>
      <p:sp>
        <p:nvSpPr>
          <p:cNvPr id="96" name="Shape 94"/>
          <p:cNvSpPr/>
          <p:nvPr/>
        </p:nvSpPr>
        <p:spPr>
          <a:xfrm>
            <a:off x="566928" y="2570378"/>
            <a:ext cx="1143000" cy="3608222"/>
          </a:xfrm>
          <a:prstGeom prst="roundRect">
            <a:avLst>
              <a:gd name="adj" fmla="val 4000"/>
            </a:avLst>
          </a:prstGeom>
          <a:solidFill>
            <a:srgbClr val="EAF2F1"/>
          </a:solidFill>
          <a:ln w="12700">
            <a:solidFill>
              <a:srgbClr val="0F766E"/>
            </a:solidFill>
            <a:prstDash val="solid"/>
          </a:ln>
        </p:spPr>
        <p:txBody>
          <a:bodyPr/>
          <a:lstStyle/>
          <a:p>
            <a:endParaRPr lang="en-US"/>
          </a:p>
        </p:txBody>
      </p:sp>
      <p:sp>
        <p:nvSpPr>
          <p:cNvPr id="97" name="Text 95"/>
          <p:cNvSpPr/>
          <p:nvPr/>
        </p:nvSpPr>
        <p:spPr>
          <a:xfrm>
            <a:off x="566928" y="2570378"/>
            <a:ext cx="1143000" cy="3608222"/>
          </a:xfrm>
          <a:prstGeom prst="rect">
            <a:avLst/>
          </a:prstGeom>
          <a:noFill/>
          <a:ln/>
        </p:spPr>
        <p:txBody>
          <a:bodyPr wrap="square" rtlCol="0" anchor="ctr"/>
          <a:lstStyle/>
          <a:p>
            <a:pPr marL="0" indent="0" algn="ctr">
              <a:buNone/>
            </a:pPr>
            <a:r>
              <a:rPr lang="en-US" sz="900" b="1" dirty="0">
                <a:solidFill>
                  <a:srgbClr val="0F766E"/>
                </a:solidFill>
                <a:latin typeface="Georgia" pitchFamily="34" charset="0"/>
                <a:ea typeface="Georgia" pitchFamily="34" charset="-122"/>
                <a:cs typeface="Georgia" pitchFamily="34" charset="-120"/>
              </a:rPr>
              <a:t>PaddleOCR</a:t>
            </a:r>
            <a:endParaRPr lang="en-US" sz="900" dirty="0"/>
          </a:p>
          <a:p>
            <a:pPr marL="0" indent="0" algn="ctr">
              <a:buNone/>
            </a:pPr>
            <a:r>
              <a:rPr lang="en-US" sz="900" b="1" dirty="0">
                <a:solidFill>
                  <a:srgbClr val="0F766E"/>
                </a:solidFill>
                <a:latin typeface="Georgia" pitchFamily="34" charset="0"/>
                <a:ea typeface="Georgia" pitchFamily="34" charset="-122"/>
                <a:cs typeface="Georgia" pitchFamily="34" charset="-120"/>
              </a:rPr>
              <a:t>PP-OCRv5</a:t>
            </a:r>
            <a:endParaRPr lang="en-US" sz="900" dirty="0"/>
          </a:p>
        </p:txBody>
      </p:sp>
      <p:sp>
        <p:nvSpPr>
          <p:cNvPr id="98" name="Shape 96"/>
          <p:cNvSpPr/>
          <p:nvPr/>
        </p:nvSpPr>
        <p:spPr>
          <a:xfrm>
            <a:off x="1783080" y="1961388"/>
            <a:ext cx="1371600" cy="258775"/>
          </a:xfrm>
          <a:prstGeom prst="roundRect">
            <a:avLst>
              <a:gd name="adj" fmla="val 17668"/>
            </a:avLst>
          </a:prstGeom>
          <a:solidFill>
            <a:srgbClr val="FFFFFF"/>
          </a:solidFill>
          <a:ln w="12700">
            <a:solidFill>
              <a:srgbClr val="E0E4EA"/>
            </a:solidFill>
            <a:prstDash val="solid"/>
          </a:ln>
        </p:spPr>
        <p:txBody>
          <a:bodyPr/>
          <a:lstStyle/>
          <a:p>
            <a:endParaRPr lang="en-US"/>
          </a:p>
        </p:txBody>
      </p:sp>
      <p:sp>
        <p:nvSpPr>
          <p:cNvPr id="99" name="Text 97"/>
          <p:cNvSpPr/>
          <p:nvPr/>
        </p:nvSpPr>
        <p:spPr>
          <a:xfrm>
            <a:off x="1783080" y="1961388"/>
            <a:ext cx="1371600" cy="258775"/>
          </a:xfrm>
          <a:prstGeom prst="rect">
            <a:avLst/>
          </a:prstGeom>
          <a:noFill/>
          <a:ln/>
        </p:spPr>
        <p:txBody>
          <a:bodyPr wrap="square" rtlCol="0" anchor="ctr"/>
          <a:lstStyle/>
          <a:p>
            <a:pPr marL="0" indent="0" algn="ctr">
              <a:buNone/>
            </a:pPr>
            <a:r>
              <a:rPr lang="en-US" sz="1100" b="1" dirty="0">
                <a:solidFill>
                  <a:srgbClr val="959DAB"/>
                </a:solidFill>
                <a:latin typeface="Georgia" pitchFamily="34" charset="0"/>
                <a:ea typeface="Georgia" pitchFamily="34" charset="-122"/>
                <a:cs typeface="Georgia" pitchFamily="34" charset="-120"/>
              </a:rPr>
              <a:t>—</a:t>
            </a:r>
            <a:endParaRPr lang="en-US" sz="1100" dirty="0"/>
          </a:p>
        </p:txBody>
      </p:sp>
      <p:sp>
        <p:nvSpPr>
          <p:cNvPr id="100" name="Shape 98"/>
          <p:cNvSpPr/>
          <p:nvPr/>
        </p:nvSpPr>
        <p:spPr>
          <a:xfrm>
            <a:off x="1783080" y="2265883"/>
            <a:ext cx="1371600" cy="258775"/>
          </a:xfrm>
          <a:prstGeom prst="roundRect">
            <a:avLst>
              <a:gd name="adj" fmla="val 17668"/>
            </a:avLst>
          </a:prstGeom>
          <a:solidFill>
            <a:srgbClr val="F6F7FA"/>
          </a:solidFill>
          <a:ln w="12700">
            <a:solidFill>
              <a:srgbClr val="E0E4EA"/>
            </a:solidFill>
            <a:prstDash val="solid"/>
          </a:ln>
        </p:spPr>
        <p:txBody>
          <a:bodyPr/>
          <a:lstStyle/>
          <a:p>
            <a:endParaRPr lang="en-US"/>
          </a:p>
        </p:txBody>
      </p:sp>
      <p:sp>
        <p:nvSpPr>
          <p:cNvPr id="101" name="Text 99"/>
          <p:cNvSpPr/>
          <p:nvPr/>
        </p:nvSpPr>
        <p:spPr>
          <a:xfrm>
            <a:off x="1783080" y="2265883"/>
            <a:ext cx="1371600" cy="258775"/>
          </a:xfrm>
          <a:prstGeom prst="rect">
            <a:avLst/>
          </a:prstGeom>
          <a:noFill/>
          <a:ln/>
        </p:spPr>
        <p:txBody>
          <a:bodyPr wrap="square" rtlCol="0" anchor="ctr"/>
          <a:lstStyle/>
          <a:p>
            <a:pPr marL="0" indent="0" algn="ctr">
              <a:buNone/>
            </a:pPr>
            <a:r>
              <a:rPr lang="en-US" sz="1100" b="1" dirty="0">
                <a:solidFill>
                  <a:srgbClr val="586274"/>
                </a:solidFill>
                <a:latin typeface="Georgia" pitchFamily="34" charset="0"/>
                <a:ea typeface="Georgia" pitchFamily="34" charset="-122"/>
                <a:cs typeface="Georgia" pitchFamily="34" charset="-120"/>
              </a:rPr>
              <a:t>rule</a:t>
            </a:r>
            <a:endParaRPr lang="en-US" sz="1100" dirty="0"/>
          </a:p>
        </p:txBody>
      </p:sp>
      <p:sp>
        <p:nvSpPr>
          <p:cNvPr id="102" name="Shape 100"/>
          <p:cNvSpPr/>
          <p:nvPr/>
        </p:nvSpPr>
        <p:spPr>
          <a:xfrm>
            <a:off x="1783080" y="2570378"/>
            <a:ext cx="1371600" cy="563270"/>
          </a:xfrm>
          <a:prstGeom prst="roundRect">
            <a:avLst>
              <a:gd name="adj" fmla="val 8117"/>
            </a:avLst>
          </a:prstGeom>
          <a:solidFill>
            <a:srgbClr val="FFFFFF"/>
          </a:solidFill>
          <a:ln w="12700">
            <a:solidFill>
              <a:srgbClr val="E0E4EA"/>
            </a:solidFill>
            <a:prstDash val="solid"/>
          </a:ln>
        </p:spPr>
        <p:txBody>
          <a:bodyPr/>
          <a:lstStyle/>
          <a:p>
            <a:endParaRPr lang="en-US"/>
          </a:p>
        </p:txBody>
      </p:sp>
      <p:sp>
        <p:nvSpPr>
          <p:cNvPr id="103" name="Text 101"/>
          <p:cNvSpPr/>
          <p:nvPr/>
        </p:nvSpPr>
        <p:spPr>
          <a:xfrm>
            <a:off x="1783080" y="2570378"/>
            <a:ext cx="1371600" cy="563270"/>
          </a:xfrm>
          <a:prstGeom prst="rect">
            <a:avLst/>
          </a:prstGeom>
          <a:noFill/>
          <a:ln/>
        </p:spPr>
        <p:txBody>
          <a:bodyPr wrap="square" rtlCol="0" anchor="ctr"/>
          <a:lstStyle/>
          <a:p>
            <a:pPr marL="0" indent="0" algn="ctr">
              <a:buNone/>
            </a:pPr>
            <a:r>
              <a:rPr lang="en-US" sz="900" b="1" dirty="0">
                <a:solidFill>
                  <a:srgbClr val="161B24"/>
                </a:solidFill>
                <a:latin typeface="Georgia" pitchFamily="34" charset="0"/>
                <a:ea typeface="Georgia" pitchFamily="34" charset="-122"/>
                <a:cs typeface="Georgia" pitchFamily="34" charset="-120"/>
              </a:rPr>
              <a:t>Rule-based</a:t>
            </a:r>
            <a:endParaRPr lang="en-US" sz="900" dirty="0"/>
          </a:p>
        </p:txBody>
      </p:sp>
      <p:sp>
        <p:nvSpPr>
          <p:cNvPr id="104" name="Shape 102"/>
          <p:cNvSpPr/>
          <p:nvPr/>
        </p:nvSpPr>
        <p:spPr>
          <a:xfrm>
            <a:off x="1783080" y="3179369"/>
            <a:ext cx="1371600" cy="1781251"/>
          </a:xfrm>
          <a:prstGeom prst="roundRect">
            <a:avLst>
              <a:gd name="adj" fmla="val 3333"/>
            </a:avLst>
          </a:prstGeom>
          <a:solidFill>
            <a:srgbClr val="FFFFFF"/>
          </a:solidFill>
          <a:ln w="12700">
            <a:solidFill>
              <a:srgbClr val="E0E4EA"/>
            </a:solidFill>
            <a:prstDash val="solid"/>
          </a:ln>
        </p:spPr>
        <p:txBody>
          <a:bodyPr/>
          <a:lstStyle/>
          <a:p>
            <a:endParaRPr lang="en-US"/>
          </a:p>
        </p:txBody>
      </p:sp>
      <p:sp>
        <p:nvSpPr>
          <p:cNvPr id="105" name="Text 103"/>
          <p:cNvSpPr/>
          <p:nvPr/>
        </p:nvSpPr>
        <p:spPr>
          <a:xfrm>
            <a:off x="1783080" y="3179369"/>
            <a:ext cx="1371600" cy="1781251"/>
          </a:xfrm>
          <a:prstGeom prst="rect">
            <a:avLst/>
          </a:prstGeom>
          <a:noFill/>
          <a:ln/>
        </p:spPr>
        <p:txBody>
          <a:bodyPr wrap="square" rtlCol="0" anchor="ctr"/>
          <a:lstStyle/>
          <a:p>
            <a:pPr marL="0" indent="0" algn="ctr">
              <a:buNone/>
            </a:pPr>
            <a:r>
              <a:rPr lang="en-US" sz="900" b="1" dirty="0">
                <a:solidFill>
                  <a:srgbClr val="161B24"/>
                </a:solidFill>
                <a:latin typeface="Georgia" pitchFamily="34" charset="0"/>
                <a:ea typeface="Georgia" pitchFamily="34" charset="-122"/>
                <a:cs typeface="Georgia" pitchFamily="34" charset="-120"/>
              </a:rPr>
              <a:t>Embedding</a:t>
            </a:r>
            <a:endParaRPr lang="en-US" sz="900" dirty="0"/>
          </a:p>
          <a:p>
            <a:pPr marL="0" indent="0" algn="ctr">
              <a:buNone/>
            </a:pPr>
            <a:r>
              <a:rPr lang="en-US" sz="900" b="1" dirty="0">
                <a:solidFill>
                  <a:srgbClr val="161B24"/>
                </a:solidFill>
                <a:latin typeface="Georgia" pitchFamily="34" charset="0"/>
                <a:ea typeface="Georgia" pitchFamily="34" charset="-122"/>
                <a:cs typeface="Georgia" pitchFamily="34" charset="-120"/>
              </a:rPr>
              <a:t>(BGE-M3)</a:t>
            </a:r>
            <a:endParaRPr lang="en-US" sz="900" dirty="0"/>
          </a:p>
        </p:txBody>
      </p:sp>
      <p:sp>
        <p:nvSpPr>
          <p:cNvPr id="106" name="Shape 104"/>
          <p:cNvSpPr/>
          <p:nvPr/>
        </p:nvSpPr>
        <p:spPr>
          <a:xfrm>
            <a:off x="1783080" y="5006340"/>
            <a:ext cx="1371600" cy="1172261"/>
          </a:xfrm>
          <a:prstGeom prst="roundRect">
            <a:avLst>
              <a:gd name="adj" fmla="val 3900"/>
            </a:avLst>
          </a:prstGeom>
          <a:solidFill>
            <a:srgbClr val="FFFFFF"/>
          </a:solidFill>
          <a:ln w="12700">
            <a:solidFill>
              <a:srgbClr val="E0E4EA"/>
            </a:solidFill>
            <a:prstDash val="solid"/>
          </a:ln>
        </p:spPr>
        <p:txBody>
          <a:bodyPr/>
          <a:lstStyle/>
          <a:p>
            <a:endParaRPr lang="en-US"/>
          </a:p>
        </p:txBody>
      </p:sp>
      <p:sp>
        <p:nvSpPr>
          <p:cNvPr id="107" name="Text 105"/>
          <p:cNvSpPr/>
          <p:nvPr/>
        </p:nvSpPr>
        <p:spPr>
          <a:xfrm>
            <a:off x="1783080" y="5006340"/>
            <a:ext cx="1371600" cy="1172261"/>
          </a:xfrm>
          <a:prstGeom prst="rect">
            <a:avLst/>
          </a:prstGeom>
          <a:noFill/>
          <a:ln/>
        </p:spPr>
        <p:txBody>
          <a:bodyPr wrap="square" rtlCol="0" anchor="ctr"/>
          <a:lstStyle/>
          <a:p>
            <a:pPr marL="0" indent="0" algn="ctr">
              <a:buNone/>
            </a:pPr>
            <a:r>
              <a:rPr lang="en-US" sz="900" b="1" dirty="0">
                <a:solidFill>
                  <a:srgbClr val="161B24"/>
                </a:solidFill>
                <a:latin typeface="Georgia" pitchFamily="34" charset="0"/>
                <a:ea typeface="Georgia" pitchFamily="34" charset="-122"/>
                <a:cs typeface="Georgia" pitchFamily="34" charset="-120"/>
              </a:rPr>
              <a:t>GLiNER</a:t>
            </a:r>
            <a:endParaRPr lang="en-US" sz="900" dirty="0"/>
          </a:p>
          <a:p>
            <a:pPr marL="0" indent="0" algn="ctr">
              <a:buNone/>
            </a:pPr>
            <a:r>
              <a:rPr lang="en-US" sz="900" b="1" dirty="0">
                <a:solidFill>
                  <a:srgbClr val="161B24"/>
                </a:solidFill>
                <a:latin typeface="Georgia" pitchFamily="34" charset="0"/>
                <a:ea typeface="Georgia" pitchFamily="34" charset="-122"/>
                <a:cs typeface="Georgia" pitchFamily="34" charset="-120"/>
              </a:rPr>
              <a:t>biomed</a:t>
            </a:r>
            <a:endParaRPr lang="en-US" sz="900" dirty="0"/>
          </a:p>
        </p:txBody>
      </p:sp>
      <p:sp>
        <p:nvSpPr>
          <p:cNvPr id="108" name="Shape 106"/>
          <p:cNvSpPr/>
          <p:nvPr/>
        </p:nvSpPr>
        <p:spPr>
          <a:xfrm>
            <a:off x="1709928" y="2852014"/>
            <a:ext cx="73152" cy="0"/>
          </a:xfrm>
          <a:prstGeom prst="line">
            <a:avLst/>
          </a:prstGeom>
          <a:noFill/>
          <a:ln w="12700">
            <a:solidFill>
              <a:srgbClr val="E0E4EA"/>
            </a:solidFill>
            <a:prstDash val="solid"/>
          </a:ln>
        </p:spPr>
        <p:txBody>
          <a:bodyPr/>
          <a:lstStyle/>
          <a:p>
            <a:endParaRPr lang="en-US"/>
          </a:p>
        </p:txBody>
      </p:sp>
      <p:sp>
        <p:nvSpPr>
          <p:cNvPr id="109" name="Shape 107"/>
          <p:cNvSpPr/>
          <p:nvPr/>
        </p:nvSpPr>
        <p:spPr>
          <a:xfrm>
            <a:off x="1709928" y="4069994"/>
            <a:ext cx="73152" cy="0"/>
          </a:xfrm>
          <a:prstGeom prst="line">
            <a:avLst/>
          </a:prstGeom>
          <a:noFill/>
          <a:ln w="12700">
            <a:solidFill>
              <a:srgbClr val="E0E4EA"/>
            </a:solidFill>
            <a:prstDash val="solid"/>
          </a:ln>
        </p:spPr>
        <p:txBody>
          <a:bodyPr/>
          <a:lstStyle/>
          <a:p>
            <a:endParaRPr lang="en-US"/>
          </a:p>
        </p:txBody>
      </p:sp>
      <p:sp>
        <p:nvSpPr>
          <p:cNvPr id="110" name="Shape 108"/>
          <p:cNvSpPr/>
          <p:nvPr/>
        </p:nvSpPr>
        <p:spPr>
          <a:xfrm>
            <a:off x="1709928" y="5592470"/>
            <a:ext cx="73152" cy="0"/>
          </a:xfrm>
          <a:prstGeom prst="line">
            <a:avLst/>
          </a:prstGeom>
          <a:noFill/>
          <a:ln w="12700">
            <a:solidFill>
              <a:srgbClr val="E0E4EA"/>
            </a:solidFill>
            <a:prstDash val="solid"/>
          </a:ln>
        </p:spPr>
        <p:txBody>
          <a:bodyPr/>
          <a:lstStyle/>
          <a:p>
            <a:endParaRPr lang="en-US"/>
          </a:p>
        </p:txBody>
      </p:sp>
      <p:sp>
        <p:nvSpPr>
          <p:cNvPr id="111" name="Shape 109"/>
          <p:cNvSpPr/>
          <p:nvPr/>
        </p:nvSpPr>
        <p:spPr>
          <a:xfrm>
            <a:off x="3246120" y="6300216"/>
            <a:ext cx="146304" cy="146304"/>
          </a:xfrm>
          <a:prstGeom prst="rect">
            <a:avLst/>
          </a:prstGeom>
          <a:solidFill>
            <a:srgbClr val="0F766E"/>
          </a:solidFill>
          <a:ln/>
        </p:spPr>
        <p:txBody>
          <a:bodyPr/>
          <a:lstStyle/>
          <a:p>
            <a:endParaRPr lang="en-US"/>
          </a:p>
        </p:txBody>
      </p:sp>
      <p:sp>
        <p:nvSpPr>
          <p:cNvPr id="112" name="Text 110"/>
          <p:cNvSpPr/>
          <p:nvPr/>
        </p:nvSpPr>
        <p:spPr>
          <a:xfrm>
            <a:off x="3447288" y="6236208"/>
            <a:ext cx="2377440" cy="274320"/>
          </a:xfrm>
          <a:prstGeom prst="rect">
            <a:avLst/>
          </a:prstGeom>
          <a:noFill/>
          <a:ln/>
        </p:spPr>
        <p:txBody>
          <a:bodyPr wrap="square" rtlCol="0" anchor="ctr"/>
          <a:lstStyle/>
          <a:p>
            <a:pPr marL="0" indent="0">
              <a:buNone/>
            </a:pPr>
            <a:r>
              <a:rPr lang="en-US" sz="950" dirty="0">
                <a:solidFill>
                  <a:srgbClr val="586274"/>
                </a:solidFill>
                <a:latin typeface="Calibri" pitchFamily="34" charset="0"/>
                <a:ea typeface="Calibri" pitchFamily="34" charset="-122"/>
                <a:cs typeface="Calibri" pitchFamily="34" charset="-120"/>
              </a:rPr>
              <a:t>Tier 1 · interpretable graph</a:t>
            </a:r>
            <a:endParaRPr lang="en-US" sz="950" dirty="0"/>
          </a:p>
        </p:txBody>
      </p:sp>
      <p:sp>
        <p:nvSpPr>
          <p:cNvPr id="113" name="Shape 111"/>
          <p:cNvSpPr/>
          <p:nvPr/>
        </p:nvSpPr>
        <p:spPr>
          <a:xfrm>
            <a:off x="5715000" y="6300216"/>
            <a:ext cx="146304" cy="146304"/>
          </a:xfrm>
          <a:prstGeom prst="rect">
            <a:avLst/>
          </a:prstGeom>
          <a:solidFill>
            <a:srgbClr val="D97706"/>
          </a:solidFill>
          <a:ln/>
        </p:spPr>
        <p:txBody>
          <a:bodyPr/>
          <a:lstStyle/>
          <a:p>
            <a:endParaRPr lang="en-US"/>
          </a:p>
        </p:txBody>
      </p:sp>
      <p:sp>
        <p:nvSpPr>
          <p:cNvPr id="114" name="Text 112"/>
          <p:cNvSpPr/>
          <p:nvPr/>
        </p:nvSpPr>
        <p:spPr>
          <a:xfrm>
            <a:off x="5916168" y="6236208"/>
            <a:ext cx="2377440" cy="274320"/>
          </a:xfrm>
          <a:prstGeom prst="rect">
            <a:avLst/>
          </a:prstGeom>
          <a:noFill/>
          <a:ln/>
        </p:spPr>
        <p:txBody>
          <a:bodyPr wrap="square" rtlCol="0" anchor="ctr"/>
          <a:lstStyle/>
          <a:p>
            <a:pPr marL="0" indent="0">
              <a:buNone/>
            </a:pPr>
            <a:r>
              <a:rPr lang="en-US" sz="950" dirty="0">
                <a:solidFill>
                  <a:srgbClr val="586274"/>
                </a:solidFill>
                <a:latin typeface="Calibri" pitchFamily="34" charset="0"/>
                <a:ea typeface="Calibri" pitchFamily="34" charset="-122"/>
                <a:cs typeface="Calibri" pitchFamily="34" charset="-120"/>
              </a:rPr>
              <a:t>Tier 2 · VLM association</a:t>
            </a:r>
            <a:endParaRPr lang="en-US" sz="950" dirty="0"/>
          </a:p>
        </p:txBody>
      </p:sp>
      <p:sp>
        <p:nvSpPr>
          <p:cNvPr id="115" name="Shape 113"/>
          <p:cNvSpPr/>
          <p:nvPr/>
        </p:nvSpPr>
        <p:spPr>
          <a:xfrm>
            <a:off x="7818120" y="6300216"/>
            <a:ext cx="146304" cy="146304"/>
          </a:xfrm>
          <a:prstGeom prst="rect">
            <a:avLst/>
          </a:prstGeom>
          <a:solidFill>
            <a:srgbClr val="DC2626"/>
          </a:solidFill>
          <a:ln/>
        </p:spPr>
        <p:txBody>
          <a:bodyPr/>
          <a:lstStyle/>
          <a:p>
            <a:endParaRPr lang="en-US"/>
          </a:p>
        </p:txBody>
      </p:sp>
      <p:sp>
        <p:nvSpPr>
          <p:cNvPr id="116" name="Text 114"/>
          <p:cNvSpPr/>
          <p:nvPr/>
        </p:nvSpPr>
        <p:spPr>
          <a:xfrm>
            <a:off x="8019288" y="6236208"/>
            <a:ext cx="2377440" cy="274320"/>
          </a:xfrm>
          <a:prstGeom prst="rect">
            <a:avLst/>
          </a:prstGeom>
          <a:noFill/>
          <a:ln/>
        </p:spPr>
        <p:txBody>
          <a:bodyPr wrap="square" rtlCol="0" anchor="ctr"/>
          <a:lstStyle/>
          <a:p>
            <a:pPr marL="0" indent="0">
              <a:buNone/>
            </a:pPr>
            <a:r>
              <a:rPr lang="en-US" sz="950" dirty="0">
                <a:solidFill>
                  <a:srgbClr val="586274"/>
                </a:solidFill>
                <a:latin typeface="Calibri" pitchFamily="34" charset="0"/>
                <a:ea typeface="Calibri" pitchFamily="34" charset="-122"/>
                <a:cs typeface="Calibri" pitchFamily="34" charset="-120"/>
              </a:rPr>
              <a:t>Tier 3 · end-to-end</a:t>
            </a:r>
            <a:endParaRPr lang="en-US" sz="950" dirty="0"/>
          </a:p>
        </p:txBody>
      </p:sp>
      <p:sp>
        <p:nvSpPr>
          <p:cNvPr id="117" name="Text 115"/>
          <p:cNvSpPr/>
          <p:nvPr/>
        </p:nvSpPr>
        <p:spPr>
          <a:xfrm>
            <a:off x="9646920" y="6236208"/>
            <a:ext cx="1645920" cy="274320"/>
          </a:xfrm>
          <a:prstGeom prst="rect">
            <a:avLst/>
          </a:prstGeom>
          <a:noFill/>
          <a:ln/>
        </p:spPr>
        <p:txBody>
          <a:bodyPr wrap="square" rtlCol="0" anchor="ctr"/>
          <a:lstStyle/>
          <a:p>
            <a:pPr marL="0" indent="0">
              <a:buNone/>
            </a:pPr>
            <a:r>
              <a:rPr lang="en-US" sz="950" i="1" dirty="0">
                <a:solidFill>
                  <a:srgbClr val="959DAB"/>
                </a:solidFill>
                <a:latin typeface="Calibri" pitchFamily="34" charset="0"/>
                <a:ea typeface="Calibri" pitchFamily="34" charset="-122"/>
                <a:cs typeface="Calibri" pitchFamily="34" charset="-120"/>
              </a:rPr>
              <a:t>★ best in tier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10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05 · AXIS 1 — OCR ENGINE</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Which engine reads the labels best?</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72768"/>
            <a:ext cx="5376672" cy="457200"/>
          </a:xfrm>
          <a:prstGeom prst="roundRect">
            <a:avLst>
              <a:gd name="adj" fmla="val 10000"/>
            </a:avLst>
          </a:prstGeom>
          <a:solidFill>
            <a:srgbClr val="FBFBFD"/>
          </a:solidFill>
          <a:ln w="12700">
            <a:solidFill>
              <a:srgbClr val="E0E4EA"/>
            </a:solidFill>
          </a:ln>
        </p:spPr>
        <p:txBody>
          <a:bodyPr wrap="square" lIns="114300" tIns="114300" rIns="114300" bIns="114300" rtlCol="0" anchor="ctr"/>
          <a:lstStyle/>
          <a:p>
            <a:pPr marL="0" indent="0">
              <a:buNone/>
            </a:pPr>
            <a:r>
              <a:rPr lang="en-US" sz="900" dirty="0">
                <a:solidFill>
                  <a:srgbClr val="959DAB"/>
                </a:solidFill>
                <a:latin typeface="Consolas" pitchFamily="34" charset="0"/>
                <a:ea typeface="Consolas" pitchFamily="34" charset="-122"/>
                <a:cs typeface="Consolas" pitchFamily="34" charset="-120"/>
              </a:rPr>
              <a:t>VARIANT A   </a:t>
            </a:r>
            <a:r>
              <a:rPr lang="en-US" sz="1250" b="1" dirty="0">
                <a:solidFill>
                  <a:srgbClr val="161B24"/>
                </a:solidFill>
                <a:latin typeface="Georgia" pitchFamily="34" charset="0"/>
                <a:ea typeface="Georgia" pitchFamily="34" charset="-122"/>
                <a:cs typeface="Georgia" pitchFamily="34" charset="-120"/>
              </a:rPr>
              <a:t>EasyOCR </a:t>
            </a:r>
            <a:r>
              <a:rPr lang="en-US" sz="950" dirty="0">
                <a:solidFill>
                  <a:srgbClr val="586274"/>
                </a:solidFill>
                <a:latin typeface="Consolas" pitchFamily="34" charset="0"/>
                <a:ea typeface="Consolas" pitchFamily="34" charset="-122"/>
                <a:cs typeface="Consolas" pitchFamily="34" charset="-120"/>
              </a:rPr>
              <a:t>— PyTorch, multilingual</a:t>
            </a:r>
            <a:endParaRPr lang="en-US" sz="900" dirty="0"/>
          </a:p>
        </p:txBody>
      </p:sp>
      <p:sp>
        <p:nvSpPr>
          <p:cNvPr id="9" name="Text 7"/>
          <p:cNvSpPr/>
          <p:nvPr/>
        </p:nvSpPr>
        <p:spPr>
          <a:xfrm>
            <a:off x="6245352" y="1572768"/>
            <a:ext cx="5376672" cy="457200"/>
          </a:xfrm>
          <a:prstGeom prst="roundRect">
            <a:avLst>
              <a:gd name="adj" fmla="val 10000"/>
            </a:avLst>
          </a:prstGeom>
          <a:solidFill>
            <a:srgbClr val="FBFBFD"/>
          </a:solidFill>
          <a:ln w="12700">
            <a:solidFill>
              <a:srgbClr val="E0E4EA"/>
            </a:solidFill>
          </a:ln>
        </p:spPr>
        <p:txBody>
          <a:bodyPr wrap="square" lIns="114300" tIns="114300" rIns="114300" bIns="114300" rtlCol="0" anchor="ctr"/>
          <a:lstStyle/>
          <a:p>
            <a:pPr marL="0" indent="0">
              <a:buNone/>
            </a:pPr>
            <a:r>
              <a:rPr lang="en-US" sz="900" dirty="0">
                <a:solidFill>
                  <a:srgbClr val="959DAB"/>
                </a:solidFill>
                <a:latin typeface="Consolas" pitchFamily="34" charset="0"/>
                <a:ea typeface="Consolas" pitchFamily="34" charset="-122"/>
                <a:cs typeface="Consolas" pitchFamily="34" charset="-120"/>
              </a:rPr>
              <a:t>VARIANT B   </a:t>
            </a:r>
            <a:r>
              <a:rPr lang="en-US" sz="1250" b="1" dirty="0">
                <a:solidFill>
                  <a:srgbClr val="161B24"/>
                </a:solidFill>
                <a:latin typeface="Georgia" pitchFamily="34" charset="0"/>
                <a:ea typeface="Georgia" pitchFamily="34" charset="-122"/>
                <a:cs typeface="Georgia" pitchFamily="34" charset="-120"/>
              </a:rPr>
              <a:t>PaddleOCR PP-OCRv5 </a:t>
            </a:r>
            <a:r>
              <a:rPr lang="en-US" sz="950" dirty="0">
                <a:solidFill>
                  <a:srgbClr val="586274"/>
                </a:solidFill>
                <a:latin typeface="Consolas" pitchFamily="34" charset="0"/>
                <a:ea typeface="Consolas" pitchFamily="34" charset="-122"/>
                <a:cs typeface="Consolas" pitchFamily="34" charset="-120"/>
              </a:rPr>
              <a:t>— + corrector v2</a:t>
            </a:r>
            <a:endParaRPr lang="en-US" sz="900" dirty="0"/>
          </a:p>
        </p:txBody>
      </p:sp>
      <p:sp>
        <p:nvSpPr>
          <p:cNvPr id="10" name="Text 8"/>
          <p:cNvSpPr/>
          <p:nvPr/>
        </p:nvSpPr>
        <p:spPr>
          <a:xfrm>
            <a:off x="566928" y="2148840"/>
            <a:ext cx="11055096" cy="411480"/>
          </a:xfrm>
          <a:prstGeom prst="rect">
            <a:avLst/>
          </a:prstGeom>
          <a:noFill/>
          <a:ln/>
        </p:spPr>
        <p:txBody>
          <a:bodyPr wrap="square" rtlCol="0" anchor="t"/>
          <a:lstStyle/>
          <a:p>
            <a:pPr marL="0" indent="0">
              <a:lnSpc>
                <a:spcPct val="110000"/>
              </a:lnSpc>
              <a:buNone/>
            </a:pPr>
            <a:r>
              <a:rPr lang="en-US" sz="1150" dirty="0">
                <a:solidFill>
                  <a:srgbClr val="586274"/>
                </a:solidFill>
                <a:latin typeface="Calibri" pitchFamily="34" charset="0"/>
                <a:ea typeface="Calibri" pitchFamily="34" charset="-122"/>
                <a:cs typeface="Calibri" pitchFamily="34" charset="-120"/>
              </a:rPr>
              <a:t>Downstream held fixed (rule classifier, graph v2 · overlap). Nutrient is F1; quantity / unit / context are accuracy over matched nutrients.</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2651760"/>
          <a:ext cx="11055096" cy="1005840"/>
        </p:xfrm>
        <a:graphic>
          <a:graphicData uri="http://schemas.openxmlformats.org/drawingml/2006/table">
            <a:tbl>
              <a:tblPr/>
              <a:tblGrid>
                <a:gridCol w="3108960">
                  <a:extLst>
                    <a:ext uri="{9D8B030D-6E8A-4147-A177-3AD203B41FA5}">
                      <a16:colId xmlns:a16="http://schemas.microsoft.com/office/drawing/2014/main" val="20000"/>
                    </a:ext>
                  </a:extLst>
                </a:gridCol>
                <a:gridCol w="1591056">
                  <a:extLst>
                    <a:ext uri="{9D8B030D-6E8A-4147-A177-3AD203B41FA5}">
                      <a16:colId xmlns:a16="http://schemas.microsoft.com/office/drawing/2014/main" val="20001"/>
                    </a:ext>
                  </a:extLst>
                </a:gridCol>
                <a:gridCol w="1591056">
                  <a:extLst>
                    <a:ext uri="{9D8B030D-6E8A-4147-A177-3AD203B41FA5}">
                      <a16:colId xmlns:a16="http://schemas.microsoft.com/office/drawing/2014/main" val="20002"/>
                    </a:ext>
                  </a:extLst>
                </a:gridCol>
                <a:gridCol w="1591056">
                  <a:extLst>
                    <a:ext uri="{9D8B030D-6E8A-4147-A177-3AD203B41FA5}">
                      <a16:colId xmlns:a16="http://schemas.microsoft.com/office/drawing/2014/main" val="20003"/>
                    </a:ext>
                  </a:extLst>
                </a:gridCol>
                <a:gridCol w="1591056">
                  <a:extLst>
                    <a:ext uri="{9D8B030D-6E8A-4147-A177-3AD203B41FA5}">
                      <a16:colId xmlns:a16="http://schemas.microsoft.com/office/drawing/2014/main" val="20004"/>
                    </a:ext>
                  </a:extLst>
                </a:gridCol>
                <a:gridCol w="1581912">
                  <a:extLst>
                    <a:ext uri="{9D8B030D-6E8A-4147-A177-3AD203B41FA5}">
                      <a16:colId xmlns:a16="http://schemas.microsoft.com/office/drawing/2014/main" val="20005"/>
                    </a:ext>
                  </a:extLst>
                </a:gridCol>
              </a:tblGrid>
              <a:tr h="0">
                <a:tc>
                  <a:txBody>
                    <a:bodyPr/>
                    <a:lstStyle/>
                    <a:p>
                      <a:pPr marL="0" indent="0" algn="l">
                        <a:buNone/>
                      </a:pPr>
                      <a:r>
                        <a:rPr lang="en-US" sz="1050" b="1" dirty="0">
                          <a:solidFill>
                            <a:srgbClr val="586274"/>
                          </a:solidFill>
                          <a:latin typeface="Georgia" pitchFamily="34" charset="0"/>
                          <a:ea typeface="Georgia" pitchFamily="34" charset="-122"/>
                          <a:cs typeface="Georgia" pitchFamily="34" charset="-120"/>
                        </a:rPr>
                        <a:t>OCR engine</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Nutrient F1</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Quantity acc</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Unit acc</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Context acc</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4F-F1</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EasyOCR  (EXP-01)</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0.6773</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0.4547</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0.5168</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0.6141</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0.1773</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PaddleOCR PP-OCRv5  (E2-A)</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0.7239</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0.7691</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0.8121</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0.8726</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b="1" dirty="0">
                          <a:solidFill>
                            <a:srgbClr val="0F766E"/>
                          </a:solidFill>
                          <a:latin typeface="Consolas" pitchFamily="34" charset="0"/>
                          <a:ea typeface="Consolas" pitchFamily="34" charset="-122"/>
                          <a:cs typeface="Consolas" pitchFamily="34" charset="-120"/>
                        </a:rPr>
                        <a:t>0.4231</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Difference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16A34A"/>
                          </a:solidFill>
                          <a:latin typeface="Consolas" pitchFamily="34" charset="0"/>
                          <a:ea typeface="Consolas" pitchFamily="34" charset="-122"/>
                          <a:cs typeface="Consolas" pitchFamily="34" charset="-120"/>
                        </a:rPr>
                        <a:t>+0.047</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16A34A"/>
                          </a:solidFill>
                          <a:latin typeface="Consolas" pitchFamily="34" charset="0"/>
                          <a:ea typeface="Consolas" pitchFamily="34" charset="-122"/>
                          <a:cs typeface="Consolas" pitchFamily="34" charset="-120"/>
                        </a:rPr>
                        <a:t>+0.314</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16A34A"/>
                          </a:solidFill>
                          <a:latin typeface="Consolas" pitchFamily="34" charset="0"/>
                          <a:ea typeface="Consolas" pitchFamily="34" charset="-122"/>
                          <a:cs typeface="Consolas" pitchFamily="34" charset="-120"/>
                        </a:rPr>
                        <a:t>+0.295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16A34A"/>
                          </a:solidFill>
                          <a:latin typeface="Consolas" pitchFamily="34" charset="0"/>
                          <a:ea typeface="Consolas" pitchFamily="34" charset="-122"/>
                          <a:cs typeface="Consolas" pitchFamily="34" charset="-120"/>
                        </a:rPr>
                        <a:t>+0.259</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16A34A"/>
                          </a:solidFill>
                          <a:latin typeface="Consolas" pitchFamily="34" charset="0"/>
                          <a:ea typeface="Consolas" pitchFamily="34" charset="-122"/>
                          <a:cs typeface="Consolas" pitchFamily="34" charset="-120"/>
                        </a:rPr>
                        <a:t>+0.246</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 name="Text 9"/>
          <p:cNvSpPr/>
          <p:nvPr/>
        </p:nvSpPr>
        <p:spPr>
          <a:xfrm>
            <a:off x="566928" y="4480560"/>
            <a:ext cx="11055096" cy="1143000"/>
          </a:xfrm>
          <a:prstGeom prst="roundRect">
            <a:avLst>
              <a:gd name="adj" fmla="val 4000"/>
            </a:avLst>
          </a:prstGeom>
          <a:solidFill>
            <a:srgbClr val="EAF2F1"/>
          </a:solidFill>
          <a:ln/>
        </p:spPr>
        <p:txBody>
          <a:bodyPr wrap="square" lIns="139700" tIns="139700" rIns="139700" bIns="139700" rtlCol="0" anchor="ctr"/>
          <a:lstStyle/>
          <a:p>
            <a:pPr marL="0" indent="0">
              <a:lnSpc>
                <a:spcPct val="108000"/>
              </a:lnSpc>
              <a:buNone/>
            </a:pPr>
            <a:r>
              <a:rPr lang="en-US" sz="1200" b="1" dirty="0">
                <a:solidFill>
                  <a:srgbClr val="161B24"/>
                </a:solidFill>
                <a:latin typeface="Calibri" pitchFamily="34" charset="0"/>
                <a:ea typeface="Calibri" pitchFamily="34" charset="-122"/>
                <a:cs typeface="Calibri" pitchFamily="34" charset="-120"/>
              </a:rPr>
              <a:t>Answer.  </a:t>
            </a:r>
            <a:r>
              <a:rPr lang="en-US" sz="1200" dirty="0">
                <a:solidFill>
                  <a:srgbClr val="586274"/>
                </a:solidFill>
                <a:latin typeface="Calibri" pitchFamily="34" charset="0"/>
                <a:ea typeface="Calibri" pitchFamily="34" charset="-122"/>
                <a:cs typeface="Calibri" pitchFamily="34" charset="-120"/>
              </a:rPr>
              <a:t>Both engines find names about equally; PaddleOCR wins on reading values (+31 / +30 / +26 pts on quantity / unit / context). Because a tuple needs all four fields, that more than doubles 4F-F1 (0.1773 → 0.4231). PaddleOCR is fixed for every later run.</a:t>
            </a:r>
            <a:endParaRPr lang="en-US" sz="1200" dirty="0"/>
          </a:p>
        </p:txBody>
      </p:sp>
      <p:sp>
        <p:nvSpPr>
          <p:cNvPr id="13" name="Shape 10"/>
          <p:cNvSpPr/>
          <p:nvPr/>
        </p:nvSpPr>
        <p:spPr>
          <a:xfrm>
            <a:off x="566928" y="4480560"/>
            <a:ext cx="64008" cy="1143000"/>
          </a:xfrm>
          <a:prstGeom prst="rect">
            <a:avLst/>
          </a:prstGeom>
          <a:solidFill>
            <a:srgbClr val="0F766E"/>
          </a:solidFill>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11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06 · AXIS 2 — CLASSIFIER · THE VARIANTS</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Three ways to decide “is this a nutrient?”</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609344"/>
            <a:ext cx="11055096" cy="548640"/>
          </a:xfrm>
          <a:prstGeom prst="rect">
            <a:avLst/>
          </a:prstGeom>
          <a:noFill/>
          <a:ln/>
        </p:spPr>
        <p:txBody>
          <a:bodyPr wrap="square" rtlCol="0" anchor="t"/>
          <a:lstStyle/>
          <a:p>
            <a:pPr marL="0" indent="0">
              <a:lnSpc>
                <a:spcPct val="110000"/>
              </a:lnSpc>
              <a:buNone/>
            </a:pPr>
            <a:r>
              <a:rPr lang="en-US" sz="1300" dirty="0">
                <a:solidFill>
                  <a:srgbClr val="586274"/>
                </a:solidFill>
                <a:latin typeface="Calibri" pitchFamily="34" charset="0"/>
                <a:ea typeface="Calibri" pitchFamily="34" charset="-122"/>
                <a:cs typeface="Calibri" pitchFamily="34" charset="-120"/>
              </a:rPr>
              <a:t>All three share the entire deterministic cascade (quantity, unit, context, NRV, noise). They differ </a:t>
            </a:r>
            <a:r>
              <a:rPr lang="en-US" sz="1300" b="1" dirty="0">
                <a:solidFill>
                  <a:srgbClr val="161B24"/>
                </a:solidFill>
                <a:latin typeface="Calibri" pitchFamily="34" charset="0"/>
                <a:ea typeface="Calibri" pitchFamily="34" charset="-122"/>
                <a:cs typeface="Calibri" pitchFamily="34" charset="-120"/>
              </a:rPr>
              <a:t>only</a:t>
            </a:r>
            <a:r>
              <a:rPr lang="en-US" sz="1300" dirty="0">
                <a:solidFill>
                  <a:srgbClr val="586274"/>
                </a:solidFill>
                <a:latin typeface="Calibri" pitchFamily="34" charset="0"/>
                <a:ea typeface="Calibri" pitchFamily="34" charset="-122"/>
                <a:cs typeface="Calibri" pitchFamily="34" charset="-120"/>
              </a:rPr>
              <a:t> on the final nutrient / not-nutrient decision — precision and recall trade off in opposite directions.</a:t>
            </a:r>
            <a:endParaRPr lang="en-US" sz="1300" dirty="0"/>
          </a:p>
        </p:txBody>
      </p:sp>
      <p:sp>
        <p:nvSpPr>
          <p:cNvPr id="9" name="Text 7"/>
          <p:cNvSpPr/>
          <p:nvPr/>
        </p:nvSpPr>
        <p:spPr>
          <a:xfrm>
            <a:off x="566928" y="2331720"/>
            <a:ext cx="3520440" cy="2057400"/>
          </a:xfrm>
          <a:prstGeom prst="roundRect">
            <a:avLst>
              <a:gd name="adj" fmla="val 3111"/>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D97706"/>
                </a:solidFill>
                <a:latin typeface="Consolas" pitchFamily="34" charset="0"/>
                <a:ea typeface="Consolas" pitchFamily="34" charset="-122"/>
                <a:cs typeface="Consolas" pitchFamily="34" charset="-120"/>
              </a:rPr>
              <a:t>CURATED · NOT ZERO-SHOT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Rule-based lexicon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A curated multilingual nutrient dictionary + supporting heuristics (substring, vitamin forms, slash forms). Highest recall (0.725) — but closed-vocabulary.</a:t>
            </a:r>
            <a:endParaRPr lang="en-US" sz="900" dirty="0"/>
          </a:p>
        </p:txBody>
      </p:sp>
      <p:sp>
        <p:nvSpPr>
          <p:cNvPr id="10" name="Text 8"/>
          <p:cNvSpPr/>
          <p:nvPr/>
        </p:nvSpPr>
        <p:spPr>
          <a:xfrm>
            <a:off x="4334256" y="2331720"/>
            <a:ext cx="3520440" cy="2057400"/>
          </a:xfrm>
          <a:prstGeom prst="roundRect">
            <a:avLst>
              <a:gd name="adj" fmla="val 3111"/>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16A34A"/>
                </a:solidFill>
                <a:latin typeface="Consolas" pitchFamily="34" charset="0"/>
                <a:ea typeface="Consolas" pitchFamily="34" charset="-122"/>
                <a:cs typeface="Consolas" pitchFamily="34" charset="-120"/>
              </a:rPr>
              <a:t>ZERO-SHOT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BGE-M3 embedding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Cosine similarity to nutrient prototypes. Accepts by meaning, so highest learned recall (0.698) — but lowest precision (0.658).</a:t>
            </a:r>
            <a:endParaRPr lang="en-US" sz="900" dirty="0"/>
          </a:p>
        </p:txBody>
      </p:sp>
      <p:sp>
        <p:nvSpPr>
          <p:cNvPr id="11" name="Text 9"/>
          <p:cNvSpPr/>
          <p:nvPr/>
        </p:nvSpPr>
        <p:spPr>
          <a:xfrm>
            <a:off x="8101584" y="2331720"/>
            <a:ext cx="3520440" cy="2057400"/>
          </a:xfrm>
          <a:prstGeom prst="roundRect">
            <a:avLst>
              <a:gd name="adj" fmla="val 3111"/>
            </a:avLst>
          </a:prstGeom>
          <a:solidFill>
            <a:srgbClr val="EAF2F1"/>
          </a:solidFill>
          <a:ln w="17780">
            <a:solidFill>
              <a:srgbClr val="0F766E"/>
            </a:solidFill>
          </a:ln>
        </p:spPr>
        <p:txBody>
          <a:bodyPr wrap="square" lIns="114300" tIns="114300" rIns="114300" bIns="114300" rtlCol="0" anchor="t"/>
          <a:lstStyle/>
          <a:p>
            <a:pPr marL="0" indent="0">
              <a:lnSpc>
                <a:spcPct val="104000"/>
              </a:lnSpc>
              <a:buNone/>
            </a:pPr>
            <a:r>
              <a:rPr lang="en-US" sz="900" kern="0" spc="100" dirty="0">
                <a:solidFill>
                  <a:srgbClr val="16A34A"/>
                </a:solidFill>
                <a:latin typeface="Consolas" pitchFamily="34" charset="0"/>
                <a:ea typeface="Consolas" pitchFamily="34" charset="-122"/>
                <a:cs typeface="Consolas" pitchFamily="34" charset="-120"/>
              </a:rPr>
              <a:t>ZERO-SHOT · RECOMMENDED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GLiNER-biomed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Zero-shot span detection on the leftover candidates. Highest precision (0.735), lowest recall — few non-nutrients reach the graph.</a:t>
            </a:r>
            <a:endParaRPr lang="en-US" sz="900" dirty="0"/>
          </a:p>
        </p:txBody>
      </p:sp>
      <p:sp>
        <p:nvSpPr>
          <p:cNvPr id="12" name="Text 10"/>
          <p:cNvSpPr/>
          <p:nvPr/>
        </p:nvSpPr>
        <p:spPr>
          <a:xfrm>
            <a:off x="566928" y="4590288"/>
            <a:ext cx="11055096" cy="566928"/>
          </a:xfrm>
          <a:prstGeom prst="roundRect">
            <a:avLst>
              <a:gd name="adj" fmla="val 8065"/>
            </a:avLst>
          </a:prstGeom>
          <a:solidFill>
            <a:srgbClr val="EAF2F1"/>
          </a:solidFill>
          <a:ln/>
        </p:spPr>
        <p:txBody>
          <a:bodyPr wrap="square" lIns="139700" tIns="139700" rIns="139700" bIns="139700" rtlCol="0" anchor="ctr"/>
          <a:lstStyle/>
          <a:p>
            <a:pPr marL="0" indent="0">
              <a:lnSpc>
                <a:spcPct val="108000"/>
              </a:lnSpc>
              <a:buNone/>
            </a:pPr>
            <a:r>
              <a:rPr lang="en-US" sz="1200" dirty="0">
                <a:solidFill>
                  <a:srgbClr val="586274"/>
                </a:solidFill>
                <a:latin typeface="Calibri" pitchFamily="34" charset="0"/>
                <a:ea typeface="Calibri" pitchFamily="34" charset="-122"/>
                <a:cs typeface="Calibri" pitchFamily="34" charset="-120"/>
              </a:rPr>
              <a:t>The next three slides open up the two </a:t>
            </a:r>
            <a:r>
              <a:rPr lang="en-US" sz="1200" b="1" dirty="0">
                <a:solidFill>
                  <a:srgbClr val="161B24"/>
                </a:solidFill>
                <a:latin typeface="Calibri" pitchFamily="34" charset="0"/>
                <a:ea typeface="Calibri" pitchFamily="34" charset="-122"/>
                <a:cs typeface="Calibri" pitchFamily="34" charset="-120"/>
              </a:rPr>
              <a:t>learned, zero-shot</a:t>
            </a:r>
            <a:r>
              <a:rPr lang="en-US" sz="1200" dirty="0">
                <a:solidFill>
                  <a:srgbClr val="586274"/>
                </a:solidFill>
                <a:latin typeface="Calibri" pitchFamily="34" charset="0"/>
                <a:ea typeface="Calibri" pitchFamily="34" charset="-122"/>
                <a:cs typeface="Calibri" pitchFamily="34" charset="-120"/>
              </a:rPr>
              <a:t> classifiers — how each works, and how their thresholds were chosen.</a:t>
            </a:r>
            <a:endParaRPr lang="en-US" sz="1200" dirty="0"/>
          </a:p>
        </p:txBody>
      </p:sp>
      <p:sp>
        <p:nvSpPr>
          <p:cNvPr id="13" name="Shape 11"/>
          <p:cNvSpPr/>
          <p:nvPr/>
        </p:nvSpPr>
        <p:spPr>
          <a:xfrm>
            <a:off x="566928" y="4590288"/>
            <a:ext cx="64008" cy="566928"/>
          </a:xfrm>
          <a:prstGeom prst="rect">
            <a:avLst/>
          </a:prstGeom>
          <a:solidFill>
            <a:srgbClr val="0F766E"/>
          </a:solidFill>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12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06 · AXIS 2 — EMBEDDING CLASSIFIER</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How the embedding classifier works (BGE-M3)</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72768"/>
            <a:ext cx="6766560" cy="594360"/>
          </a:xfrm>
          <a:prstGeom prst="rect">
            <a:avLst/>
          </a:prstGeom>
          <a:noFill/>
          <a:ln/>
        </p:spPr>
        <p:txBody>
          <a:bodyPr wrap="square" rtlCol="0" anchor="t"/>
          <a:lstStyle/>
          <a:p>
            <a:pPr marL="0" indent="0">
              <a:lnSpc>
                <a:spcPct val="110000"/>
              </a:lnSpc>
              <a:buNone/>
            </a:pPr>
            <a:r>
              <a:rPr lang="en-US" sz="1300" dirty="0">
                <a:solidFill>
                  <a:srgbClr val="586274"/>
                </a:solidFill>
                <a:latin typeface="Calibri" pitchFamily="34" charset="0"/>
                <a:ea typeface="Calibri" pitchFamily="34" charset="-122"/>
                <a:cs typeface="Calibri" pitchFamily="34" charset="-120"/>
              </a:rPr>
              <a:t>Keeps the deterministic cascade unchanged; replaces only the final lexicon decision with a semantic similarity test. Encoder: </a:t>
            </a:r>
            <a:r>
              <a:rPr lang="en-US" sz="1300" b="1" dirty="0">
                <a:solidFill>
                  <a:srgbClr val="161B24"/>
                </a:solidFill>
                <a:latin typeface="Consolas" pitchFamily="34" charset="0"/>
                <a:ea typeface="Consolas" pitchFamily="34" charset="-122"/>
                <a:cs typeface="Consolas" pitchFamily="34" charset="-120"/>
              </a:rPr>
              <a:t>BAAI/bge-m3</a:t>
            </a:r>
            <a:r>
              <a:rPr lang="en-US" sz="1300" dirty="0">
                <a:solidFill>
                  <a:srgbClr val="586274"/>
                </a:solidFill>
                <a:latin typeface="Calibri" pitchFamily="34" charset="0"/>
                <a:ea typeface="Calibri" pitchFamily="34" charset="-122"/>
                <a:cs typeface="Calibri" pitchFamily="34" charset="-120"/>
              </a:rPr>
              <a:t> — XLM-RoBERTa backbone, dense vectors, 100+ languages. No training on the label set.</a:t>
            </a:r>
            <a:endParaRPr lang="en-US" sz="1300" dirty="0"/>
          </a:p>
        </p:txBody>
      </p:sp>
      <p:sp>
        <p:nvSpPr>
          <p:cNvPr id="9" name="Text 7"/>
          <p:cNvSpPr/>
          <p:nvPr/>
        </p:nvSpPr>
        <p:spPr>
          <a:xfrm>
            <a:off x="566928" y="2331720"/>
            <a:ext cx="6766560" cy="2743200"/>
          </a:xfrm>
          <a:prstGeom prst="rect">
            <a:avLst/>
          </a:prstGeom>
          <a:noFill/>
          <a:ln/>
        </p:spPr>
        <p:txBody>
          <a:bodyPr wrap="square" rtlCol="0" anchor="t"/>
          <a:lstStyle/>
          <a:p>
            <a:pPr marL="0" indent="0">
              <a:lnSpc>
                <a:spcPct val="130000"/>
              </a:lnSpc>
              <a:buNone/>
            </a:pPr>
            <a:r>
              <a:rPr lang="en-US" sz="1200" b="1" dirty="0">
                <a:solidFill>
                  <a:srgbClr val="161B24"/>
                </a:solidFill>
                <a:latin typeface="Calibri" pitchFamily="34" charset="0"/>
                <a:ea typeface="Calibri" pitchFamily="34" charset="-122"/>
                <a:cs typeface="Calibri" pitchFamily="34" charset="-120"/>
              </a:rPr>
              <a:t>1  Prototype phrases — </a:t>
            </a:r>
            <a:r>
              <a:rPr lang="en-US" sz="1200" dirty="0">
                <a:solidFill>
                  <a:srgbClr val="586274"/>
                </a:solidFill>
                <a:latin typeface="Calibri" pitchFamily="34" charset="0"/>
                <a:ea typeface="Calibri" pitchFamily="34" charset="-122"/>
                <a:cs typeface="Calibri" pitchFamily="34" charset="-120"/>
              </a:rPr>
              <a:t>a “nutrient” positive category plus non-nutrient negative anchors (125 prototypes, 5 categories).
</a:t>
            </a:r>
            <a:endParaRPr lang="en-US" sz="1200" dirty="0"/>
          </a:p>
          <a:p>
            <a:pPr marL="0" indent="0">
              <a:lnSpc>
                <a:spcPct val="130000"/>
              </a:lnSpc>
              <a:buNone/>
            </a:pPr>
            <a:r>
              <a:rPr lang="en-US" sz="1200" b="1" dirty="0">
                <a:solidFill>
                  <a:srgbClr val="161B24"/>
                </a:solidFill>
                <a:latin typeface="Calibri" pitchFamily="34" charset="0"/>
                <a:ea typeface="Calibri" pitchFamily="34" charset="-122"/>
                <a:cs typeface="Calibri" pitchFamily="34" charset="-120"/>
              </a:rPr>
              <a:t>2  Row-context encoding — </a:t>
            </a:r>
            <a:r>
              <a:rPr lang="en-US" sz="1200" dirty="0">
                <a:solidFill>
                  <a:srgbClr val="586274"/>
                </a:solidFill>
                <a:latin typeface="Calibri" pitchFamily="34" charset="0"/>
                <a:ea typeface="Calibri" pitchFamily="34" charset="-122"/>
                <a:cs typeface="Calibri" pitchFamily="34" charset="-120"/>
              </a:rPr>
              <a:t>each candidate is encoded with nearby row neighbours (e.g. “Fett 12.5 g”), not as an isolated word.
</a:t>
            </a:r>
            <a:endParaRPr lang="en-US" sz="1200" dirty="0"/>
          </a:p>
          <a:p>
            <a:pPr marL="0" indent="0">
              <a:lnSpc>
                <a:spcPct val="130000"/>
              </a:lnSpc>
              <a:buNone/>
            </a:pPr>
            <a:r>
              <a:rPr lang="en-US" sz="1200" b="1" dirty="0">
                <a:solidFill>
                  <a:srgbClr val="161B24"/>
                </a:solidFill>
                <a:latin typeface="Calibri" pitchFamily="34" charset="0"/>
                <a:ea typeface="Calibri" pitchFamily="34" charset="-122"/>
                <a:cs typeface="Calibri" pitchFamily="34" charset="-120"/>
              </a:rPr>
              <a:t>3  Cosine score — </a:t>
            </a:r>
            <a:r>
              <a:rPr lang="en-US" sz="1200" dirty="0">
                <a:solidFill>
                  <a:srgbClr val="586274"/>
                </a:solidFill>
                <a:latin typeface="Calibri" pitchFamily="34" charset="0"/>
                <a:ea typeface="Calibri" pitchFamily="34" charset="-122"/>
                <a:cs typeface="Calibri" pitchFamily="34" charset="-120"/>
              </a:rPr>
              <a:t>compare the candidate to each category’s prototypes; the highest cosine is that category’s score.
</a:t>
            </a:r>
            <a:endParaRPr lang="en-US" sz="1200" dirty="0"/>
          </a:p>
          <a:p>
            <a:pPr marL="0" indent="0">
              <a:lnSpc>
                <a:spcPct val="130000"/>
              </a:lnSpc>
              <a:buNone/>
            </a:pPr>
            <a:r>
              <a:rPr lang="en-US" sz="1200" b="1" dirty="0">
                <a:solidFill>
                  <a:srgbClr val="161B24"/>
                </a:solidFill>
                <a:latin typeface="Calibri" pitchFamily="34" charset="0"/>
                <a:ea typeface="Calibri" pitchFamily="34" charset="-122"/>
                <a:cs typeface="Calibri" pitchFamily="34" charset="-120"/>
              </a:rPr>
              <a:t>4  Accept rule — </a:t>
            </a:r>
            <a:r>
              <a:rPr lang="en-US" sz="1200" dirty="0">
                <a:solidFill>
                  <a:srgbClr val="586274"/>
                </a:solidFill>
                <a:latin typeface="Calibri" pitchFamily="34" charset="0"/>
                <a:ea typeface="Calibri" pitchFamily="34" charset="-122"/>
                <a:cs typeface="Calibri" pitchFamily="34" charset="-120"/>
              </a:rPr>
              <a:t>label nutrient only if nutrient-similarity ≥ threshold AND it beats the best non-nutrient by a margin — else unknown.</a:t>
            </a:r>
            <a:endParaRPr lang="en-US" sz="1200" dirty="0"/>
          </a:p>
        </p:txBody>
      </p:sp>
      <p:sp>
        <p:nvSpPr>
          <p:cNvPr id="10" name="Text 8"/>
          <p:cNvSpPr/>
          <p:nvPr/>
        </p:nvSpPr>
        <p:spPr>
          <a:xfrm>
            <a:off x="7498080" y="2331720"/>
            <a:ext cx="4114800" cy="1828800"/>
          </a:xfrm>
          <a:prstGeom prst="roundRect">
            <a:avLst>
              <a:gd name="adj" fmla="val 3500"/>
            </a:avLst>
          </a:prstGeom>
          <a:solidFill>
            <a:srgbClr val="EAF2F1"/>
          </a:solidFill>
          <a:ln w="17780">
            <a:solidFill>
              <a:srgbClr val="0F766E"/>
            </a:solidFill>
          </a:ln>
        </p:spPr>
        <p:txBody>
          <a:bodyPr wrap="square" lIns="114300" tIns="114300" rIns="114300" bIns="114300" rtlCol="0" anchor="t"/>
          <a:lstStyle/>
          <a:p>
            <a:pPr marL="0" indent="0">
              <a:lnSpc>
                <a:spcPct val="104000"/>
              </a:lnSpc>
              <a:buNone/>
            </a:pPr>
            <a:r>
              <a:rPr lang="en-US" sz="900" kern="0" spc="100" dirty="0">
                <a:solidFill>
                  <a:srgbClr val="0F766E"/>
                </a:solidFill>
                <a:latin typeface="Consolas" pitchFamily="34" charset="0"/>
                <a:ea typeface="Consolas" pitchFamily="34" charset="-122"/>
                <a:cs typeface="Consolas" pitchFamily="34" charset="-120"/>
              </a:rPr>
              <a:t>TWO OPERATING MODES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Embedding-only vs. hybrid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Embedding-only: all candidates decided by the encoder. Hybrid: the lexicon keeps its positive matches, the encoder only recovers the unknowns.</a:t>
            </a:r>
            <a:endParaRPr lang="en-US" sz="900" dirty="0"/>
          </a:p>
        </p:txBody>
      </p:sp>
      <p:sp>
        <p:nvSpPr>
          <p:cNvPr id="11" name="Text 9"/>
          <p:cNvSpPr/>
          <p:nvPr/>
        </p:nvSpPr>
        <p:spPr>
          <a:xfrm>
            <a:off x="7498080" y="4343400"/>
            <a:ext cx="4114800" cy="1417320"/>
          </a:xfrm>
          <a:prstGeom prst="roundRect">
            <a:avLst>
              <a:gd name="adj" fmla="val 4516"/>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0F766E"/>
                </a:solidFill>
                <a:latin typeface="Consolas" pitchFamily="34" charset="0"/>
                <a:ea typeface="Consolas" pitchFamily="34" charset="-122"/>
                <a:cs typeface="Consolas" pitchFamily="34" charset="-120"/>
              </a:rPr>
              <a:t>COST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Runs on CPU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BGE-M3 encodes the candidate tokens locally; no GPU required for the embedding node.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13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06 · AXIS 2 — CLASSIFIER IN ACTION</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The embedding classifier’s token labels</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627632"/>
            <a:ext cx="2743200" cy="1828800"/>
          </a:xfrm>
          <a:prstGeom prst="rect">
            <a:avLst/>
          </a:prstGeom>
          <a:noFill/>
          <a:ln/>
        </p:spPr>
        <p:txBody>
          <a:bodyPr wrap="square" rtlCol="0" anchor="t"/>
          <a:lstStyle/>
          <a:p>
            <a:pPr marL="0" indent="0">
              <a:lnSpc>
                <a:spcPct val="125000"/>
              </a:lnSpc>
              <a:buNone/>
            </a:pPr>
            <a:r>
              <a:rPr lang="en-US" sz="1250" dirty="0">
                <a:solidFill>
                  <a:srgbClr val="586274"/>
                </a:solidFill>
                <a:latin typeface="Calibri" pitchFamily="34" charset="0"/>
                <a:ea typeface="Calibri" pitchFamily="34" charset="-122"/>
                <a:cs typeface="Calibri" pitchFamily="34" charset="-120"/>
              </a:rPr>
              <a:t>BGE-M3 token classification on two real labels. Each detected token is boxed and coloured by its predicted role — the four roles are exactly the four scored tuple fields.</a:t>
            </a:r>
            <a:endParaRPr lang="en-US" sz="1250" dirty="0"/>
          </a:p>
        </p:txBody>
      </p:sp>
      <p:sp>
        <p:nvSpPr>
          <p:cNvPr id="9" name="Text 7"/>
          <p:cNvSpPr/>
          <p:nvPr/>
        </p:nvSpPr>
        <p:spPr>
          <a:xfrm>
            <a:off x="566928" y="3611880"/>
            <a:ext cx="2743200" cy="228600"/>
          </a:xfrm>
          <a:prstGeom prst="rect">
            <a:avLst/>
          </a:prstGeom>
          <a:noFill/>
          <a:ln/>
        </p:spPr>
        <p:txBody>
          <a:bodyPr wrap="square" rtlCol="0" anchor="ctr"/>
          <a:lstStyle/>
          <a:p>
            <a:pPr marL="0" indent="0">
              <a:buNone/>
            </a:pPr>
            <a:r>
              <a:rPr lang="en-US" sz="900" kern="0" spc="100" dirty="0">
                <a:solidFill>
                  <a:srgbClr val="959DAB"/>
                </a:solidFill>
                <a:latin typeface="Consolas" pitchFamily="34" charset="0"/>
                <a:ea typeface="Consolas" pitchFamily="34" charset="-122"/>
                <a:cs typeface="Consolas" pitchFamily="34" charset="-120"/>
              </a:rPr>
              <a:t>PREDICTED ROLE</a:t>
            </a:r>
            <a:endParaRPr lang="en-US" sz="900" dirty="0"/>
          </a:p>
        </p:txBody>
      </p:sp>
      <p:sp>
        <p:nvSpPr>
          <p:cNvPr id="10" name="Shape 8"/>
          <p:cNvSpPr/>
          <p:nvPr/>
        </p:nvSpPr>
        <p:spPr>
          <a:xfrm>
            <a:off x="566928" y="3931920"/>
            <a:ext cx="292608" cy="237744"/>
          </a:xfrm>
          <a:prstGeom prst="roundRect">
            <a:avLst>
              <a:gd name="adj" fmla="val 15385"/>
            </a:avLst>
          </a:prstGeom>
          <a:solidFill>
            <a:srgbClr val="FFFFFF"/>
          </a:solidFill>
          <a:ln w="20320">
            <a:solidFill>
              <a:srgbClr val="2563EB"/>
            </a:solidFill>
            <a:prstDash val="solid"/>
          </a:ln>
        </p:spPr>
        <p:txBody>
          <a:bodyPr/>
          <a:lstStyle/>
          <a:p>
            <a:endParaRPr lang="en-US"/>
          </a:p>
        </p:txBody>
      </p:sp>
      <p:sp>
        <p:nvSpPr>
          <p:cNvPr id="11" name="Text 9"/>
          <p:cNvSpPr/>
          <p:nvPr/>
        </p:nvSpPr>
        <p:spPr>
          <a:xfrm>
            <a:off x="950976" y="3895344"/>
            <a:ext cx="2286000" cy="310896"/>
          </a:xfrm>
          <a:prstGeom prst="rect">
            <a:avLst/>
          </a:prstGeom>
          <a:noFill/>
          <a:ln/>
        </p:spPr>
        <p:txBody>
          <a:bodyPr wrap="square" rtlCol="0" anchor="ctr"/>
          <a:lstStyle/>
          <a:p>
            <a:pPr marL="0" indent="0">
              <a:buNone/>
            </a:pPr>
            <a:r>
              <a:rPr lang="en-US" sz="1150" b="1" dirty="0">
                <a:solidFill>
                  <a:srgbClr val="161B24"/>
                </a:solidFill>
                <a:latin typeface="Calibri" pitchFamily="34" charset="0"/>
                <a:ea typeface="Calibri" pitchFamily="34" charset="-122"/>
                <a:cs typeface="Calibri" pitchFamily="34" charset="-120"/>
              </a:rPr>
              <a:t>nutrient</a:t>
            </a:r>
            <a:endParaRPr lang="en-US" sz="1150" dirty="0"/>
          </a:p>
        </p:txBody>
      </p:sp>
      <p:sp>
        <p:nvSpPr>
          <p:cNvPr id="12" name="Shape 10"/>
          <p:cNvSpPr/>
          <p:nvPr/>
        </p:nvSpPr>
        <p:spPr>
          <a:xfrm>
            <a:off x="566928" y="4315968"/>
            <a:ext cx="292608" cy="237744"/>
          </a:xfrm>
          <a:prstGeom prst="roundRect">
            <a:avLst>
              <a:gd name="adj" fmla="val 15385"/>
            </a:avLst>
          </a:prstGeom>
          <a:solidFill>
            <a:srgbClr val="FFFFFF"/>
          </a:solidFill>
          <a:ln w="20320">
            <a:solidFill>
              <a:srgbClr val="16A34A"/>
            </a:solidFill>
            <a:prstDash val="solid"/>
          </a:ln>
        </p:spPr>
        <p:txBody>
          <a:bodyPr/>
          <a:lstStyle/>
          <a:p>
            <a:endParaRPr lang="en-US"/>
          </a:p>
        </p:txBody>
      </p:sp>
      <p:sp>
        <p:nvSpPr>
          <p:cNvPr id="13" name="Text 11"/>
          <p:cNvSpPr/>
          <p:nvPr/>
        </p:nvSpPr>
        <p:spPr>
          <a:xfrm>
            <a:off x="950976" y="4279392"/>
            <a:ext cx="2286000" cy="310896"/>
          </a:xfrm>
          <a:prstGeom prst="rect">
            <a:avLst/>
          </a:prstGeom>
          <a:noFill/>
          <a:ln/>
        </p:spPr>
        <p:txBody>
          <a:bodyPr wrap="square" rtlCol="0" anchor="ctr"/>
          <a:lstStyle/>
          <a:p>
            <a:pPr marL="0" indent="0">
              <a:buNone/>
            </a:pPr>
            <a:r>
              <a:rPr lang="en-US" sz="1150" b="1" dirty="0">
                <a:solidFill>
                  <a:srgbClr val="161B24"/>
                </a:solidFill>
                <a:latin typeface="Calibri" pitchFamily="34" charset="0"/>
                <a:ea typeface="Calibri" pitchFamily="34" charset="-122"/>
                <a:cs typeface="Calibri" pitchFamily="34" charset="-120"/>
              </a:rPr>
              <a:t>quantity</a:t>
            </a:r>
            <a:endParaRPr lang="en-US" sz="1150" dirty="0"/>
          </a:p>
        </p:txBody>
      </p:sp>
      <p:sp>
        <p:nvSpPr>
          <p:cNvPr id="14" name="Shape 12"/>
          <p:cNvSpPr/>
          <p:nvPr/>
        </p:nvSpPr>
        <p:spPr>
          <a:xfrm>
            <a:off x="566928" y="4700016"/>
            <a:ext cx="292608" cy="237744"/>
          </a:xfrm>
          <a:prstGeom prst="roundRect">
            <a:avLst>
              <a:gd name="adj" fmla="val 15385"/>
            </a:avLst>
          </a:prstGeom>
          <a:solidFill>
            <a:srgbClr val="FFFFFF"/>
          </a:solidFill>
          <a:ln w="20320">
            <a:solidFill>
              <a:srgbClr val="EA580C"/>
            </a:solidFill>
            <a:prstDash val="solid"/>
          </a:ln>
        </p:spPr>
        <p:txBody>
          <a:bodyPr/>
          <a:lstStyle/>
          <a:p>
            <a:endParaRPr lang="en-US"/>
          </a:p>
        </p:txBody>
      </p:sp>
      <p:sp>
        <p:nvSpPr>
          <p:cNvPr id="15" name="Text 13"/>
          <p:cNvSpPr/>
          <p:nvPr/>
        </p:nvSpPr>
        <p:spPr>
          <a:xfrm>
            <a:off x="950976" y="4663440"/>
            <a:ext cx="2286000" cy="310896"/>
          </a:xfrm>
          <a:prstGeom prst="rect">
            <a:avLst/>
          </a:prstGeom>
          <a:noFill/>
          <a:ln/>
        </p:spPr>
        <p:txBody>
          <a:bodyPr wrap="square" rtlCol="0" anchor="ctr"/>
          <a:lstStyle/>
          <a:p>
            <a:pPr marL="0" indent="0">
              <a:buNone/>
            </a:pPr>
            <a:r>
              <a:rPr lang="en-US" sz="1150" b="1" dirty="0">
                <a:solidFill>
                  <a:srgbClr val="161B24"/>
                </a:solidFill>
                <a:latin typeface="Calibri" pitchFamily="34" charset="0"/>
                <a:ea typeface="Calibri" pitchFamily="34" charset="-122"/>
                <a:cs typeface="Calibri" pitchFamily="34" charset="-120"/>
              </a:rPr>
              <a:t>unit</a:t>
            </a:r>
            <a:endParaRPr lang="en-US" sz="1150" dirty="0"/>
          </a:p>
        </p:txBody>
      </p:sp>
      <p:sp>
        <p:nvSpPr>
          <p:cNvPr id="16" name="Shape 14"/>
          <p:cNvSpPr/>
          <p:nvPr/>
        </p:nvSpPr>
        <p:spPr>
          <a:xfrm>
            <a:off x="566928" y="5084064"/>
            <a:ext cx="292608" cy="237744"/>
          </a:xfrm>
          <a:prstGeom prst="roundRect">
            <a:avLst>
              <a:gd name="adj" fmla="val 15385"/>
            </a:avLst>
          </a:prstGeom>
          <a:solidFill>
            <a:srgbClr val="FFFFFF"/>
          </a:solidFill>
          <a:ln w="20320">
            <a:solidFill>
              <a:srgbClr val="9333EA"/>
            </a:solidFill>
            <a:prstDash val="solid"/>
          </a:ln>
        </p:spPr>
        <p:txBody>
          <a:bodyPr/>
          <a:lstStyle/>
          <a:p>
            <a:endParaRPr lang="en-US"/>
          </a:p>
        </p:txBody>
      </p:sp>
      <p:sp>
        <p:nvSpPr>
          <p:cNvPr id="17" name="Text 15"/>
          <p:cNvSpPr/>
          <p:nvPr/>
        </p:nvSpPr>
        <p:spPr>
          <a:xfrm>
            <a:off x="950976" y="5047488"/>
            <a:ext cx="2286000" cy="310896"/>
          </a:xfrm>
          <a:prstGeom prst="rect">
            <a:avLst/>
          </a:prstGeom>
          <a:noFill/>
          <a:ln/>
        </p:spPr>
        <p:txBody>
          <a:bodyPr wrap="square" rtlCol="0" anchor="ctr"/>
          <a:lstStyle/>
          <a:p>
            <a:pPr marL="0" indent="0">
              <a:buNone/>
            </a:pPr>
            <a:r>
              <a:rPr lang="en-US" sz="1150" b="1" dirty="0">
                <a:solidFill>
                  <a:srgbClr val="161B24"/>
                </a:solidFill>
                <a:latin typeface="Calibri" pitchFamily="34" charset="0"/>
                <a:ea typeface="Calibri" pitchFamily="34" charset="-122"/>
                <a:cs typeface="Calibri" pitchFamily="34" charset="-120"/>
              </a:rPr>
              <a:t>context</a:t>
            </a:r>
            <a:endParaRPr lang="en-US" sz="1150" dirty="0"/>
          </a:p>
        </p:txBody>
      </p:sp>
      <p:sp>
        <p:nvSpPr>
          <p:cNvPr id="18" name="Text 16"/>
          <p:cNvSpPr/>
          <p:nvPr/>
        </p:nvSpPr>
        <p:spPr>
          <a:xfrm>
            <a:off x="566928" y="5532120"/>
            <a:ext cx="2743200" cy="822960"/>
          </a:xfrm>
          <a:prstGeom prst="rect">
            <a:avLst/>
          </a:prstGeom>
          <a:noFill/>
          <a:ln/>
        </p:spPr>
        <p:txBody>
          <a:bodyPr wrap="square" rtlCol="0" anchor="t"/>
          <a:lstStyle/>
          <a:p>
            <a:pPr marL="0" indent="0">
              <a:lnSpc>
                <a:spcPct val="120000"/>
              </a:lnSpc>
              <a:buNone/>
            </a:pPr>
            <a:r>
              <a:rPr lang="en-US" sz="1000" i="1" dirty="0">
                <a:solidFill>
                  <a:srgbClr val="959DAB"/>
                </a:solidFill>
                <a:latin typeface="Calibri" pitchFamily="34" charset="0"/>
                <a:ea typeface="Calibri" pitchFamily="34" charset="-122"/>
                <a:cs typeface="Calibri" pitchFamily="34" charset="-120"/>
              </a:rPr>
              <a:t>Quantity, unit and context are resolved by the shared cascade; only nutrient is the classifier’s call.</a:t>
            </a:r>
            <a:endParaRPr lang="en-US" sz="1000" dirty="0"/>
          </a:p>
        </p:txBody>
      </p:sp>
      <p:sp>
        <p:nvSpPr>
          <p:cNvPr id="19" name="Shape 17"/>
          <p:cNvSpPr/>
          <p:nvPr/>
        </p:nvSpPr>
        <p:spPr>
          <a:xfrm>
            <a:off x="3611880" y="1691640"/>
            <a:ext cx="2834640" cy="4069080"/>
          </a:xfrm>
          <a:prstGeom prst="roundRect">
            <a:avLst>
              <a:gd name="adj" fmla="val 1290"/>
            </a:avLst>
          </a:prstGeom>
          <a:solidFill>
            <a:srgbClr val="F7F8FA"/>
          </a:solidFill>
          <a:ln w="12700">
            <a:solidFill>
              <a:srgbClr val="E0E4EA"/>
            </a:solidFill>
            <a:prstDash val="solid"/>
          </a:ln>
        </p:spPr>
        <p:txBody>
          <a:bodyPr/>
          <a:lstStyle/>
          <a:p>
            <a:endParaRPr lang="en-US"/>
          </a:p>
        </p:txBody>
      </p:sp>
      <p:pic>
        <p:nvPicPr>
          <p:cNvPr id="20" name="Image 0" descr="preencoded.png"/>
          <p:cNvPicPr>
            <a:picLocks noChangeAspect="1"/>
          </p:cNvPicPr>
          <p:nvPr/>
        </p:nvPicPr>
        <p:blipFill>
          <a:blip r:embed="rId2"/>
          <a:srcRect/>
          <a:stretch/>
        </p:blipFill>
        <p:spPr>
          <a:xfrm>
            <a:off x="3703320" y="1783080"/>
            <a:ext cx="2651760" cy="3886200"/>
          </a:xfrm>
          <a:prstGeom prst="rect">
            <a:avLst/>
          </a:prstGeom>
        </p:spPr>
      </p:pic>
      <p:sp>
        <p:nvSpPr>
          <p:cNvPr id="21" name="Text 18"/>
          <p:cNvSpPr/>
          <p:nvPr/>
        </p:nvSpPr>
        <p:spPr>
          <a:xfrm>
            <a:off x="3611880" y="5806440"/>
            <a:ext cx="2834640" cy="274320"/>
          </a:xfrm>
          <a:prstGeom prst="rect">
            <a:avLst/>
          </a:prstGeom>
          <a:noFill/>
          <a:ln/>
        </p:spPr>
        <p:txBody>
          <a:bodyPr wrap="square" rtlCol="0" anchor="ctr"/>
          <a:lstStyle/>
          <a:p>
            <a:pPr marL="0" indent="0" algn="ctr">
              <a:buNone/>
            </a:pPr>
            <a:r>
              <a:rPr lang="en-US" sz="900" dirty="0">
                <a:solidFill>
                  <a:srgbClr val="586274"/>
                </a:solidFill>
                <a:latin typeface="Consolas" pitchFamily="34" charset="0"/>
                <a:ea typeface="Consolas" pitchFamily="34" charset="-122"/>
                <a:cs typeface="Consolas" pitchFamily="34" charset="-120"/>
              </a:rPr>
              <a:t>(a) dense supplement panel · 120.jpeg</a:t>
            </a:r>
            <a:endParaRPr lang="en-US" sz="900" dirty="0"/>
          </a:p>
        </p:txBody>
      </p:sp>
      <p:sp>
        <p:nvSpPr>
          <p:cNvPr id="22" name="Shape 19"/>
          <p:cNvSpPr/>
          <p:nvPr/>
        </p:nvSpPr>
        <p:spPr>
          <a:xfrm>
            <a:off x="6629400" y="1691640"/>
            <a:ext cx="4983480" cy="4069080"/>
          </a:xfrm>
          <a:prstGeom prst="roundRect">
            <a:avLst>
              <a:gd name="adj" fmla="val 899"/>
            </a:avLst>
          </a:prstGeom>
          <a:solidFill>
            <a:srgbClr val="F7F8FA"/>
          </a:solidFill>
          <a:ln w="12700">
            <a:solidFill>
              <a:srgbClr val="E0E4EA"/>
            </a:solidFill>
            <a:prstDash val="solid"/>
          </a:ln>
        </p:spPr>
        <p:txBody>
          <a:bodyPr/>
          <a:lstStyle/>
          <a:p>
            <a:endParaRPr lang="en-US"/>
          </a:p>
        </p:txBody>
      </p:sp>
      <p:pic>
        <p:nvPicPr>
          <p:cNvPr id="23" name="Image 1" descr="preencoded.png"/>
          <p:cNvPicPr>
            <a:picLocks noChangeAspect="1"/>
          </p:cNvPicPr>
          <p:nvPr/>
        </p:nvPicPr>
        <p:blipFill>
          <a:blip r:embed="rId3"/>
          <a:srcRect/>
          <a:stretch/>
        </p:blipFill>
        <p:spPr>
          <a:xfrm>
            <a:off x="6720840" y="1783080"/>
            <a:ext cx="4800600" cy="3886200"/>
          </a:xfrm>
          <a:prstGeom prst="rect">
            <a:avLst/>
          </a:prstGeom>
        </p:spPr>
      </p:pic>
      <p:sp>
        <p:nvSpPr>
          <p:cNvPr id="24" name="Text 20"/>
          <p:cNvSpPr/>
          <p:nvPr/>
        </p:nvSpPr>
        <p:spPr>
          <a:xfrm>
            <a:off x="6629400" y="5806440"/>
            <a:ext cx="4983480" cy="274320"/>
          </a:xfrm>
          <a:prstGeom prst="rect">
            <a:avLst/>
          </a:prstGeom>
          <a:noFill/>
          <a:ln/>
        </p:spPr>
        <p:txBody>
          <a:bodyPr wrap="square" rtlCol="0" anchor="ctr"/>
          <a:lstStyle/>
          <a:p>
            <a:pPr marL="0" indent="0" algn="ctr">
              <a:buNone/>
            </a:pPr>
            <a:r>
              <a:rPr lang="en-US" sz="900" dirty="0">
                <a:solidFill>
                  <a:srgbClr val="586274"/>
                </a:solidFill>
                <a:latin typeface="Consolas" pitchFamily="34" charset="0"/>
                <a:ea typeface="Consolas" pitchFamily="34" charset="-122"/>
                <a:cs typeface="Consolas" pitchFamily="34" charset="-120"/>
              </a:rPr>
              <a:t>(b) standard nutrition table · 103.jpeg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14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06 · AXIS 2 — GLINER CLASSIFIER</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How GLiNER-biomed works — and why this model</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72768"/>
            <a:ext cx="6766560" cy="594360"/>
          </a:xfrm>
          <a:prstGeom prst="rect">
            <a:avLst/>
          </a:prstGeom>
          <a:noFill/>
          <a:ln/>
        </p:spPr>
        <p:txBody>
          <a:bodyPr wrap="square" rtlCol="0" anchor="t"/>
          <a:lstStyle/>
          <a:p>
            <a:pPr marL="0" indent="0">
              <a:lnSpc>
                <a:spcPct val="110000"/>
              </a:lnSpc>
              <a:buNone/>
            </a:pPr>
            <a:r>
              <a:rPr lang="en-US" sz="1300" dirty="0">
                <a:solidFill>
                  <a:srgbClr val="586274"/>
                </a:solidFill>
                <a:latin typeface="Calibri" pitchFamily="34" charset="0"/>
                <a:ea typeface="Calibri" pitchFamily="34" charset="-122"/>
                <a:cs typeface="Calibri" pitchFamily="34" charset="-120"/>
              </a:rPr>
              <a:t>Third variant: </a:t>
            </a:r>
            <a:r>
              <a:rPr lang="en-US" sz="1300" b="1" dirty="0">
                <a:solidFill>
                  <a:srgbClr val="161B24"/>
                </a:solidFill>
                <a:latin typeface="Consolas" pitchFamily="34" charset="0"/>
                <a:ea typeface="Consolas" pitchFamily="34" charset="-122"/>
                <a:cs typeface="Consolas" pitchFamily="34" charset="-120"/>
              </a:rPr>
              <a:t>Ihor/gliner-biomed-bi-large-v1</a:t>
            </a:r>
            <a:r>
              <a:rPr lang="en-US" sz="1300" dirty="0">
                <a:solidFill>
                  <a:srgbClr val="586274"/>
                </a:solidFill>
                <a:latin typeface="Calibri" pitchFamily="34" charset="0"/>
                <a:ea typeface="Calibri" pitchFamily="34" charset="-122"/>
                <a:cs typeface="Calibri" pitchFamily="34" charset="-120"/>
              </a:rPr>
              <a:t>, used as a zero-shot named-entity recogniser — it takes an entity description at inference time and finds matching spans, with no training on the supplement-label set.</a:t>
            </a:r>
            <a:endParaRPr lang="en-US" sz="1300" dirty="0"/>
          </a:p>
        </p:txBody>
      </p:sp>
      <p:sp>
        <p:nvSpPr>
          <p:cNvPr id="9" name="Text 7"/>
          <p:cNvSpPr/>
          <p:nvPr/>
        </p:nvSpPr>
        <p:spPr>
          <a:xfrm>
            <a:off x="566928" y="2331720"/>
            <a:ext cx="6766560" cy="2286000"/>
          </a:xfrm>
          <a:prstGeom prst="rect">
            <a:avLst/>
          </a:prstGeom>
          <a:noFill/>
          <a:ln/>
        </p:spPr>
        <p:txBody>
          <a:bodyPr wrap="square" rtlCol="0" anchor="t"/>
          <a:lstStyle/>
          <a:p>
            <a:pPr marL="0" indent="0">
              <a:lnSpc>
                <a:spcPct val="130000"/>
              </a:lnSpc>
              <a:buNone/>
            </a:pPr>
            <a:r>
              <a:rPr lang="en-US" sz="1200" b="1" dirty="0">
                <a:solidFill>
                  <a:srgbClr val="161B24"/>
                </a:solidFill>
                <a:latin typeface="Calibri" pitchFamily="34" charset="0"/>
                <a:ea typeface="Calibri" pitchFamily="34" charset="-122"/>
                <a:cs typeface="Calibri" pitchFamily="34" charset="-120"/>
              </a:rPr>
              <a:t>1  Entity description — </a:t>
            </a:r>
            <a:r>
              <a:rPr lang="en-US" sz="1200" dirty="0">
                <a:solidFill>
                  <a:srgbClr val="586274"/>
                </a:solidFill>
                <a:latin typeface="Calibri" pitchFamily="34" charset="0"/>
                <a:ea typeface="Calibri" pitchFamily="34" charset="-122"/>
                <a:cs typeface="Calibri" pitchFamily="34" charset="-120"/>
              </a:rPr>
              <a:t>remaining candidates are passed to GLiNER with one label: “nutritional ingredient or vitamin or mineral”.
</a:t>
            </a:r>
            <a:endParaRPr lang="en-US" sz="1200" dirty="0"/>
          </a:p>
          <a:p>
            <a:pPr marL="0" indent="0">
              <a:lnSpc>
                <a:spcPct val="130000"/>
              </a:lnSpc>
              <a:buNone/>
            </a:pPr>
            <a:r>
              <a:rPr lang="en-US" sz="1200" b="1" dirty="0">
                <a:solidFill>
                  <a:srgbClr val="161B24"/>
                </a:solidFill>
                <a:latin typeface="Calibri" pitchFamily="34" charset="0"/>
                <a:ea typeface="Calibri" pitchFamily="34" charset="-122"/>
                <a:cs typeface="Calibri" pitchFamily="34" charset="-120"/>
              </a:rPr>
              <a:t>2  Span detection — </a:t>
            </a:r>
            <a:r>
              <a:rPr lang="en-US" sz="1200" dirty="0">
                <a:solidFill>
                  <a:srgbClr val="586274"/>
                </a:solidFill>
                <a:latin typeface="Calibri" pitchFamily="34" charset="0"/>
                <a:ea typeface="Calibri" pitchFamily="34" charset="-122"/>
                <a:cs typeface="Calibri" pitchFamily="34" charset="-120"/>
              </a:rPr>
              <a:t>if a candidate is covered by an accepted span for that label → role nutrient; otherwise unknown.
</a:t>
            </a:r>
            <a:endParaRPr lang="en-US" sz="1200" dirty="0"/>
          </a:p>
          <a:p>
            <a:pPr marL="0" indent="0">
              <a:lnSpc>
                <a:spcPct val="130000"/>
              </a:lnSpc>
              <a:buNone/>
            </a:pPr>
            <a:r>
              <a:rPr lang="en-US" sz="1200" b="1" dirty="0">
                <a:solidFill>
                  <a:srgbClr val="161B24"/>
                </a:solidFill>
                <a:latin typeface="Calibri" pitchFamily="34" charset="0"/>
                <a:ea typeface="Calibri" pitchFamily="34" charset="-122"/>
                <a:cs typeface="Calibri" pitchFamily="34" charset="-120"/>
              </a:rPr>
              <a:t>3  One threshold — </a:t>
            </a:r>
            <a:r>
              <a:rPr lang="en-US" sz="1200" dirty="0">
                <a:solidFill>
                  <a:srgbClr val="586274"/>
                </a:solidFill>
                <a:latin typeface="Calibri" pitchFamily="34" charset="0"/>
                <a:ea typeface="Calibri" pitchFamily="34" charset="-122"/>
                <a:cs typeface="Calibri" pitchFamily="34" charset="-120"/>
              </a:rPr>
              <a:t>only a span-acceptance threshold — no margin against negatives (unlike the embedding node).</a:t>
            </a:r>
            <a:endParaRPr lang="en-US" sz="1200" dirty="0"/>
          </a:p>
        </p:txBody>
      </p:sp>
      <p:sp>
        <p:nvSpPr>
          <p:cNvPr id="10" name="Text 8"/>
          <p:cNvSpPr/>
          <p:nvPr/>
        </p:nvSpPr>
        <p:spPr>
          <a:xfrm>
            <a:off x="7498080" y="2331720"/>
            <a:ext cx="4114800" cy="2697480"/>
          </a:xfrm>
          <a:prstGeom prst="roundRect">
            <a:avLst>
              <a:gd name="adj" fmla="val 1867"/>
            </a:avLst>
          </a:prstGeom>
          <a:solidFill>
            <a:srgbClr val="EAF2F1"/>
          </a:solidFill>
          <a:ln w="17780">
            <a:solidFill>
              <a:srgbClr val="0F766E"/>
            </a:solidFill>
          </a:ln>
        </p:spPr>
        <p:txBody>
          <a:bodyPr wrap="square" lIns="114300" tIns="114300" rIns="114300" bIns="114300" rtlCol="0" anchor="t"/>
          <a:lstStyle/>
          <a:p>
            <a:pPr marL="0" indent="0">
              <a:lnSpc>
                <a:spcPct val="104000"/>
              </a:lnSpc>
              <a:buNone/>
            </a:pPr>
            <a:r>
              <a:rPr lang="en-US" sz="900" kern="0" spc="100" dirty="0">
                <a:solidFill>
                  <a:srgbClr val="0F766E"/>
                </a:solidFill>
                <a:latin typeface="Consolas" pitchFamily="34" charset="0"/>
                <a:ea typeface="Consolas" pitchFamily="34" charset="-122"/>
                <a:cs typeface="Consolas" pitchFamily="34" charset="-120"/>
              </a:rPr>
              <a:t>WHY THIS MODEL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Why GLiNER-biomed bi-large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 Biomedical domain matches nutrient / vitamin / mineral entities.</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 bi-large gave stronger zero-shot recall and more stable behaviour on German OCR text than smaller variants.</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 Needs no curated lexicon — supports the thesis’s generalisation argument.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15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06 · AXIS 2 — THRESHOLD &amp; MARGIN CALIBRATION</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How the thresholds and margins were selected</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17904"/>
            <a:ext cx="11055096" cy="411480"/>
          </a:xfrm>
          <a:prstGeom prst="rect">
            <a:avLst/>
          </a:prstGeom>
          <a:noFill/>
          <a:ln/>
        </p:spPr>
        <p:txBody>
          <a:bodyPr wrap="square" rtlCol="0" anchor="t"/>
          <a:lstStyle/>
          <a:p>
            <a:pPr marL="0" indent="0">
              <a:lnSpc>
                <a:spcPct val="110000"/>
              </a:lnSpc>
              <a:buNone/>
            </a:pPr>
            <a:r>
              <a:rPr lang="en-US" sz="1150" dirty="0">
                <a:solidFill>
                  <a:srgbClr val="586274"/>
                </a:solidFill>
                <a:latin typeface="Calibri" pitchFamily="34" charset="0"/>
                <a:ea typeface="Calibri" pitchFamily="34" charset="-122"/>
                <a:cs typeface="Calibri" pitchFamily="34" charset="-120"/>
              </a:rPr>
              <a:t>Each learned classifier runs at a fixed operating point chosen by a token-level grid search against manual token labels — the only place either consults labelled data.</a:t>
            </a:r>
            <a:endParaRPr lang="en-US" sz="1150" dirty="0"/>
          </a:p>
        </p:txBody>
      </p:sp>
      <p:sp>
        <p:nvSpPr>
          <p:cNvPr id="9" name="Text 7"/>
          <p:cNvSpPr/>
          <p:nvPr/>
        </p:nvSpPr>
        <p:spPr>
          <a:xfrm>
            <a:off x="566928" y="2011680"/>
            <a:ext cx="5376672" cy="1371600"/>
          </a:xfrm>
          <a:prstGeom prst="roundRect">
            <a:avLst>
              <a:gd name="adj" fmla="val 4667"/>
            </a:avLst>
          </a:prstGeom>
          <a:solidFill>
            <a:srgbClr val="EAF2F1"/>
          </a:solidFill>
          <a:ln w="17780">
            <a:solidFill>
              <a:srgbClr val="0F766E"/>
            </a:solidFill>
          </a:ln>
        </p:spPr>
        <p:txBody>
          <a:bodyPr wrap="square" lIns="114300" tIns="114300" rIns="114300" bIns="114300" rtlCol="0" anchor="t"/>
          <a:lstStyle/>
          <a:p>
            <a:pPr marL="0" indent="0">
              <a:lnSpc>
                <a:spcPct val="104000"/>
              </a:lnSpc>
              <a:buNone/>
            </a:pPr>
            <a:r>
              <a:rPr lang="en-US" sz="900" kern="0" spc="100" dirty="0">
                <a:solidFill>
                  <a:srgbClr val="0F766E"/>
                </a:solidFill>
                <a:latin typeface="Consolas" pitchFamily="34" charset="0"/>
                <a:ea typeface="Consolas" pitchFamily="34" charset="-122"/>
                <a:cs typeface="Consolas" pitchFamily="34" charset="-120"/>
              </a:rPr>
              <a:t>BGE-M3 EMBEDDING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Threshold 0.59 · margin 0.04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796 candidate decisions (462 nutrient / 334 non). Small margins (0.01–0.07) work best; token-level F1 ≈ 0.87.</a:t>
            </a:r>
            <a:endParaRPr lang="en-US" sz="900" dirty="0"/>
          </a:p>
        </p:txBody>
      </p:sp>
      <p:sp>
        <p:nvSpPr>
          <p:cNvPr id="10" name="Text 8"/>
          <p:cNvSpPr/>
          <p:nvPr/>
        </p:nvSpPr>
        <p:spPr>
          <a:xfrm>
            <a:off x="6245352" y="2011680"/>
            <a:ext cx="5376672" cy="1371600"/>
          </a:xfrm>
          <a:prstGeom prst="roundRect">
            <a:avLst>
              <a:gd name="adj" fmla="val 4667"/>
            </a:avLst>
          </a:prstGeom>
          <a:solidFill>
            <a:srgbClr val="EAF2F1"/>
          </a:solidFill>
          <a:ln w="17780">
            <a:solidFill>
              <a:srgbClr val="0F766E"/>
            </a:solidFill>
          </a:ln>
        </p:spPr>
        <p:txBody>
          <a:bodyPr wrap="square" lIns="114300" tIns="114300" rIns="114300" bIns="114300" rtlCol="0" anchor="t"/>
          <a:lstStyle/>
          <a:p>
            <a:pPr marL="0" indent="0">
              <a:lnSpc>
                <a:spcPct val="104000"/>
              </a:lnSpc>
              <a:buNone/>
            </a:pPr>
            <a:r>
              <a:rPr lang="en-US" sz="900" kern="0" spc="100" dirty="0">
                <a:solidFill>
                  <a:srgbClr val="0F766E"/>
                </a:solidFill>
                <a:latin typeface="Consolas" pitchFamily="34" charset="0"/>
                <a:ea typeface="Consolas" pitchFamily="34" charset="-122"/>
                <a:cs typeface="Consolas" pitchFamily="34" charset="-120"/>
              </a:rPr>
              <a:t>GLINER-BIOMED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Span threshold τ = 0.18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803 candidates (438 / 365). Token F1 ≈ 0.89 (P 0.91, R 0.87). Kept low — the graph can still reject wrong links.</a:t>
            </a:r>
            <a:endParaRPr lang="en-US" sz="900" dirty="0"/>
          </a:p>
        </p:txBody>
      </p:sp>
      <p:sp>
        <p:nvSpPr>
          <p:cNvPr id="11" name="Shape 9"/>
          <p:cNvSpPr/>
          <p:nvPr/>
        </p:nvSpPr>
        <p:spPr>
          <a:xfrm>
            <a:off x="566928" y="3520440"/>
            <a:ext cx="5376672" cy="2697480"/>
          </a:xfrm>
          <a:prstGeom prst="roundRect">
            <a:avLst>
              <a:gd name="adj" fmla="val 1356"/>
            </a:avLst>
          </a:prstGeom>
          <a:solidFill>
            <a:srgbClr val="FFFFFF"/>
          </a:solidFill>
          <a:ln w="12700">
            <a:solidFill>
              <a:srgbClr val="E0E4EA"/>
            </a:solidFill>
            <a:prstDash val="solid"/>
          </a:ln>
        </p:spPr>
        <p:txBody>
          <a:bodyPr/>
          <a:lstStyle/>
          <a:p>
            <a:endParaRPr lang="en-US"/>
          </a:p>
        </p:txBody>
      </p:sp>
      <p:pic>
        <p:nvPicPr>
          <p:cNvPr id="12" name="Image 0" descr="preencoded.png"/>
          <p:cNvPicPr>
            <a:picLocks noChangeAspect="1"/>
          </p:cNvPicPr>
          <p:nvPr/>
        </p:nvPicPr>
        <p:blipFill>
          <a:blip r:embed="rId3"/>
          <a:srcRect/>
          <a:stretch/>
        </p:blipFill>
        <p:spPr>
          <a:xfrm>
            <a:off x="640080" y="3593592"/>
            <a:ext cx="5230368" cy="2551176"/>
          </a:xfrm>
          <a:prstGeom prst="rect">
            <a:avLst/>
          </a:prstGeom>
        </p:spPr>
      </p:pic>
      <p:sp>
        <p:nvSpPr>
          <p:cNvPr id="13" name="Shape 10"/>
          <p:cNvSpPr/>
          <p:nvPr/>
        </p:nvSpPr>
        <p:spPr>
          <a:xfrm>
            <a:off x="6245352" y="3520440"/>
            <a:ext cx="5376672" cy="2697480"/>
          </a:xfrm>
          <a:prstGeom prst="roundRect">
            <a:avLst>
              <a:gd name="adj" fmla="val 1356"/>
            </a:avLst>
          </a:prstGeom>
          <a:solidFill>
            <a:srgbClr val="FFFFFF"/>
          </a:solidFill>
          <a:ln w="12700">
            <a:solidFill>
              <a:srgbClr val="E0E4EA"/>
            </a:solidFill>
            <a:prstDash val="solid"/>
          </a:ln>
        </p:spPr>
        <p:txBody>
          <a:bodyPr/>
          <a:lstStyle/>
          <a:p>
            <a:endParaRPr lang="en-US"/>
          </a:p>
        </p:txBody>
      </p:sp>
      <p:pic>
        <p:nvPicPr>
          <p:cNvPr id="14" name="Image 1" descr="preencoded.png"/>
          <p:cNvPicPr>
            <a:picLocks noChangeAspect="1"/>
          </p:cNvPicPr>
          <p:nvPr/>
        </p:nvPicPr>
        <p:blipFill>
          <a:blip r:embed="rId4"/>
          <a:srcRect/>
          <a:stretch/>
        </p:blipFill>
        <p:spPr>
          <a:xfrm>
            <a:off x="6318504" y="3593592"/>
            <a:ext cx="5230368" cy="2551176"/>
          </a:xfrm>
          <a:prstGeom prst="rect">
            <a:avLst/>
          </a:prstGeom>
        </p:spPr>
      </p:pic>
      <p:sp>
        <p:nvSpPr>
          <p:cNvPr id="15" name="Text 11"/>
          <p:cNvSpPr/>
          <p:nvPr/>
        </p:nvSpPr>
        <p:spPr>
          <a:xfrm>
            <a:off x="566928" y="6236208"/>
            <a:ext cx="5376672" cy="182880"/>
          </a:xfrm>
          <a:prstGeom prst="rect">
            <a:avLst/>
          </a:prstGeom>
          <a:noFill/>
          <a:ln/>
        </p:spPr>
        <p:txBody>
          <a:bodyPr wrap="square" rtlCol="0" anchor="ctr"/>
          <a:lstStyle/>
          <a:p>
            <a:pPr marL="0" indent="0" algn="ctr">
              <a:buNone/>
            </a:pPr>
            <a:r>
              <a:rPr lang="en-US" sz="800" dirty="0">
                <a:solidFill>
                  <a:srgbClr val="959DAB"/>
                </a:solidFill>
                <a:latin typeface="Consolas" pitchFamily="34" charset="0"/>
                <a:ea typeface="Consolas" pitchFamily="34" charset="-122"/>
                <a:cs typeface="Consolas" pitchFamily="34" charset="-120"/>
              </a:rPr>
              <a:t>Fig. 3.3 — BGE-M3 threshold–margin heatmap</a:t>
            </a:r>
            <a:endParaRPr lang="en-US" sz="800" dirty="0"/>
          </a:p>
        </p:txBody>
      </p:sp>
      <p:sp>
        <p:nvSpPr>
          <p:cNvPr id="16" name="Text 12"/>
          <p:cNvSpPr/>
          <p:nvPr/>
        </p:nvSpPr>
        <p:spPr>
          <a:xfrm>
            <a:off x="6245352" y="6236208"/>
            <a:ext cx="5376672" cy="182880"/>
          </a:xfrm>
          <a:prstGeom prst="rect">
            <a:avLst/>
          </a:prstGeom>
          <a:noFill/>
          <a:ln/>
        </p:spPr>
        <p:txBody>
          <a:bodyPr wrap="square" rtlCol="0" anchor="ctr"/>
          <a:lstStyle/>
          <a:p>
            <a:pPr marL="0" indent="0" algn="ctr">
              <a:buNone/>
            </a:pPr>
            <a:r>
              <a:rPr lang="en-US" sz="800" dirty="0">
                <a:solidFill>
                  <a:srgbClr val="959DAB"/>
                </a:solidFill>
                <a:latin typeface="Consolas" pitchFamily="34" charset="0"/>
                <a:ea typeface="Consolas" pitchFamily="34" charset="-122"/>
                <a:cs typeface="Consolas" pitchFamily="34" charset="-120"/>
              </a:rPr>
              <a:t>Fig. 3.4 — GLiNER threshold curve (P / R / F1)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16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06 · AXIS 2 — CLASSIFIER · RESULTS</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GLiNER wins the tuple score — on precision</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72768"/>
            <a:ext cx="11055096" cy="457200"/>
          </a:xfrm>
          <a:prstGeom prst="rect">
            <a:avLst/>
          </a:prstGeom>
          <a:noFill/>
          <a:ln/>
        </p:spPr>
        <p:txBody>
          <a:bodyPr wrap="square" rtlCol="0" anchor="t"/>
          <a:lstStyle/>
          <a:p>
            <a:pPr marL="0" indent="0">
              <a:lnSpc>
                <a:spcPct val="110000"/>
              </a:lnSpc>
              <a:buNone/>
            </a:pPr>
            <a:r>
              <a:rPr lang="en-US" sz="1150" dirty="0">
                <a:solidFill>
                  <a:srgbClr val="586274"/>
                </a:solidFill>
                <a:latin typeface="Calibri" pitchFamily="34" charset="0"/>
                <a:ea typeface="Calibri" pitchFamily="34" charset="-122"/>
                <a:cs typeface="Calibri" pitchFamily="34" charset="-120"/>
              </a:rPr>
              <a:t>OCR fixed to PaddleOCR, downstream fixed (graph v2 · overlap). The nutrient field is the only one the classifier controls; quantity, unit and context barely move.</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11055096" cy="1005840"/>
        </p:xfrm>
        <a:graphic>
          <a:graphicData uri="http://schemas.openxmlformats.org/drawingml/2006/table">
            <a:tbl>
              <a:tblPr/>
              <a:tblGrid>
                <a:gridCol w="4206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62456">
                  <a:extLst>
                    <a:ext uri="{9D8B030D-6E8A-4147-A177-3AD203B41FA5}">
                      <a16:colId xmlns:a16="http://schemas.microsoft.com/office/drawing/2014/main" val="20005"/>
                    </a:ext>
                  </a:extLst>
                </a:gridCol>
              </a:tblGrid>
              <a:tr h="0">
                <a:tc>
                  <a:txBody>
                    <a:bodyPr/>
                    <a:lstStyle/>
                    <a:p>
                      <a:pPr marL="0" indent="0" algn="l">
                        <a:buNone/>
                      </a:pPr>
                      <a:r>
                        <a:rPr lang="en-US" sz="1050" b="1" dirty="0">
                          <a:solidFill>
                            <a:srgbClr val="586274"/>
                          </a:solidFill>
                          <a:latin typeface="Georgia" pitchFamily="34" charset="0"/>
                          <a:ea typeface="Georgia" pitchFamily="34" charset="-122"/>
                          <a:cs typeface="Georgia" pitchFamily="34" charset="-120"/>
                        </a:rPr>
                        <a:t>Classifier</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Nutrient P</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Nutrient R</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Nutrient F1</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3F-F1</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4F-F1</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GLiNER-biomed  (E2-C · recommended)</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0.7350</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0.6374</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0.6827</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0.4465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b="1" dirty="0">
                          <a:solidFill>
                            <a:srgbClr val="0F766E"/>
                          </a:solidFill>
                          <a:latin typeface="Consolas" pitchFamily="34" charset="0"/>
                          <a:ea typeface="Consolas" pitchFamily="34" charset="-122"/>
                          <a:cs typeface="Consolas" pitchFamily="34" charset="-120"/>
                        </a:rPr>
                        <a:t>0.4304</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Rule-based lexicon  (E2-A)</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0.7227</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0.7252</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0.7239</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0.4415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0.4231</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BGE-M3 embedding  (E2-B)</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0.6580</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0.6975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0.6771</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0.4204</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0.4025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 7"/>
          <p:cNvSpPr/>
          <p:nvPr/>
        </p:nvSpPr>
        <p:spPr>
          <a:xfrm>
            <a:off x="566928" y="4114800"/>
            <a:ext cx="11055096" cy="1417320"/>
          </a:xfrm>
          <a:prstGeom prst="roundRect">
            <a:avLst>
              <a:gd name="adj" fmla="val 3226"/>
            </a:avLst>
          </a:prstGeom>
          <a:solidFill>
            <a:srgbClr val="EAF2F1"/>
          </a:solidFill>
          <a:ln/>
        </p:spPr>
        <p:txBody>
          <a:bodyPr wrap="square" lIns="139700" tIns="139700" rIns="139700" bIns="139700" rtlCol="0" anchor="ctr"/>
          <a:lstStyle/>
          <a:p>
            <a:pPr marL="0" indent="0">
              <a:lnSpc>
                <a:spcPct val="108000"/>
              </a:lnSpc>
              <a:buNone/>
            </a:pPr>
            <a:r>
              <a:rPr lang="en-US" sz="1200" b="1" dirty="0">
                <a:solidFill>
                  <a:srgbClr val="161B24"/>
                </a:solidFill>
                <a:latin typeface="Calibri" pitchFamily="34" charset="0"/>
                <a:ea typeface="Calibri" pitchFamily="34" charset="-122"/>
                <a:cs typeface="Calibri" pitchFamily="34" charset="-120"/>
              </a:rPr>
              <a:t>Answer.  </a:t>
            </a:r>
            <a:r>
              <a:rPr lang="en-US" sz="1200" dirty="0">
                <a:solidFill>
                  <a:srgbClr val="586274"/>
                </a:solidFill>
                <a:latin typeface="Calibri" pitchFamily="34" charset="0"/>
                <a:ea typeface="Calibri" pitchFamily="34" charset="-122"/>
                <a:cs typeface="Calibri" pitchFamily="34" charset="-120"/>
              </a:rPr>
              <a:t>The graph binds whatever candidates it is given. GLiNER’s high precision means few non-nutrients enter, so few false-positive tuples — it tops 4F-F1 at 0.4304 even without the best recall. The embedding classifier’s surplus candidates become false tuples and sink its score. GLiNER is the main zero-shot classifier — best interpretable score, no curated lexicon.</a:t>
            </a:r>
            <a:endParaRPr lang="en-US" sz="1200" dirty="0"/>
          </a:p>
        </p:txBody>
      </p:sp>
      <p:sp>
        <p:nvSpPr>
          <p:cNvPr id="11" name="Shape 8"/>
          <p:cNvSpPr/>
          <p:nvPr/>
        </p:nvSpPr>
        <p:spPr>
          <a:xfrm>
            <a:off x="566928" y="4114800"/>
            <a:ext cx="64008" cy="1417320"/>
          </a:xfrm>
          <a:prstGeom prst="rect">
            <a:avLst/>
          </a:prstGeom>
          <a:solidFill>
            <a:srgbClr val="0F766E"/>
          </a:solidFill>
          <a:ln/>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17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07 · AXIS 3 — TOKEN ENRICHMENT &amp; GEOMETRY</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Before the graph: enriching tokens with layout</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72768"/>
            <a:ext cx="11055096" cy="457200"/>
          </a:xfrm>
          <a:prstGeom prst="rect">
            <a:avLst/>
          </a:prstGeom>
          <a:noFill/>
          <a:ln/>
        </p:spPr>
        <p:txBody>
          <a:bodyPr wrap="square" rtlCol="0" anchor="t"/>
          <a:lstStyle/>
          <a:p>
            <a:pPr marL="0" indent="0">
              <a:lnSpc>
                <a:spcPct val="110000"/>
              </a:lnSpc>
              <a:buNone/>
            </a:pPr>
            <a:r>
              <a:rPr lang="en-US" sz="1300" dirty="0">
                <a:solidFill>
                  <a:srgbClr val="586274"/>
                </a:solidFill>
                <a:latin typeface="Calibri" pitchFamily="34" charset="0"/>
                <a:ea typeface="Calibri" pitchFamily="34" charset="-122"/>
                <a:cs typeface="Calibri" pitchFamily="34" charset="-120"/>
              </a:rPr>
              <a:t>Classification says what each token is; enrichment adds how tokens relate — the missing layout structure the graph needs.</a:t>
            </a:r>
            <a:endParaRPr lang="en-US" sz="1300" dirty="0"/>
          </a:p>
        </p:txBody>
      </p:sp>
      <p:sp>
        <p:nvSpPr>
          <p:cNvPr id="9" name="Text 7"/>
          <p:cNvSpPr/>
          <p:nvPr/>
        </p:nvSpPr>
        <p:spPr>
          <a:xfrm>
            <a:off x="566928" y="2194560"/>
            <a:ext cx="5376672" cy="3291840"/>
          </a:xfrm>
          <a:prstGeom prst="roundRect">
            <a:avLst>
              <a:gd name="adj" fmla="val 1667"/>
            </a:avLst>
          </a:prstGeom>
          <a:solidFill>
            <a:srgbClr val="FFFFFF"/>
          </a:solidFill>
          <a:ln w="12700">
            <a:solidFill>
              <a:srgbClr val="E0E4EA"/>
            </a:solidFill>
          </a:ln>
        </p:spPr>
        <p:txBody>
          <a:bodyPr wrap="square" lIns="165100" tIns="165100" rIns="165100" bIns="165100" rtlCol="0" anchor="t"/>
          <a:lstStyle/>
          <a:p>
            <a:pPr marL="0" indent="0">
              <a:lnSpc>
                <a:spcPct val="125000"/>
              </a:lnSpc>
              <a:buNone/>
            </a:pPr>
            <a:r>
              <a:rPr lang="en-US" sz="1000" b="1" kern="0" spc="100" dirty="0">
                <a:solidFill>
                  <a:srgbClr val="0F766E"/>
                </a:solidFill>
                <a:latin typeface="Consolas" pitchFamily="34" charset="0"/>
                <a:ea typeface="Consolas" pitchFamily="34" charset="-122"/>
                <a:cs typeface="Consolas" pitchFamily="34" charset="-120"/>
              </a:rPr>
              <a:t>DIRECTION-AWARE GEOMETRY
</a:t>
            </a:r>
            <a:endParaRPr lang="en-US" sz="1150" dirty="0"/>
          </a:p>
          <a:p>
            <a:pPr marL="0" indent="0">
              <a:lnSpc>
                <a:spcPct val="125000"/>
              </a:lnSpc>
              <a:buNone/>
            </a:pPr>
            <a:r>
              <a:rPr lang="en-US" sz="1150" dirty="0">
                <a:solidFill>
                  <a:srgbClr val="586274"/>
                </a:solidFill>
                <a:latin typeface="Calibri" pitchFamily="34" charset="0"/>
                <a:ea typeface="Calibri" pitchFamily="34" charset="-122"/>
                <a:cs typeface="Calibri" pitchFamily="34" charset="-120"/>
              </a:rPr>
              <a:t>• Per token: centre (cx, cy), local text angle, a direction vector along the reading line and a normal across it — from the 4-corner polygon when available.
</a:t>
            </a:r>
            <a:endParaRPr lang="en-US" sz="1150" dirty="0"/>
          </a:p>
          <a:p>
            <a:pPr marL="0" indent="0">
              <a:lnSpc>
                <a:spcPct val="125000"/>
              </a:lnSpc>
              <a:buNone/>
            </a:pPr>
            <a:r>
              <a:rPr lang="en-US" sz="1150" dirty="0">
                <a:solidFill>
                  <a:srgbClr val="586274"/>
                </a:solidFill>
                <a:latin typeface="Calibri" pitchFamily="34" charset="0"/>
                <a:ea typeface="Calibri" pitchFamily="34" charset="-122"/>
                <a:cs typeface="Calibri" pitchFamily="34" charset="-120"/>
              </a:rPr>
              <a:t>• Same row = near-same direction + close (≈15° tolerance), so slight rotation / curved packs don’t break rows.
</a:t>
            </a:r>
            <a:endParaRPr lang="en-US" sz="1150" dirty="0"/>
          </a:p>
          <a:p>
            <a:pPr marL="0" indent="0">
              <a:lnSpc>
                <a:spcPct val="125000"/>
              </a:lnSpc>
              <a:buNone/>
            </a:pPr>
            <a:r>
              <a:rPr lang="en-US" sz="1150" dirty="0">
                <a:solidFill>
                  <a:srgbClr val="586274"/>
                </a:solidFill>
                <a:latin typeface="Calibri" pitchFamily="34" charset="0"/>
                <a:ea typeface="Calibri" pitchFamily="34" charset="-122"/>
                <a:cs typeface="Calibri" pitchFamily="34" charset="-120"/>
              </a:rPr>
              <a:t>• Gap-based grouping: row gap ≈ 25 px, column gap ≈ 60 px, scaled to image size.</a:t>
            </a:r>
            <a:endParaRPr lang="en-US" sz="1150" dirty="0"/>
          </a:p>
        </p:txBody>
      </p:sp>
      <p:sp>
        <p:nvSpPr>
          <p:cNvPr id="10" name="Text 8"/>
          <p:cNvSpPr/>
          <p:nvPr/>
        </p:nvSpPr>
        <p:spPr>
          <a:xfrm>
            <a:off x="6245352" y="2194560"/>
            <a:ext cx="5376672" cy="3291840"/>
          </a:xfrm>
          <a:prstGeom prst="roundRect">
            <a:avLst>
              <a:gd name="adj" fmla="val 1667"/>
            </a:avLst>
          </a:prstGeom>
          <a:solidFill>
            <a:srgbClr val="EAF2F1"/>
          </a:solidFill>
          <a:ln w="17780">
            <a:solidFill>
              <a:srgbClr val="0F766E"/>
            </a:solidFill>
          </a:ln>
        </p:spPr>
        <p:txBody>
          <a:bodyPr wrap="square" lIns="165100" tIns="165100" rIns="165100" bIns="165100" rtlCol="0" anchor="t"/>
          <a:lstStyle/>
          <a:p>
            <a:pPr marL="0" indent="0">
              <a:lnSpc>
                <a:spcPct val="125000"/>
              </a:lnSpc>
              <a:buNone/>
            </a:pPr>
            <a:r>
              <a:rPr lang="en-US" sz="1000" b="1" kern="0" spc="100" dirty="0">
                <a:solidFill>
                  <a:srgbClr val="0F766E"/>
                </a:solidFill>
                <a:latin typeface="Consolas" pitchFamily="34" charset="0"/>
                <a:ea typeface="Consolas" pitchFamily="34" charset="-122"/>
                <a:cs typeface="Consolas" pitchFamily="34" charset="-120"/>
              </a:rPr>
              <a:t>STRUCTURAL ATTRIBUTES
</a:t>
            </a:r>
            <a:endParaRPr lang="en-US" sz="1150" dirty="0"/>
          </a:p>
          <a:p>
            <a:pPr marL="0" indent="0">
              <a:lnSpc>
                <a:spcPct val="125000"/>
              </a:lnSpc>
              <a:buNone/>
            </a:pPr>
            <a:r>
              <a:rPr lang="en-US" sz="1150" dirty="0">
                <a:solidFill>
                  <a:srgbClr val="586274"/>
                </a:solidFill>
                <a:latin typeface="Calibri" pitchFamily="34" charset="0"/>
                <a:ea typeface="Calibri" pitchFamily="34" charset="-122"/>
                <a:cs typeface="Calibri" pitchFamily="34" charset="-120"/>
              </a:rPr>
              <a:t>• Row &amp; column IDs — a table-like coordinate system.
</a:t>
            </a:r>
            <a:endParaRPr lang="en-US" sz="1150" dirty="0"/>
          </a:p>
          <a:p>
            <a:pPr marL="0" indent="0">
              <a:lnSpc>
                <a:spcPct val="125000"/>
              </a:lnSpc>
              <a:buNone/>
            </a:pPr>
            <a:r>
              <a:rPr lang="en-US" sz="1150" dirty="0">
                <a:solidFill>
                  <a:srgbClr val="586274"/>
                </a:solidFill>
                <a:latin typeface="Calibri" pitchFamily="34" charset="0"/>
                <a:ea typeface="Calibri" pitchFamily="34" charset="-122"/>
                <a:cs typeface="Calibri" pitchFamily="34" charset="-120"/>
              </a:rPr>
              <a:t>• Column roles — nutrient-name / value / unit / NRV, inferred from the tokens inside each column.
</a:t>
            </a:r>
            <a:endParaRPr lang="en-US" sz="1150" dirty="0"/>
          </a:p>
          <a:p>
            <a:pPr marL="0" indent="0">
              <a:lnSpc>
                <a:spcPct val="125000"/>
              </a:lnSpc>
              <a:buNone/>
            </a:pPr>
            <a:r>
              <a:rPr lang="en-US" sz="1150" dirty="0">
                <a:solidFill>
                  <a:srgbClr val="586274"/>
                </a:solidFill>
                <a:latin typeface="Calibri" pitchFamily="34" charset="0"/>
                <a:ea typeface="Calibri" pitchFamily="34" charset="-122"/>
                <a:cs typeface="Calibri" pitchFamily="34" charset="-120"/>
              </a:rPr>
              <a:t>• Dosage-stream IDs — keep per-100 g vs per-serving value columns separate.
</a:t>
            </a:r>
            <a:endParaRPr lang="en-US" sz="1150" dirty="0"/>
          </a:p>
          <a:p>
            <a:pPr marL="0" indent="0">
              <a:lnSpc>
                <a:spcPct val="125000"/>
              </a:lnSpc>
              <a:buNone/>
            </a:pPr>
            <a:r>
              <a:rPr lang="en-US" sz="1150" dirty="0">
                <a:solidFill>
                  <a:srgbClr val="586274"/>
                </a:solidFill>
                <a:latin typeface="Calibri" pitchFamily="34" charset="0"/>
                <a:ea typeface="Calibri" pitchFamily="34" charset="-122"/>
                <a:cs typeface="Calibri" pitchFamily="34" charset="-120"/>
              </a:rPr>
              <a:t>• Header flags, ordinal &amp; role-specific ranks (fallback), and row/column membership confidences.</a:t>
            </a:r>
            <a:endParaRPr lang="en-US" sz="1150" dirty="0"/>
          </a:p>
        </p:txBody>
      </p:sp>
      <p:sp>
        <p:nvSpPr>
          <p:cNvPr id="11" name="Text 9"/>
          <p:cNvSpPr/>
          <p:nvPr/>
        </p:nvSpPr>
        <p:spPr>
          <a:xfrm>
            <a:off x="566928" y="5669280"/>
            <a:ext cx="11055096" cy="548640"/>
          </a:xfrm>
          <a:prstGeom prst="roundRect">
            <a:avLst>
              <a:gd name="adj" fmla="val 8333"/>
            </a:avLst>
          </a:prstGeom>
          <a:solidFill>
            <a:srgbClr val="EAF2F1"/>
          </a:solidFill>
          <a:ln/>
        </p:spPr>
        <p:txBody>
          <a:bodyPr wrap="square" lIns="139700" tIns="139700" rIns="139700" bIns="139700" rtlCol="0" anchor="ctr"/>
          <a:lstStyle/>
          <a:p>
            <a:pPr marL="0" indent="0">
              <a:lnSpc>
                <a:spcPct val="108000"/>
              </a:lnSpc>
              <a:buNone/>
            </a:pPr>
            <a:r>
              <a:rPr lang="en-US" sz="1200" b="1" dirty="0">
                <a:solidFill>
                  <a:srgbClr val="161B24"/>
                </a:solidFill>
                <a:latin typeface="Calibri" pitchFamily="34" charset="0"/>
                <a:ea typeface="Calibri" pitchFamily="34" charset="-122"/>
                <a:cs typeface="Calibri" pitchFamily="34" charset="-120"/>
              </a:rPr>
              <a:t>This enriched representation is exactly what graph v2 consumes — and what graph v1 ignores.</a:t>
            </a:r>
            <a:endParaRPr lang="en-US" sz="1200" dirty="0"/>
          </a:p>
        </p:txBody>
      </p:sp>
      <p:sp>
        <p:nvSpPr>
          <p:cNvPr id="12" name="Shape 10"/>
          <p:cNvSpPr/>
          <p:nvPr/>
        </p:nvSpPr>
        <p:spPr>
          <a:xfrm>
            <a:off x="566928" y="5669280"/>
            <a:ext cx="64008" cy="548640"/>
          </a:xfrm>
          <a:prstGeom prst="rect">
            <a:avLst/>
          </a:prstGeom>
          <a:solidFill>
            <a:srgbClr val="0F766E"/>
          </a:solidFill>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18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07 · AXIS 3 — ASSOCIATION · THE VARIANTS</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Four ways to bind tokens into tuples</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609344"/>
            <a:ext cx="11055096" cy="548640"/>
          </a:xfrm>
          <a:prstGeom prst="rect">
            <a:avLst/>
          </a:prstGeom>
          <a:noFill/>
          <a:ln/>
        </p:spPr>
        <p:txBody>
          <a:bodyPr wrap="square" rtlCol="0" anchor="t"/>
          <a:lstStyle/>
          <a:p>
            <a:pPr marL="0" indent="0">
              <a:lnSpc>
                <a:spcPct val="110000"/>
              </a:lnSpc>
              <a:buNone/>
            </a:pPr>
            <a:r>
              <a:rPr lang="en-US" sz="1300" dirty="0">
                <a:solidFill>
                  <a:srgbClr val="586274"/>
                </a:solidFill>
                <a:latin typeface="Calibri" pitchFamily="34" charset="0"/>
                <a:ea typeface="Calibri" pitchFamily="34" charset="-122"/>
                <a:cs typeface="Calibri" pitchFamily="34" charset="-120"/>
              </a:rPr>
              <a:t>The thesis contribution and the richest axis. We examine it in </a:t>
            </a:r>
            <a:r>
              <a:rPr lang="en-US" sz="1300" b="1" dirty="0">
                <a:solidFill>
                  <a:srgbClr val="161B24"/>
                </a:solidFill>
                <a:latin typeface="Calibri" pitchFamily="34" charset="0"/>
                <a:ea typeface="Calibri" pitchFamily="34" charset="-122"/>
                <a:cs typeface="Calibri" pitchFamily="34" charset="-120"/>
              </a:rPr>
              <a:t>three comparisons</a:t>
            </a:r>
            <a:r>
              <a:rPr lang="en-US" sz="1300" dirty="0">
                <a:solidFill>
                  <a:srgbClr val="586274"/>
                </a:solidFill>
                <a:latin typeface="Calibri" pitchFamily="34" charset="0"/>
                <a:ea typeface="Calibri" pitchFamily="34" charset="-122"/>
                <a:cs typeface="Calibri" pitchFamily="34" charset="-120"/>
              </a:rPr>
              <a:t> — graph v1 vs v2, graph v2 vs VLM-association, VLM-association vs end-to-end — then walk the row-edge modes inside graph v2.</a:t>
            </a:r>
            <a:endParaRPr lang="en-US" sz="1300" dirty="0"/>
          </a:p>
        </p:txBody>
      </p:sp>
      <p:sp>
        <p:nvSpPr>
          <p:cNvPr id="9" name="Text 7"/>
          <p:cNvSpPr/>
          <p:nvPr/>
        </p:nvSpPr>
        <p:spPr>
          <a:xfrm>
            <a:off x="566928" y="2286000"/>
            <a:ext cx="5376672" cy="1783080"/>
          </a:xfrm>
          <a:prstGeom prst="roundRect">
            <a:avLst>
              <a:gd name="adj" fmla="val 3590"/>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586274"/>
                </a:solidFill>
                <a:latin typeface="Consolas" pitchFamily="34" charset="0"/>
                <a:ea typeface="Consolas" pitchFamily="34" charset="-122"/>
                <a:cs typeface="Consolas" pitchFamily="34" charset="-120"/>
              </a:rPr>
              <a:t>① GRAPH V1 · BASELINE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Naive raw-geometry constructor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Recomputes centres from bounding boxes; ignores enrichment. One CONTEXT_SCOPE edge to nutrients only — cannot keep value columns apart.</a:t>
            </a:r>
            <a:endParaRPr lang="en-US" sz="900" dirty="0"/>
          </a:p>
        </p:txBody>
      </p:sp>
      <p:sp>
        <p:nvSpPr>
          <p:cNvPr id="10" name="Text 8"/>
          <p:cNvSpPr/>
          <p:nvPr/>
        </p:nvSpPr>
        <p:spPr>
          <a:xfrm>
            <a:off x="6245352" y="2286000"/>
            <a:ext cx="5376672" cy="1783080"/>
          </a:xfrm>
          <a:prstGeom prst="roundRect">
            <a:avLst>
              <a:gd name="adj" fmla="val 3590"/>
            </a:avLst>
          </a:prstGeom>
          <a:solidFill>
            <a:srgbClr val="EAF2F1"/>
          </a:solidFill>
          <a:ln w="17780">
            <a:solidFill>
              <a:srgbClr val="0F766E"/>
            </a:solidFill>
          </a:ln>
        </p:spPr>
        <p:txBody>
          <a:bodyPr wrap="square" lIns="114300" tIns="114300" rIns="114300" bIns="114300" rtlCol="0" anchor="t"/>
          <a:lstStyle/>
          <a:p>
            <a:pPr marL="0" indent="0">
              <a:lnSpc>
                <a:spcPct val="104000"/>
              </a:lnSpc>
              <a:buNone/>
            </a:pPr>
            <a:r>
              <a:rPr lang="en-US" sz="900" kern="0" spc="100" dirty="0">
                <a:solidFill>
                  <a:srgbClr val="0F766E"/>
                </a:solidFill>
                <a:latin typeface="Consolas" pitchFamily="34" charset="0"/>
                <a:ea typeface="Consolas" pitchFamily="34" charset="-122"/>
                <a:cs typeface="Consolas" pitchFamily="34" charset="-120"/>
              </a:rPr>
              <a:t>② GRAPH V2 · GEOMETRY-AWARE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Enriched typed edges + HEADER_SCOPE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Column roles, dosage streams, header flags. HEADER_SCOPE binds each header to its own column → correct per-quantity context. Four row-edge modes.</a:t>
            </a:r>
            <a:endParaRPr lang="en-US" sz="900" dirty="0"/>
          </a:p>
        </p:txBody>
      </p:sp>
      <p:sp>
        <p:nvSpPr>
          <p:cNvPr id="11" name="Text 9"/>
          <p:cNvSpPr/>
          <p:nvPr/>
        </p:nvSpPr>
        <p:spPr>
          <a:xfrm>
            <a:off x="566928" y="4270248"/>
            <a:ext cx="5376672" cy="1783080"/>
          </a:xfrm>
          <a:prstGeom prst="roundRect">
            <a:avLst>
              <a:gd name="adj" fmla="val 3590"/>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D97706"/>
                </a:solidFill>
                <a:latin typeface="Consolas" pitchFamily="34" charset="0"/>
                <a:ea typeface="Consolas" pitchFamily="34" charset="-122"/>
                <a:cs typeface="Consolas" pitchFamily="34" charset="-120"/>
              </a:rPr>
              <a:t>③ VLM ASSOCIATION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Model binds from injected token table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Interpretable front-end stays; only the binding step is a VLM (Gemma 3 4B) reading the OCR token table + image. Black box only here.</a:t>
            </a:r>
            <a:endParaRPr lang="en-US" sz="900" dirty="0"/>
          </a:p>
        </p:txBody>
      </p:sp>
      <p:sp>
        <p:nvSpPr>
          <p:cNvPr id="12" name="Text 10"/>
          <p:cNvSpPr/>
          <p:nvPr/>
        </p:nvSpPr>
        <p:spPr>
          <a:xfrm>
            <a:off x="6245352" y="4270248"/>
            <a:ext cx="5376672" cy="1783080"/>
          </a:xfrm>
          <a:prstGeom prst="roundRect">
            <a:avLst>
              <a:gd name="adj" fmla="val 3590"/>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DC2626"/>
                </a:solidFill>
                <a:latin typeface="Consolas" pitchFamily="34" charset="0"/>
                <a:ea typeface="Consolas" pitchFamily="34" charset="-122"/>
                <a:cs typeface="Consolas" pitchFamily="34" charset="-120"/>
              </a:rPr>
              <a:t>④ END-TO-END VLM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No pipeline at all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The reference from earlier: image → tuples in one opaque call. The fully black-box point we want to beat.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19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07 · AXIS 3 — GRAPH V1 · NODES &amp; EDGES</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Graph v1 — the naive constructor</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54480"/>
            <a:ext cx="6766560" cy="594360"/>
          </a:xfrm>
          <a:prstGeom prst="rect">
            <a:avLst/>
          </a:prstGeom>
          <a:noFill/>
          <a:ln/>
        </p:spPr>
        <p:txBody>
          <a:bodyPr wrap="square" rtlCol="0" anchor="t"/>
          <a:lstStyle/>
          <a:p>
            <a:pPr marL="0" indent="0">
              <a:lnSpc>
                <a:spcPct val="110000"/>
              </a:lnSpc>
              <a:buNone/>
            </a:pPr>
            <a:r>
              <a:rPr lang="en-US" sz="1300" dirty="0">
                <a:solidFill>
                  <a:srgbClr val="586274"/>
                </a:solidFill>
                <a:latin typeface="Calibri" pitchFamily="34" charset="0"/>
                <a:ea typeface="Calibri" pitchFamily="34" charset="-122"/>
                <a:cs typeface="Calibri" pitchFamily="34" charset="-120"/>
              </a:rPr>
              <a:t>Nodes = non-noise tokens, centre recomputed from the bounding box. Works on raw geometry only — </a:t>
            </a:r>
            <a:r>
              <a:rPr lang="en-US" sz="1300" b="1" dirty="0">
                <a:solidFill>
                  <a:srgbClr val="161B24"/>
                </a:solidFill>
                <a:latin typeface="Calibri" pitchFamily="34" charset="0"/>
                <a:ea typeface="Calibri" pitchFamily="34" charset="-122"/>
                <a:cs typeface="Calibri" pitchFamily="34" charset="-120"/>
              </a:rPr>
              <a:t>ignores all enrichment</a:t>
            </a:r>
            <a:r>
              <a:rPr lang="en-US" sz="1300" dirty="0">
                <a:solidFill>
                  <a:srgbClr val="586274"/>
                </a:solidFill>
                <a:latin typeface="Calibri" pitchFamily="34" charset="0"/>
                <a:ea typeface="Calibri" pitchFamily="34" charset="-122"/>
                <a:cs typeface="Calibri" pitchFamily="34" charset="-120"/>
              </a:rPr>
              <a:t> (row/col IDs, column roles, ranks, dosage streams, headers). Four edge types:</a:t>
            </a:r>
            <a:endParaRPr lang="en-US" sz="1300" dirty="0"/>
          </a:p>
        </p:txBody>
      </p:sp>
      <p:sp>
        <p:nvSpPr>
          <p:cNvPr id="9" name="Text 7"/>
          <p:cNvSpPr/>
          <p:nvPr/>
        </p:nvSpPr>
        <p:spPr>
          <a:xfrm>
            <a:off x="566928" y="2331720"/>
            <a:ext cx="6766560" cy="658368"/>
          </a:xfrm>
          <a:prstGeom prst="roundRect">
            <a:avLst>
              <a:gd name="adj" fmla="val 6944"/>
            </a:avLst>
          </a:prstGeom>
          <a:solidFill>
            <a:srgbClr val="FFFFFF"/>
          </a:solidFill>
          <a:ln w="12700">
            <a:solidFill>
              <a:srgbClr val="E0E4EA"/>
            </a:solidFill>
          </a:ln>
        </p:spPr>
        <p:txBody>
          <a:bodyPr wrap="square" lIns="114300" tIns="114300" rIns="114300" bIns="114300" rtlCol="0" anchor="ctr"/>
          <a:lstStyle/>
          <a:p>
            <a:pPr marL="0" indent="0">
              <a:buNone/>
            </a:pPr>
            <a:r>
              <a:rPr lang="en-US" sz="1150" b="1" dirty="0">
                <a:solidFill>
                  <a:srgbClr val="0F766E"/>
                </a:solidFill>
                <a:latin typeface="Consolas" pitchFamily="34" charset="0"/>
                <a:ea typeface="Consolas" pitchFamily="34" charset="-122"/>
                <a:cs typeface="Consolas" pitchFamily="34" charset="-120"/>
              </a:rPr>
              <a:t>SAME_ROW  </a:t>
            </a:r>
            <a:r>
              <a:rPr lang="en-US" sz="1050" dirty="0">
                <a:solidFill>
                  <a:srgbClr val="586274"/>
                </a:solidFill>
                <a:latin typeface="Calibri" pitchFamily="34" charset="0"/>
                <a:ea typeface="Calibri" pitchFamily="34" charset="-122"/>
                <a:cs typeface="Calibri" pitchFamily="34" charset="-120"/>
              </a:rPr>
              <a:t>— two tokens with similar vertical centres, within a ~25 px row band.</a:t>
            </a:r>
            <a:endParaRPr lang="en-US" sz="1150" dirty="0"/>
          </a:p>
        </p:txBody>
      </p:sp>
      <p:sp>
        <p:nvSpPr>
          <p:cNvPr id="10" name="Text 8"/>
          <p:cNvSpPr/>
          <p:nvPr/>
        </p:nvSpPr>
        <p:spPr>
          <a:xfrm>
            <a:off x="566928" y="3136392"/>
            <a:ext cx="6766560" cy="658368"/>
          </a:xfrm>
          <a:prstGeom prst="roundRect">
            <a:avLst>
              <a:gd name="adj" fmla="val 6944"/>
            </a:avLst>
          </a:prstGeom>
          <a:solidFill>
            <a:srgbClr val="FFFFFF"/>
          </a:solidFill>
          <a:ln w="12700">
            <a:solidFill>
              <a:srgbClr val="E0E4EA"/>
            </a:solidFill>
          </a:ln>
        </p:spPr>
        <p:txBody>
          <a:bodyPr wrap="square" lIns="114300" tIns="114300" rIns="114300" bIns="114300" rtlCol="0" anchor="ctr"/>
          <a:lstStyle/>
          <a:p>
            <a:pPr marL="0" indent="0">
              <a:buNone/>
            </a:pPr>
            <a:r>
              <a:rPr lang="en-US" sz="1150" b="1" dirty="0">
                <a:solidFill>
                  <a:srgbClr val="2563EB"/>
                </a:solidFill>
                <a:latin typeface="Consolas" pitchFamily="34" charset="0"/>
                <a:ea typeface="Consolas" pitchFamily="34" charset="-122"/>
                <a:cs typeface="Consolas" pitchFamily="34" charset="-120"/>
              </a:rPr>
              <a:t>SAME_COL  </a:t>
            </a:r>
            <a:r>
              <a:rPr lang="en-US" sz="1050" dirty="0">
                <a:solidFill>
                  <a:srgbClr val="586274"/>
                </a:solidFill>
                <a:latin typeface="Calibri" pitchFamily="34" charset="0"/>
                <a:ea typeface="Calibri" pitchFamily="34" charset="-122"/>
                <a:cs typeface="Calibri" pitchFamily="34" charset="-120"/>
              </a:rPr>
              <a:t>— tokens whose horizontal centres are close, within a narrower ~20 px band.</a:t>
            </a:r>
            <a:endParaRPr lang="en-US" sz="1150" dirty="0"/>
          </a:p>
        </p:txBody>
      </p:sp>
      <p:sp>
        <p:nvSpPr>
          <p:cNvPr id="11" name="Text 9"/>
          <p:cNvSpPr/>
          <p:nvPr/>
        </p:nvSpPr>
        <p:spPr>
          <a:xfrm>
            <a:off x="566928" y="3941064"/>
            <a:ext cx="6766560" cy="658368"/>
          </a:xfrm>
          <a:prstGeom prst="roundRect">
            <a:avLst>
              <a:gd name="adj" fmla="val 6944"/>
            </a:avLst>
          </a:prstGeom>
          <a:solidFill>
            <a:srgbClr val="FFFFFF"/>
          </a:solidFill>
          <a:ln w="12700">
            <a:solidFill>
              <a:srgbClr val="E0E4EA"/>
            </a:solidFill>
          </a:ln>
        </p:spPr>
        <p:txBody>
          <a:bodyPr wrap="square" lIns="114300" tIns="114300" rIns="114300" bIns="114300" rtlCol="0" anchor="ctr"/>
          <a:lstStyle/>
          <a:p>
            <a:pPr marL="0" indent="0">
              <a:buNone/>
            </a:pPr>
            <a:r>
              <a:rPr lang="en-US" sz="1150" b="1" dirty="0">
                <a:solidFill>
                  <a:srgbClr val="EA580C"/>
                </a:solidFill>
                <a:latin typeface="Consolas" pitchFamily="34" charset="0"/>
                <a:ea typeface="Consolas" pitchFamily="34" charset="-122"/>
                <a:cs typeface="Consolas" pitchFamily="34" charset="-120"/>
              </a:rPr>
              <a:t>ADJACENT  </a:t>
            </a:r>
            <a:r>
              <a:rPr lang="en-US" sz="1050" dirty="0">
                <a:solidFill>
                  <a:srgbClr val="586274"/>
                </a:solidFill>
                <a:latin typeface="Calibri" pitchFamily="34" charset="0"/>
                <a:ea typeface="Calibri" pitchFamily="34" charset="-122"/>
                <a:cs typeface="Calibri" pitchFamily="34" charset="-120"/>
              </a:rPr>
              <a:t>— boxes within ~60 px when no row/col edge exists — a fallback for OCR-shifted units.</a:t>
            </a:r>
            <a:endParaRPr lang="en-US" sz="1150" dirty="0"/>
          </a:p>
        </p:txBody>
      </p:sp>
      <p:sp>
        <p:nvSpPr>
          <p:cNvPr id="12" name="Text 10"/>
          <p:cNvSpPr/>
          <p:nvPr/>
        </p:nvSpPr>
        <p:spPr>
          <a:xfrm>
            <a:off x="566928" y="4745736"/>
            <a:ext cx="6766560" cy="658368"/>
          </a:xfrm>
          <a:prstGeom prst="roundRect">
            <a:avLst>
              <a:gd name="adj" fmla="val 6944"/>
            </a:avLst>
          </a:prstGeom>
          <a:solidFill>
            <a:srgbClr val="FFFFFF"/>
          </a:solidFill>
          <a:ln w="12700">
            <a:solidFill>
              <a:srgbClr val="E0E4EA"/>
            </a:solidFill>
          </a:ln>
        </p:spPr>
        <p:txBody>
          <a:bodyPr wrap="square" lIns="114300" tIns="114300" rIns="114300" bIns="114300" rtlCol="0" anchor="ctr"/>
          <a:lstStyle/>
          <a:p>
            <a:pPr marL="0" indent="0">
              <a:buNone/>
            </a:pPr>
            <a:r>
              <a:rPr lang="en-US" sz="1150" b="1" dirty="0">
                <a:solidFill>
                  <a:srgbClr val="9333EA"/>
                </a:solidFill>
                <a:latin typeface="Consolas" pitchFamily="34" charset="0"/>
                <a:ea typeface="Consolas" pitchFamily="34" charset="-122"/>
                <a:cs typeface="Consolas" pitchFamily="34" charset="-120"/>
              </a:rPr>
              <a:t>CONTEXT_SCOPE  </a:t>
            </a:r>
            <a:r>
              <a:rPr lang="en-US" sz="1050" dirty="0">
                <a:solidFill>
                  <a:srgbClr val="586274"/>
                </a:solidFill>
                <a:latin typeface="Calibri" pitchFamily="34" charset="0"/>
                <a:ea typeface="Calibri" pitchFamily="34" charset="-122"/>
                <a:cs typeface="Calibri" pitchFamily="34" charset="-120"/>
              </a:rPr>
              <a:t>— directed: a context token → nutrient nodes below it, within ~600 px.</a:t>
            </a:r>
            <a:endParaRPr lang="en-US" sz="1150" dirty="0"/>
          </a:p>
        </p:txBody>
      </p:sp>
      <p:sp>
        <p:nvSpPr>
          <p:cNvPr id="13" name="Text 11"/>
          <p:cNvSpPr/>
          <p:nvPr/>
        </p:nvSpPr>
        <p:spPr>
          <a:xfrm>
            <a:off x="7498080" y="2331720"/>
            <a:ext cx="4114800" cy="3291840"/>
          </a:xfrm>
          <a:prstGeom prst="roundRect">
            <a:avLst>
              <a:gd name="adj" fmla="val 1944"/>
            </a:avLst>
          </a:prstGeom>
          <a:solidFill>
            <a:srgbClr val="FFFFFF"/>
          </a:solidFill>
          <a:ln w="12700">
            <a:solidFill>
              <a:srgbClr val="E0E4EA"/>
            </a:solidFill>
          </a:ln>
        </p:spPr>
        <p:txBody>
          <a:bodyPr wrap="square" lIns="114300" tIns="114300" rIns="114300" bIns="114300" rtlCol="0" anchor="t"/>
          <a:lstStyle/>
          <a:p>
            <a:pPr marL="0" indent="0">
              <a:lnSpc>
                <a:spcPct val="104000"/>
              </a:lnSpc>
              <a:buNone/>
            </a:pPr>
            <a:r>
              <a:rPr lang="en-US" sz="900" kern="0" spc="100" dirty="0">
                <a:solidFill>
                  <a:srgbClr val="586274"/>
                </a:solidFill>
                <a:latin typeface="Consolas" pitchFamily="34" charset="0"/>
                <a:ea typeface="Consolas" pitchFamily="34" charset="-122"/>
                <a:cs typeface="Consolas" pitchFamily="34" charset="-120"/>
              </a:rPr>
              <a:t>BASELINE LIMITATION
</a:t>
            </a:r>
            <a:endParaRPr lang="en-US" sz="900" dirty="0"/>
          </a:p>
          <a:p>
            <a:pPr marL="0" indent="0">
              <a:lnSpc>
                <a:spcPct val="104000"/>
              </a:lnSpc>
              <a:buNone/>
            </a:pPr>
            <a:r>
              <a:rPr lang="en-US" sz="1300" b="1" dirty="0">
                <a:solidFill>
                  <a:srgbClr val="161B24"/>
                </a:solidFill>
                <a:latin typeface="Georgia" pitchFamily="34" charset="0"/>
                <a:ea typeface="Georgia" pitchFamily="34" charset="-122"/>
                <a:cs typeface="Georgia" pitchFamily="34" charset="-120"/>
              </a:rPr>
              <a:t>Coordinates, not structure
</a:t>
            </a:r>
            <a:endParaRPr lang="en-US" sz="900" dirty="0"/>
          </a:p>
          <a:p>
            <a:pPr marL="0" indent="0">
              <a:lnSpc>
                <a:spcPct val="104000"/>
              </a:lnSpc>
              <a:buNone/>
            </a:pPr>
            <a:r>
              <a:rPr lang="en-US" sz="1050" dirty="0">
                <a:solidFill>
                  <a:srgbClr val="586274"/>
                </a:solidFill>
                <a:latin typeface="Calibri" pitchFamily="34" charset="0"/>
                <a:ea typeface="Calibri" pitchFamily="34" charset="-122"/>
                <a:cs typeface="Calibri" pitchFamily="34" charset="-120"/>
              </a:rPr>
              <a:t>All thresholds are pixel distances scaled by image height. Simple and inspectable, but it cannot tell apart different sources of row/col evidence — and CONTEXT_SCOPE reaches nutrients only, so it fails on multi-column labels.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20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07 · AXIS 3 — GRAPH V2 · NODES &amp; EDGES</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Graph v2 — the geometry-aware constructor</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17904"/>
            <a:ext cx="6309360" cy="502920"/>
          </a:xfrm>
          <a:prstGeom prst="rect">
            <a:avLst/>
          </a:prstGeom>
          <a:noFill/>
          <a:ln/>
        </p:spPr>
        <p:txBody>
          <a:bodyPr wrap="square" rtlCol="0" anchor="t"/>
          <a:lstStyle/>
          <a:p>
            <a:pPr marL="0" indent="0">
              <a:lnSpc>
                <a:spcPct val="110000"/>
              </a:lnSpc>
              <a:buNone/>
            </a:pPr>
            <a:r>
              <a:rPr lang="en-US" sz="1300" dirty="0">
                <a:solidFill>
                  <a:srgbClr val="586274"/>
                </a:solidFill>
                <a:latin typeface="Calibri" pitchFamily="34" charset="0"/>
                <a:ea typeface="Calibri" pitchFamily="34" charset="-122"/>
                <a:cs typeface="Calibri" pitchFamily="34" charset="-120"/>
              </a:rPr>
              <a:t>Nodes keep text, role, geometry, </a:t>
            </a:r>
            <a:r>
              <a:rPr lang="en-US" sz="1300" b="1" dirty="0">
                <a:solidFill>
                  <a:srgbClr val="161B24"/>
                </a:solidFill>
                <a:latin typeface="Calibri" pitchFamily="34" charset="0"/>
                <a:ea typeface="Calibri" pitchFamily="34" charset="-122"/>
                <a:cs typeface="Calibri" pitchFamily="34" charset="-120"/>
              </a:rPr>
              <a:t>row/col IDs, column role, ranks, dosage-stream ID and header flag</a:t>
            </a:r>
            <a:r>
              <a:rPr lang="en-US" sz="1300" dirty="0">
                <a:solidFill>
                  <a:srgbClr val="586274"/>
                </a:solidFill>
                <a:latin typeface="Calibri" pitchFamily="34" charset="0"/>
                <a:ea typeface="Calibri" pitchFamily="34" charset="-122"/>
                <a:cs typeface="Calibri" pitchFamily="34" charset="-120"/>
              </a:rPr>
              <a:t>. Richer nodes → four typed edges, each just linking two tokens:</a:t>
            </a:r>
            <a:endParaRPr lang="en-US" sz="1300" dirty="0"/>
          </a:p>
        </p:txBody>
      </p:sp>
      <p:sp>
        <p:nvSpPr>
          <p:cNvPr id="9" name="Text 7"/>
          <p:cNvSpPr/>
          <p:nvPr/>
        </p:nvSpPr>
        <p:spPr>
          <a:xfrm>
            <a:off x="566928" y="2148840"/>
            <a:ext cx="6309360" cy="566928"/>
          </a:xfrm>
          <a:prstGeom prst="roundRect">
            <a:avLst>
              <a:gd name="adj" fmla="val 8065"/>
            </a:avLst>
          </a:prstGeom>
          <a:solidFill>
            <a:srgbClr val="FFFFFF"/>
          </a:solidFill>
          <a:ln w="12700">
            <a:solidFill>
              <a:srgbClr val="E0E4EA"/>
            </a:solidFill>
          </a:ln>
        </p:spPr>
        <p:txBody>
          <a:bodyPr wrap="square" lIns="101600" tIns="101600" rIns="101600" bIns="101600" rtlCol="0" anchor="ctr"/>
          <a:lstStyle/>
          <a:p>
            <a:pPr marL="0" indent="0">
              <a:buNone/>
            </a:pPr>
            <a:r>
              <a:rPr lang="en-US" sz="1050" b="1" dirty="0">
                <a:solidFill>
                  <a:srgbClr val="0F766E"/>
                </a:solidFill>
                <a:latin typeface="Consolas" pitchFamily="34" charset="0"/>
                <a:ea typeface="Consolas" pitchFamily="34" charset="-122"/>
                <a:cs typeface="Consolas" pitchFamily="34" charset="-120"/>
              </a:rPr>
              <a:t>ROW_COMPAT  </a:t>
            </a:r>
            <a:r>
              <a:rPr lang="en-US" sz="950" dirty="0">
                <a:solidFill>
                  <a:srgbClr val="586274"/>
                </a:solidFill>
                <a:latin typeface="Calibri" pitchFamily="34" charset="0"/>
                <a:ea typeface="Calibri" pitchFamily="34" charset="-122"/>
                <a:cs typeface="Calibri" pitchFamily="34" charset="-120"/>
              </a:rPr>
              <a:t>— same row: links a nutrient to the values on its line.</a:t>
            </a:r>
            <a:endParaRPr lang="en-US" sz="1050" dirty="0"/>
          </a:p>
        </p:txBody>
      </p:sp>
      <p:sp>
        <p:nvSpPr>
          <p:cNvPr id="10" name="Text 8"/>
          <p:cNvSpPr/>
          <p:nvPr/>
        </p:nvSpPr>
        <p:spPr>
          <a:xfrm>
            <a:off x="566928" y="2825496"/>
            <a:ext cx="6309360" cy="566928"/>
          </a:xfrm>
          <a:prstGeom prst="roundRect">
            <a:avLst>
              <a:gd name="adj" fmla="val 8065"/>
            </a:avLst>
          </a:prstGeom>
          <a:solidFill>
            <a:srgbClr val="FFFFFF"/>
          </a:solidFill>
          <a:ln w="12700">
            <a:solidFill>
              <a:srgbClr val="E0E4EA"/>
            </a:solidFill>
          </a:ln>
        </p:spPr>
        <p:txBody>
          <a:bodyPr wrap="square" lIns="101600" tIns="101600" rIns="101600" bIns="101600" rtlCol="0" anchor="ctr"/>
          <a:lstStyle/>
          <a:p>
            <a:pPr marL="0" indent="0">
              <a:buNone/>
            </a:pPr>
            <a:r>
              <a:rPr lang="en-US" sz="1050" b="1" dirty="0">
                <a:solidFill>
                  <a:srgbClr val="2563EB"/>
                </a:solidFill>
                <a:latin typeface="Consolas" pitchFamily="34" charset="0"/>
                <a:ea typeface="Consolas" pitchFamily="34" charset="-122"/>
                <a:cs typeface="Consolas" pitchFamily="34" charset="-120"/>
              </a:rPr>
              <a:t>COL_COMPAT  </a:t>
            </a:r>
            <a:r>
              <a:rPr lang="en-US" sz="950" dirty="0">
                <a:solidFill>
                  <a:srgbClr val="586274"/>
                </a:solidFill>
                <a:latin typeface="Calibri" pitchFamily="34" charset="0"/>
                <a:ea typeface="Calibri" pitchFamily="34" charset="-122"/>
                <a:cs typeface="Calibri" pitchFamily="34" charset="-120"/>
              </a:rPr>
              <a:t>— same column: links values stacked in one column.</a:t>
            </a:r>
            <a:endParaRPr lang="en-US" sz="1050" dirty="0"/>
          </a:p>
        </p:txBody>
      </p:sp>
      <p:sp>
        <p:nvSpPr>
          <p:cNvPr id="11" name="Text 9"/>
          <p:cNvSpPr/>
          <p:nvPr/>
        </p:nvSpPr>
        <p:spPr>
          <a:xfrm>
            <a:off x="566928" y="3502152"/>
            <a:ext cx="6309360" cy="566928"/>
          </a:xfrm>
          <a:prstGeom prst="roundRect">
            <a:avLst>
              <a:gd name="adj" fmla="val 8065"/>
            </a:avLst>
          </a:prstGeom>
          <a:solidFill>
            <a:srgbClr val="FFFFFF"/>
          </a:solidFill>
          <a:ln w="12700">
            <a:solidFill>
              <a:srgbClr val="E0E4EA"/>
            </a:solidFill>
          </a:ln>
        </p:spPr>
        <p:txBody>
          <a:bodyPr wrap="square" lIns="101600" tIns="101600" rIns="101600" bIns="101600" rtlCol="0" anchor="ctr"/>
          <a:lstStyle/>
          <a:p>
            <a:pPr marL="0" indent="0">
              <a:buNone/>
            </a:pPr>
            <a:r>
              <a:rPr lang="en-US" sz="1050" b="1" dirty="0">
                <a:solidFill>
                  <a:srgbClr val="EA580C"/>
                </a:solidFill>
                <a:latin typeface="Consolas" pitchFamily="34" charset="0"/>
                <a:ea typeface="Consolas" pitchFamily="34" charset="-122"/>
                <a:cs typeface="Consolas" pitchFamily="34" charset="-120"/>
              </a:rPr>
              <a:t>DIRECTIONAL_ADJ  </a:t>
            </a:r>
            <a:r>
              <a:rPr lang="en-US" sz="950" dirty="0">
                <a:solidFill>
                  <a:srgbClr val="586274"/>
                </a:solidFill>
                <a:latin typeface="Calibri" pitchFamily="34" charset="0"/>
                <a:ea typeface="Calibri" pitchFamily="34" charset="-122"/>
                <a:cs typeface="Calibri" pitchFamily="34" charset="-120"/>
              </a:rPr>
              <a:t>— value → unit: links a number to the unit beside it.</a:t>
            </a:r>
            <a:endParaRPr lang="en-US" sz="1050" dirty="0"/>
          </a:p>
        </p:txBody>
      </p:sp>
      <p:sp>
        <p:nvSpPr>
          <p:cNvPr id="13" name="Text 11"/>
          <p:cNvSpPr/>
          <p:nvPr/>
        </p:nvSpPr>
        <p:spPr>
          <a:xfrm>
            <a:off x="566928" y="4169664"/>
            <a:ext cx="6309360" cy="566928"/>
          </a:xfrm>
          <a:prstGeom prst="roundRect">
            <a:avLst>
              <a:gd name="adj" fmla="val 8065"/>
            </a:avLst>
          </a:prstGeom>
          <a:solidFill>
            <a:srgbClr val="F5EDFB"/>
          </a:solidFill>
          <a:ln w="17780">
            <a:solidFill>
              <a:srgbClr val="9333EA"/>
            </a:solidFill>
          </a:ln>
        </p:spPr>
        <p:txBody>
          <a:bodyPr wrap="square" lIns="101600" tIns="101600" rIns="101600" bIns="101600" rtlCol="0" anchor="ctr"/>
          <a:lstStyle/>
          <a:p>
            <a:pPr marL="0" indent="0">
              <a:buNone/>
            </a:pPr>
            <a:r>
              <a:rPr lang="en-US" sz="1050" b="1" dirty="0">
                <a:solidFill>
                  <a:srgbClr val="9333EA"/>
                </a:solidFill>
                <a:latin typeface="Consolas" pitchFamily="34" charset="0"/>
                <a:ea typeface="Consolas" pitchFamily="34" charset="-122"/>
                <a:cs typeface="Consolas" pitchFamily="34" charset="-120"/>
              </a:rPr>
              <a:t>HEADER_SCOPE  </a:t>
            </a:r>
            <a:r>
              <a:rPr lang="en-US" sz="950" dirty="0">
                <a:solidFill>
                  <a:srgbClr val="586274"/>
                </a:solidFill>
                <a:latin typeface="Calibri" pitchFamily="34" charset="0"/>
                <a:ea typeface="Calibri" pitchFamily="34" charset="-122"/>
                <a:cs typeface="Calibri" pitchFamily="34" charset="-120"/>
              </a:rPr>
              <a:t>— by column: binds only its own column, so side-by-side headers (per 100 g vs per serving) stay separate. (v2 novelty)</a:t>
            </a:r>
            <a:endParaRPr lang="en-US" sz="1050" dirty="0"/>
          </a:p>
        </p:txBody>
      </p:sp>
      <p:sp>
        <p:nvSpPr>
          <p:cNvPr id="14" name="Text 12"/>
          <p:cNvSpPr/>
          <p:nvPr/>
        </p:nvSpPr>
        <p:spPr>
          <a:xfrm>
            <a:off x="566928" y="5550408"/>
            <a:ext cx="6309360" cy="548640"/>
          </a:xfrm>
          <a:prstGeom prst="rect">
            <a:avLst/>
          </a:prstGeom>
          <a:noFill/>
          <a:ln/>
        </p:spPr>
        <p:txBody>
          <a:bodyPr wrap="square" rtlCol="0" anchor="t"/>
          <a:lstStyle/>
          <a:p>
            <a:pPr marL="0" indent="0">
              <a:lnSpc>
                <a:spcPct val="110000"/>
              </a:lnSpc>
              <a:buNone/>
            </a:pPr>
            <a:r>
              <a:rPr lang="en-US" sz="1000" b="1" dirty="0">
                <a:solidFill>
                  <a:srgbClr val="161B24"/>
                </a:solidFill>
                <a:latin typeface="Calibri" pitchFamily="34" charset="0"/>
                <a:ea typeface="Calibri" pitchFamily="34" charset="-122"/>
                <a:cs typeface="Calibri" pitchFamily="34" charset="-120"/>
              </a:rPr>
              <a:t>Associator extensions:  </a:t>
            </a:r>
            <a:r>
              <a:rPr lang="en-US" sz="1000" dirty="0">
                <a:solidFill>
                  <a:srgbClr val="586274"/>
                </a:solidFill>
                <a:latin typeface="Calibri" pitchFamily="34" charset="0"/>
                <a:ea typeface="Calibri" pitchFamily="34" charset="-122"/>
                <a:cs typeface="Calibri" pitchFamily="34" charset="-120"/>
              </a:rPr>
              <a:t>per-quantity context · dosage-stream matching · unit refinement · energy-aware filtering (kJ/kcal).</a:t>
            </a:r>
            <a:endParaRPr lang="en-US" sz="1000" dirty="0"/>
          </a:p>
        </p:txBody>
      </p:sp>
      <p:sp>
        <p:nvSpPr>
          <p:cNvPr id="15" name="Shape 13"/>
          <p:cNvSpPr/>
          <p:nvPr/>
        </p:nvSpPr>
        <p:spPr>
          <a:xfrm>
            <a:off x="7086600" y="1828800"/>
            <a:ext cx="4526280" cy="3017520"/>
          </a:xfrm>
          <a:prstGeom prst="roundRect">
            <a:avLst>
              <a:gd name="adj" fmla="val 1212"/>
            </a:avLst>
          </a:prstGeom>
          <a:solidFill>
            <a:srgbClr val="FFFFFF"/>
          </a:solidFill>
          <a:ln w="12700">
            <a:solidFill>
              <a:srgbClr val="E0E4EA"/>
            </a:solidFill>
            <a:prstDash val="solid"/>
          </a:ln>
        </p:spPr>
        <p:txBody>
          <a:bodyPr/>
          <a:lstStyle/>
          <a:p>
            <a:endParaRPr lang="en-US"/>
          </a:p>
        </p:txBody>
      </p:sp>
      <p:pic>
        <p:nvPicPr>
          <p:cNvPr id="16" name="Image 0" descr="preencoded.png"/>
          <p:cNvPicPr>
            <a:picLocks noChangeAspect="1"/>
          </p:cNvPicPr>
          <p:nvPr/>
        </p:nvPicPr>
        <p:blipFill>
          <a:blip r:embed="rId3"/>
          <a:srcRect/>
          <a:stretch/>
        </p:blipFill>
        <p:spPr>
          <a:xfrm>
            <a:off x="7159752" y="1894903"/>
            <a:ext cx="4379976" cy="2871216"/>
          </a:xfrm>
          <a:prstGeom prst="rect">
            <a:avLst/>
          </a:prstGeom>
        </p:spPr>
      </p:pic>
      <p:sp>
        <p:nvSpPr>
          <p:cNvPr id="17" name="Text 14"/>
          <p:cNvSpPr/>
          <p:nvPr/>
        </p:nvSpPr>
        <p:spPr>
          <a:xfrm>
            <a:off x="7086600" y="4892040"/>
            <a:ext cx="4526280" cy="457200"/>
          </a:xfrm>
          <a:prstGeom prst="rect">
            <a:avLst/>
          </a:prstGeom>
          <a:noFill/>
          <a:ln/>
        </p:spPr>
        <p:txBody>
          <a:bodyPr wrap="square" rtlCol="0" anchor="ctr"/>
          <a:lstStyle/>
          <a:p>
            <a:pPr marL="0" indent="0" algn="ctr">
              <a:lnSpc>
                <a:spcPct val="110000"/>
              </a:lnSpc>
              <a:buNone/>
            </a:pPr>
            <a:r>
              <a:rPr lang="en-US" sz="800" dirty="0">
                <a:solidFill>
                  <a:srgbClr val="959DAB"/>
                </a:solidFill>
                <a:latin typeface="Consolas" pitchFamily="34" charset="0"/>
                <a:ea typeface="Consolas" pitchFamily="34" charset="-122"/>
                <a:cs typeface="Consolas" pitchFamily="34" charset="-120"/>
              </a:rPr>
              <a:t>Fig. 3.5 — graph v1 (header reaches nutrients only) vs graph v2 (header bound to its own column)</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21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07 · AXIS 3 — CHOOSING THE ROW RULE</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How we arrived at the row edge: an incremental story</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17904"/>
            <a:ext cx="11055096" cy="457200"/>
          </a:xfrm>
          <a:prstGeom prst="rect">
            <a:avLst/>
          </a:prstGeom>
          <a:noFill/>
          <a:ln/>
        </p:spPr>
        <p:txBody>
          <a:bodyPr wrap="square" rtlCol="0" anchor="t"/>
          <a:lstStyle/>
          <a:p>
            <a:pPr marL="0" indent="0">
              <a:lnSpc>
                <a:spcPct val="110000"/>
              </a:lnSpc>
              <a:buNone/>
            </a:pPr>
            <a:r>
              <a:rPr lang="en-US" sz="1150" dirty="0">
                <a:solidFill>
                  <a:srgbClr val="586274"/>
                </a:solidFill>
                <a:latin typeface="Calibri" pitchFamily="34" charset="0"/>
                <a:ea typeface="Calibri" pitchFamily="34" charset="-122"/>
                <a:cs typeface="Calibri" pitchFamily="34" charset="-120"/>
              </a:rPr>
              <a:t>The ROW_COMPAT edge decides which quantity belongs to which nutrient. We did not start at the answer — we got there by ruling options out.</a:t>
            </a:r>
            <a:endParaRPr lang="en-US" sz="1150" dirty="0"/>
          </a:p>
        </p:txBody>
      </p:sp>
      <p:sp>
        <p:nvSpPr>
          <p:cNvPr id="9" name="Text 7"/>
          <p:cNvSpPr/>
          <p:nvPr/>
        </p:nvSpPr>
        <p:spPr>
          <a:xfrm>
            <a:off x="566928" y="2240280"/>
            <a:ext cx="2542032" cy="2011680"/>
          </a:xfrm>
          <a:prstGeom prst="roundRect">
            <a:avLst>
              <a:gd name="adj" fmla="val 2727"/>
            </a:avLst>
          </a:prstGeom>
          <a:solidFill>
            <a:srgbClr val="FFFFFF"/>
          </a:solidFill>
          <a:ln w="16510">
            <a:solidFill>
              <a:srgbClr val="586274"/>
            </a:solidFill>
          </a:ln>
        </p:spPr>
        <p:txBody>
          <a:bodyPr wrap="square" lIns="114300" tIns="114300" rIns="114300" bIns="114300" rtlCol="0" anchor="t"/>
          <a:lstStyle/>
          <a:p>
            <a:pPr marL="0" indent="0">
              <a:lnSpc>
                <a:spcPct val="108000"/>
              </a:lnSpc>
              <a:buNone/>
            </a:pPr>
            <a:r>
              <a:rPr lang="en-US" sz="1200" b="1" dirty="0">
                <a:solidFill>
                  <a:srgbClr val="161B24"/>
                </a:solidFill>
                <a:latin typeface="Consolas" pitchFamily="34" charset="0"/>
                <a:ea typeface="Consolas" pitchFamily="34" charset="-122"/>
                <a:cs typeface="Consolas" pitchFamily="34" charset="-120"/>
              </a:rPr>
              <a:t>1 · cy
</a:t>
            </a:r>
            <a:endParaRPr lang="en-US" sz="1200" dirty="0"/>
          </a:p>
          <a:p>
            <a:pPr marL="0" indent="0">
              <a:lnSpc>
                <a:spcPct val="108000"/>
              </a:lnSpc>
              <a:buNone/>
            </a:pPr>
            <a:r>
              <a:rPr lang="en-US" sz="900" dirty="0">
                <a:solidFill>
                  <a:srgbClr val="959DAB"/>
                </a:solidFill>
                <a:latin typeface="Consolas" pitchFamily="34" charset="0"/>
                <a:ea typeface="Consolas" pitchFamily="34" charset="-122"/>
                <a:cs typeface="Consolas" pitchFamily="34" charset="-120"/>
              </a:rPr>
              <a:t>geometric centre
</a:t>
            </a:r>
            <a:endParaRPr lang="en-US" sz="1200" dirty="0"/>
          </a:p>
          <a:p>
            <a:pPr marL="0" indent="0">
              <a:lnSpc>
                <a:spcPct val="108000"/>
              </a:lnSpc>
              <a:buNone/>
            </a:pPr>
            <a:r>
              <a:rPr lang="en-US" sz="1000" dirty="0">
                <a:solidFill>
                  <a:srgbClr val="586274"/>
                </a:solidFill>
                <a:latin typeface="Calibri" pitchFamily="34" charset="0"/>
                <a:ea typeface="Calibri" pitchFamily="34" charset="-122"/>
                <a:cs typeface="Calibri" pitchFamily="34" charset="-120"/>
              </a:rPr>
              <a:t>Link tokens whose vertical centres are within ≈25 px. Simple and strong — but the band is a fixed pixel threshold.</a:t>
            </a:r>
            <a:endParaRPr lang="en-US" sz="1200" dirty="0"/>
          </a:p>
        </p:txBody>
      </p:sp>
      <p:sp>
        <p:nvSpPr>
          <p:cNvPr id="10" name="Text 8"/>
          <p:cNvSpPr/>
          <p:nvPr/>
        </p:nvSpPr>
        <p:spPr>
          <a:xfrm>
            <a:off x="566928" y="4297680"/>
            <a:ext cx="2542032" cy="365760"/>
          </a:xfrm>
          <a:prstGeom prst="rect">
            <a:avLst/>
          </a:prstGeom>
          <a:noFill/>
          <a:ln/>
        </p:spPr>
        <p:txBody>
          <a:bodyPr wrap="square" rtlCol="0" anchor="ctr"/>
          <a:lstStyle/>
          <a:p>
            <a:pPr marL="0" indent="0" algn="ctr">
              <a:buNone/>
            </a:pPr>
            <a:r>
              <a:rPr lang="en-US" sz="1200" b="1" dirty="0">
                <a:solidFill>
                  <a:srgbClr val="586274"/>
                </a:solidFill>
                <a:latin typeface="Georgia" pitchFamily="34" charset="0"/>
                <a:ea typeface="Georgia" pitchFamily="34" charset="-122"/>
                <a:cs typeface="Georgia" pitchFamily="34" charset="-120"/>
              </a:rPr>
              <a:t>38.6% 4F-F1</a:t>
            </a:r>
            <a:endParaRPr lang="en-US" sz="1200" dirty="0"/>
          </a:p>
        </p:txBody>
      </p:sp>
      <p:sp>
        <p:nvSpPr>
          <p:cNvPr id="11" name="Text 9"/>
          <p:cNvSpPr/>
          <p:nvPr/>
        </p:nvSpPr>
        <p:spPr>
          <a:xfrm>
            <a:off x="3374136" y="2240280"/>
            <a:ext cx="2542032" cy="2011680"/>
          </a:xfrm>
          <a:prstGeom prst="roundRect">
            <a:avLst>
              <a:gd name="adj" fmla="val 2727"/>
            </a:avLst>
          </a:prstGeom>
          <a:solidFill>
            <a:srgbClr val="FFFFFF"/>
          </a:solidFill>
          <a:ln w="16510">
            <a:solidFill>
              <a:srgbClr val="DC2626"/>
            </a:solidFill>
          </a:ln>
        </p:spPr>
        <p:txBody>
          <a:bodyPr wrap="square" lIns="114300" tIns="114300" rIns="114300" bIns="114300" rtlCol="0" anchor="t"/>
          <a:lstStyle/>
          <a:p>
            <a:pPr marL="0" indent="0">
              <a:lnSpc>
                <a:spcPct val="108000"/>
              </a:lnSpc>
              <a:buNone/>
            </a:pPr>
            <a:r>
              <a:rPr lang="en-US" sz="1200" b="1" dirty="0">
                <a:solidFill>
                  <a:srgbClr val="161B24"/>
                </a:solidFill>
                <a:latin typeface="Consolas" pitchFamily="34" charset="0"/>
                <a:ea typeface="Consolas" pitchFamily="34" charset="-122"/>
                <a:cs typeface="Consolas" pitchFamily="34" charset="-120"/>
              </a:rPr>
              <a:t>2 · role_rank
</a:t>
            </a:r>
            <a:endParaRPr lang="en-US" sz="1200" dirty="0"/>
          </a:p>
          <a:p>
            <a:pPr marL="0" indent="0">
              <a:lnSpc>
                <a:spcPct val="108000"/>
              </a:lnSpc>
              <a:buNone/>
            </a:pPr>
            <a:r>
              <a:rPr lang="en-US" sz="900" dirty="0">
                <a:solidFill>
                  <a:srgbClr val="959DAB"/>
                </a:solidFill>
                <a:latin typeface="Consolas" pitchFamily="34" charset="0"/>
                <a:ea typeface="Consolas" pitchFamily="34" charset="-122"/>
                <a:cs typeface="Consolas" pitchFamily="34" charset="-120"/>
              </a:rPr>
              <a:t>structural ordinal
</a:t>
            </a:r>
            <a:endParaRPr lang="en-US" sz="1200" dirty="0"/>
          </a:p>
          <a:p>
            <a:pPr marL="0" indent="0">
              <a:lnSpc>
                <a:spcPct val="108000"/>
              </a:lnSpc>
              <a:buNone/>
            </a:pPr>
            <a:r>
              <a:rPr lang="en-US" sz="1000" dirty="0">
                <a:solidFill>
                  <a:srgbClr val="586274"/>
                </a:solidFill>
                <a:latin typeface="Calibri" pitchFamily="34" charset="0"/>
                <a:ea typeface="Calibri" pitchFamily="34" charset="-122"/>
                <a:cs typeface="Calibri" pitchFamily="34" charset="-120"/>
              </a:rPr>
              <a:t>Wanted a rule free of rotation / curved tables: pair the k-th nutrient with the k-th quantity by position. No geometry needed.</a:t>
            </a:r>
            <a:endParaRPr lang="en-US" sz="1200" dirty="0"/>
          </a:p>
        </p:txBody>
      </p:sp>
      <p:sp>
        <p:nvSpPr>
          <p:cNvPr id="12" name="Text 10"/>
          <p:cNvSpPr/>
          <p:nvPr/>
        </p:nvSpPr>
        <p:spPr>
          <a:xfrm>
            <a:off x="3355848" y="4297680"/>
            <a:ext cx="2542032" cy="365760"/>
          </a:xfrm>
          <a:prstGeom prst="rect">
            <a:avLst/>
          </a:prstGeom>
          <a:noFill/>
          <a:ln/>
        </p:spPr>
        <p:txBody>
          <a:bodyPr wrap="square" rtlCol="0" anchor="ctr"/>
          <a:lstStyle/>
          <a:p>
            <a:pPr marL="0" indent="0" algn="ctr">
              <a:buNone/>
            </a:pPr>
            <a:r>
              <a:rPr lang="en-US" sz="1200" b="1" dirty="0">
                <a:solidFill>
                  <a:srgbClr val="DC2626"/>
                </a:solidFill>
                <a:latin typeface="Georgia" pitchFamily="34" charset="0"/>
                <a:ea typeface="Georgia" pitchFamily="34" charset="-122"/>
                <a:cs typeface="Georgia" pitchFamily="34" charset="-120"/>
              </a:rPr>
              <a:t>13.2% — failed</a:t>
            </a:r>
            <a:endParaRPr lang="en-US" sz="1200" dirty="0"/>
          </a:p>
        </p:txBody>
      </p:sp>
      <p:sp>
        <p:nvSpPr>
          <p:cNvPr id="13" name="Text 11"/>
          <p:cNvSpPr/>
          <p:nvPr/>
        </p:nvSpPr>
        <p:spPr>
          <a:xfrm>
            <a:off x="6144768" y="2240280"/>
            <a:ext cx="2542032" cy="2011680"/>
          </a:xfrm>
          <a:prstGeom prst="roundRect">
            <a:avLst>
              <a:gd name="adj" fmla="val 2727"/>
            </a:avLst>
          </a:prstGeom>
          <a:solidFill>
            <a:srgbClr val="FFFFFF"/>
          </a:solidFill>
          <a:ln w="16510">
            <a:solidFill>
              <a:srgbClr val="DC2626"/>
            </a:solidFill>
          </a:ln>
        </p:spPr>
        <p:txBody>
          <a:bodyPr wrap="square" lIns="114300" tIns="114300" rIns="114300" bIns="114300" rtlCol="0" anchor="t"/>
          <a:lstStyle/>
          <a:p>
            <a:pPr marL="0" indent="0">
              <a:lnSpc>
                <a:spcPct val="108000"/>
              </a:lnSpc>
              <a:buNone/>
            </a:pPr>
            <a:r>
              <a:rPr lang="en-US" sz="1200" b="1" dirty="0">
                <a:solidFill>
                  <a:srgbClr val="161B24"/>
                </a:solidFill>
                <a:latin typeface="Consolas" pitchFamily="34" charset="0"/>
                <a:ea typeface="Consolas" pitchFamily="34" charset="-122"/>
                <a:cs typeface="Consolas" pitchFamily="34" charset="-120"/>
              </a:rPr>
              <a:t>3 · cy ∪ role_rank
</a:t>
            </a:r>
            <a:endParaRPr lang="en-US" sz="1200" dirty="0"/>
          </a:p>
          <a:p>
            <a:pPr marL="0" indent="0">
              <a:lnSpc>
                <a:spcPct val="108000"/>
              </a:lnSpc>
              <a:buNone/>
            </a:pPr>
            <a:r>
              <a:rPr lang="en-US" sz="900" dirty="0">
                <a:solidFill>
                  <a:srgbClr val="959DAB"/>
                </a:solidFill>
                <a:latin typeface="Consolas" pitchFamily="34" charset="0"/>
                <a:ea typeface="Consolas" pitchFamily="34" charset="-122"/>
                <a:cs typeface="Consolas" pitchFamily="34" charset="-120"/>
              </a:rPr>
              <a:t>late-fusion merge
</a:t>
            </a:r>
            <a:endParaRPr lang="en-US" sz="1200" dirty="0"/>
          </a:p>
          <a:p>
            <a:pPr marL="0" indent="0">
              <a:lnSpc>
                <a:spcPct val="108000"/>
              </a:lnSpc>
              <a:buNone/>
            </a:pPr>
            <a:r>
              <a:rPr lang="en-US" sz="1000" dirty="0">
                <a:solidFill>
                  <a:srgbClr val="586274"/>
                </a:solidFill>
                <a:latin typeface="Calibri" pitchFamily="34" charset="0"/>
                <a:ea typeface="Calibri" pitchFamily="34" charset="-122"/>
                <a:cs typeface="Calibri" pitchFamily="34" charset="-120"/>
              </a:rPr>
              <a:t>Keep cy, add only role_rank’s unique tuples to recover missed rows. The benefit was not worth the cost.</a:t>
            </a:r>
            <a:endParaRPr lang="en-US" sz="1200" dirty="0"/>
          </a:p>
        </p:txBody>
      </p:sp>
      <p:sp>
        <p:nvSpPr>
          <p:cNvPr id="14" name="Text 12"/>
          <p:cNvSpPr/>
          <p:nvPr/>
        </p:nvSpPr>
        <p:spPr>
          <a:xfrm>
            <a:off x="6144768" y="4297680"/>
            <a:ext cx="2542032" cy="365760"/>
          </a:xfrm>
          <a:prstGeom prst="rect">
            <a:avLst/>
          </a:prstGeom>
          <a:noFill/>
          <a:ln/>
        </p:spPr>
        <p:txBody>
          <a:bodyPr wrap="square" rtlCol="0" anchor="ctr"/>
          <a:lstStyle/>
          <a:p>
            <a:pPr marL="0" indent="0" algn="ctr">
              <a:buNone/>
            </a:pPr>
            <a:r>
              <a:rPr lang="en-US" sz="1200" b="1" dirty="0">
                <a:solidFill>
                  <a:srgbClr val="DC2626"/>
                </a:solidFill>
                <a:latin typeface="Georgia" pitchFamily="34" charset="0"/>
                <a:ea typeface="Georgia" pitchFamily="34" charset="-122"/>
                <a:cs typeface="Georgia" pitchFamily="34" charset="-120"/>
              </a:rPr>
              <a:t>31.9% — worse</a:t>
            </a:r>
            <a:endParaRPr lang="en-US" sz="1200" dirty="0"/>
          </a:p>
        </p:txBody>
      </p:sp>
      <p:sp>
        <p:nvSpPr>
          <p:cNvPr id="15" name="Text 13"/>
          <p:cNvSpPr/>
          <p:nvPr/>
        </p:nvSpPr>
        <p:spPr>
          <a:xfrm>
            <a:off x="8933688" y="2240280"/>
            <a:ext cx="2542032" cy="2011680"/>
          </a:xfrm>
          <a:prstGeom prst="roundRect">
            <a:avLst>
              <a:gd name="adj" fmla="val 2727"/>
            </a:avLst>
          </a:prstGeom>
          <a:solidFill>
            <a:srgbClr val="EAF2F1"/>
          </a:solidFill>
          <a:ln w="16510">
            <a:solidFill>
              <a:srgbClr val="0F766E"/>
            </a:solidFill>
          </a:ln>
        </p:spPr>
        <p:txBody>
          <a:bodyPr wrap="square" lIns="114300" tIns="114300" rIns="114300" bIns="114300" rtlCol="0" anchor="t"/>
          <a:lstStyle/>
          <a:p>
            <a:pPr marL="0" indent="0">
              <a:lnSpc>
                <a:spcPct val="108000"/>
              </a:lnSpc>
              <a:buNone/>
            </a:pPr>
            <a:r>
              <a:rPr lang="en-US" sz="1200" b="1" dirty="0">
                <a:solidFill>
                  <a:srgbClr val="161B24"/>
                </a:solidFill>
                <a:latin typeface="Consolas" pitchFamily="34" charset="0"/>
                <a:ea typeface="Consolas" pitchFamily="34" charset="-122"/>
                <a:cs typeface="Consolas" pitchFamily="34" charset="-120"/>
              </a:rPr>
              <a:t>4 · overlap
</a:t>
            </a:r>
            <a:endParaRPr lang="en-US" sz="1200" dirty="0"/>
          </a:p>
          <a:p>
            <a:pPr marL="0" indent="0">
              <a:lnSpc>
                <a:spcPct val="108000"/>
              </a:lnSpc>
              <a:buNone/>
            </a:pPr>
            <a:r>
              <a:rPr lang="en-US" sz="900" dirty="0">
                <a:solidFill>
                  <a:srgbClr val="959DAB"/>
                </a:solidFill>
                <a:latin typeface="Consolas" pitchFamily="34" charset="0"/>
                <a:ea typeface="Consolas" pitchFamily="34" charset="-122"/>
                <a:cs typeface="Consolas" pitchFamily="34" charset="-120"/>
              </a:rPr>
              <a:t>geometric ratio
</a:t>
            </a:r>
            <a:endParaRPr lang="en-US" sz="1200" dirty="0"/>
          </a:p>
          <a:p>
            <a:pPr marL="0" indent="0">
              <a:lnSpc>
                <a:spcPct val="108000"/>
              </a:lnSpc>
              <a:buNone/>
            </a:pPr>
            <a:r>
              <a:rPr lang="en-US" sz="1000" dirty="0">
                <a:solidFill>
                  <a:srgbClr val="586274"/>
                </a:solidFill>
                <a:latin typeface="Calibri" pitchFamily="34" charset="0"/>
                <a:ea typeface="Calibri" pitchFamily="34" charset="-122"/>
                <a:cs typeface="Calibri" pitchFamily="34" charset="-120"/>
              </a:rPr>
              <a:t>cy’s threshold is resolution-dependent. Replace the pixel band with a scale-free ratio: shared vertical extent ≥ 0.30 of the shorter span.</a:t>
            </a:r>
            <a:endParaRPr lang="en-US" sz="1200" dirty="0"/>
          </a:p>
        </p:txBody>
      </p:sp>
      <p:sp>
        <p:nvSpPr>
          <p:cNvPr id="16" name="Text 14"/>
          <p:cNvSpPr/>
          <p:nvPr/>
        </p:nvSpPr>
        <p:spPr>
          <a:xfrm>
            <a:off x="8933688" y="4297680"/>
            <a:ext cx="2542032" cy="365760"/>
          </a:xfrm>
          <a:prstGeom prst="rect">
            <a:avLst/>
          </a:prstGeom>
          <a:noFill/>
          <a:ln/>
        </p:spPr>
        <p:txBody>
          <a:bodyPr wrap="square" rtlCol="0" anchor="ctr"/>
          <a:lstStyle/>
          <a:p>
            <a:pPr marL="0" indent="0" algn="ctr">
              <a:buNone/>
            </a:pPr>
            <a:r>
              <a:rPr lang="en-US" sz="1200" b="1" dirty="0">
                <a:solidFill>
                  <a:srgbClr val="0F766E"/>
                </a:solidFill>
                <a:latin typeface="Georgia" pitchFamily="34" charset="0"/>
                <a:ea typeface="Georgia" pitchFamily="34" charset="-122"/>
                <a:cs typeface="Georgia" pitchFamily="34" charset="-120"/>
              </a:rPr>
              <a:t>42.3% — best</a:t>
            </a:r>
            <a:endParaRPr lang="en-US" sz="1200" dirty="0"/>
          </a:p>
        </p:txBody>
      </p:sp>
      <p:sp>
        <p:nvSpPr>
          <p:cNvPr id="17" name="Text 15"/>
          <p:cNvSpPr/>
          <p:nvPr/>
        </p:nvSpPr>
        <p:spPr>
          <a:xfrm>
            <a:off x="3127248" y="3154680"/>
            <a:ext cx="210312" cy="457200"/>
          </a:xfrm>
          <a:prstGeom prst="rect">
            <a:avLst/>
          </a:prstGeom>
          <a:noFill/>
          <a:ln/>
        </p:spPr>
        <p:txBody>
          <a:bodyPr wrap="square" rtlCol="0" anchor="ctr"/>
          <a:lstStyle/>
          <a:p>
            <a:pPr marL="0" indent="0" algn="ctr">
              <a:buNone/>
            </a:pPr>
            <a:r>
              <a:rPr lang="en-US" sz="1800" dirty="0">
                <a:solidFill>
                  <a:srgbClr val="959DAB"/>
                </a:solidFill>
              </a:rPr>
              <a:t>→</a:t>
            </a:r>
            <a:endParaRPr lang="en-US" sz="1800" dirty="0"/>
          </a:p>
        </p:txBody>
      </p:sp>
      <p:sp>
        <p:nvSpPr>
          <p:cNvPr id="18" name="Text 16"/>
          <p:cNvSpPr/>
          <p:nvPr/>
        </p:nvSpPr>
        <p:spPr>
          <a:xfrm>
            <a:off x="5916168" y="3154680"/>
            <a:ext cx="210312" cy="457200"/>
          </a:xfrm>
          <a:prstGeom prst="rect">
            <a:avLst/>
          </a:prstGeom>
          <a:noFill/>
          <a:ln/>
        </p:spPr>
        <p:txBody>
          <a:bodyPr wrap="square" rtlCol="0" anchor="ctr"/>
          <a:lstStyle/>
          <a:p>
            <a:pPr marL="0" indent="0" algn="ctr">
              <a:buNone/>
            </a:pPr>
            <a:r>
              <a:rPr lang="en-US" sz="1800" dirty="0">
                <a:solidFill>
                  <a:srgbClr val="959DAB"/>
                </a:solidFill>
              </a:rPr>
              <a:t>→</a:t>
            </a:r>
            <a:endParaRPr lang="en-US" sz="1800" dirty="0"/>
          </a:p>
        </p:txBody>
      </p:sp>
      <p:sp>
        <p:nvSpPr>
          <p:cNvPr id="19" name="Text 17"/>
          <p:cNvSpPr/>
          <p:nvPr/>
        </p:nvSpPr>
        <p:spPr>
          <a:xfrm>
            <a:off x="8705088" y="3154680"/>
            <a:ext cx="210312" cy="457200"/>
          </a:xfrm>
          <a:prstGeom prst="rect">
            <a:avLst/>
          </a:prstGeom>
          <a:noFill/>
          <a:ln/>
        </p:spPr>
        <p:txBody>
          <a:bodyPr wrap="square" rtlCol="0" anchor="ctr"/>
          <a:lstStyle/>
          <a:p>
            <a:pPr marL="0" indent="0" algn="ctr">
              <a:buNone/>
            </a:pPr>
            <a:r>
              <a:rPr lang="en-US" sz="1800" dirty="0">
                <a:solidFill>
                  <a:srgbClr val="959DAB"/>
                </a:solidFill>
              </a:rPr>
              <a:t>→</a:t>
            </a:r>
            <a:endParaRPr lang="en-US" sz="1800" dirty="0"/>
          </a:p>
        </p:txBody>
      </p:sp>
      <p:sp>
        <p:nvSpPr>
          <p:cNvPr id="20" name="Text 18"/>
          <p:cNvSpPr/>
          <p:nvPr/>
        </p:nvSpPr>
        <p:spPr>
          <a:xfrm>
            <a:off x="566928" y="4818888"/>
            <a:ext cx="11055096" cy="566928"/>
          </a:xfrm>
          <a:prstGeom prst="roundRect">
            <a:avLst>
              <a:gd name="adj" fmla="val 8065"/>
            </a:avLst>
          </a:prstGeom>
          <a:solidFill>
            <a:srgbClr val="EAF2F1"/>
          </a:solidFill>
          <a:ln/>
        </p:spPr>
        <p:txBody>
          <a:bodyPr wrap="square" lIns="139700" tIns="139700" rIns="139700" bIns="139700" rtlCol="0" anchor="ctr"/>
          <a:lstStyle/>
          <a:p>
            <a:pPr marL="0" indent="0">
              <a:lnSpc>
                <a:spcPct val="108000"/>
              </a:lnSpc>
              <a:buNone/>
            </a:pPr>
            <a:r>
              <a:rPr lang="en-US" sz="1200" dirty="0">
                <a:solidFill>
                  <a:srgbClr val="586274"/>
                </a:solidFill>
                <a:latin typeface="Calibri" pitchFamily="34" charset="0"/>
                <a:ea typeface="Calibri" pitchFamily="34" charset="-122"/>
                <a:cs typeface="Calibri" pitchFamily="34" charset="-120"/>
              </a:rPr>
              <a:t>The thesis keeps all four as an ablation — the journey is the argument: </a:t>
            </a:r>
            <a:r>
              <a:rPr lang="en-US" sz="1200" b="1" dirty="0">
                <a:solidFill>
                  <a:srgbClr val="161B24"/>
                </a:solidFill>
                <a:latin typeface="Calibri" pitchFamily="34" charset="0"/>
                <a:ea typeface="Calibri" pitchFamily="34" charset="-122"/>
                <a:cs typeface="Calibri" pitchFamily="34" charset="-120"/>
              </a:rPr>
              <a:t>geometric row detection is a necessary component, not an interchangeable choice.</a:t>
            </a:r>
            <a:endParaRPr lang="en-US" sz="1200" dirty="0"/>
          </a:p>
        </p:txBody>
      </p:sp>
      <p:sp>
        <p:nvSpPr>
          <p:cNvPr id="21" name="Shape 19"/>
          <p:cNvSpPr/>
          <p:nvPr/>
        </p:nvSpPr>
        <p:spPr>
          <a:xfrm>
            <a:off x="566928" y="4818888"/>
            <a:ext cx="64008" cy="566928"/>
          </a:xfrm>
          <a:prstGeom prst="rect">
            <a:avLst/>
          </a:prstGeom>
          <a:solidFill>
            <a:srgbClr val="0F766E"/>
          </a:solidFill>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22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07 · AXIS 3 — WHY ROLE_RANK (AND THE MERGE) FAIL</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 role_rank breaks on quantity; merging only adds false positives</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Shape 6"/>
          <p:cNvSpPr/>
          <p:nvPr/>
        </p:nvSpPr>
        <p:spPr>
          <a:xfrm>
            <a:off x="566928" y="1627632"/>
            <a:ext cx="5532120" cy="4114800"/>
          </a:xfrm>
          <a:prstGeom prst="roundRect">
            <a:avLst>
              <a:gd name="adj" fmla="val 889"/>
            </a:avLst>
          </a:prstGeom>
          <a:solidFill>
            <a:srgbClr val="FFFFFF"/>
          </a:solidFill>
          <a:ln w="12700">
            <a:solidFill>
              <a:srgbClr val="E0E4EA"/>
            </a:solidFill>
            <a:prstDash val="solid"/>
          </a:ln>
        </p:spPr>
        <p:txBody>
          <a:bodyPr/>
          <a:lstStyle/>
          <a:p>
            <a:endParaRPr lang="en-US"/>
          </a:p>
        </p:txBody>
      </p:sp>
      <p:pic>
        <p:nvPicPr>
          <p:cNvPr id="9" name="Image 0" descr="preencoded.png"/>
          <p:cNvPicPr>
            <a:picLocks noChangeAspect="1"/>
          </p:cNvPicPr>
          <p:nvPr/>
        </p:nvPicPr>
        <p:blipFill>
          <a:blip r:embed="rId3"/>
          <a:srcRect/>
          <a:stretch/>
        </p:blipFill>
        <p:spPr>
          <a:xfrm>
            <a:off x="640080" y="1700784"/>
            <a:ext cx="5385816" cy="3968496"/>
          </a:xfrm>
          <a:prstGeom prst="rect">
            <a:avLst/>
          </a:prstGeom>
        </p:spPr>
      </p:pic>
      <p:sp>
        <p:nvSpPr>
          <p:cNvPr id="10" name="Text 7"/>
          <p:cNvSpPr/>
          <p:nvPr/>
        </p:nvSpPr>
        <p:spPr>
          <a:xfrm>
            <a:off x="566928" y="5760720"/>
            <a:ext cx="5532120" cy="365760"/>
          </a:xfrm>
          <a:prstGeom prst="rect">
            <a:avLst/>
          </a:prstGeom>
          <a:noFill/>
          <a:ln/>
        </p:spPr>
        <p:txBody>
          <a:bodyPr wrap="square" rtlCol="0" anchor="ctr"/>
          <a:lstStyle/>
          <a:p>
            <a:pPr marL="0" indent="0" algn="ctr">
              <a:buNone/>
            </a:pPr>
            <a:r>
              <a:rPr lang="en-US" sz="800" dirty="0">
                <a:solidFill>
                  <a:srgbClr val="959DAB"/>
                </a:solidFill>
                <a:latin typeface="Consolas" pitchFamily="34" charset="0"/>
                <a:ea typeface="Consolas" pitchFamily="34" charset="-122"/>
                <a:cs typeface="Consolas" pitchFamily="34" charset="-120"/>
              </a:rPr>
              <a:t>Fig. 3.6 — the four row modes on a dropped-quantity row (q₂ for Fat missing)</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39228724"/>
              </p:ext>
            </p:extLst>
          </p:nvPr>
        </p:nvGraphicFramePr>
        <p:xfrm>
          <a:off x="6400800" y="1691640"/>
          <a:ext cx="5669280" cy="1005840"/>
        </p:xfrm>
        <a:graphic>
          <a:graphicData uri="http://schemas.openxmlformats.org/drawingml/2006/table">
            <a:tbl>
              <a:tblPr/>
              <a:tblGrid>
                <a:gridCol w="22860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0">
                <a:tc>
                  <a:txBody>
                    <a:bodyPr/>
                    <a:lstStyle/>
                    <a:p>
                      <a:pPr marL="0" indent="0" algn="l">
                        <a:buNone/>
                      </a:pPr>
                      <a:r>
                        <a:rPr lang="en-US" sz="1050" b="1" dirty="0">
                          <a:solidFill>
                            <a:srgbClr val="586274"/>
                          </a:solidFill>
                          <a:latin typeface="Georgia" pitchFamily="34" charset="0"/>
                          <a:ea typeface="Georgia" pitchFamily="34" charset="-122"/>
                          <a:cs typeface="Georgia" pitchFamily="34" charset="-120"/>
                        </a:rPr>
                        <a:t>Row mode</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Qty</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Unit</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4F-F1</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Hits</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cy  (geometric)</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76.3%</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82.4%</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b="1" dirty="0">
                          <a:solidFill>
                            <a:srgbClr val="0F766E"/>
                          </a:solidFill>
                          <a:latin typeface="Consolas" pitchFamily="34" charset="0"/>
                          <a:ea typeface="Consolas" pitchFamily="34" charset="-122"/>
                          <a:cs typeface="Consolas" pitchFamily="34" charset="-120"/>
                        </a:rPr>
                        <a:t>38.6%</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353</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role_rank</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DC2626"/>
                          </a:solidFill>
                          <a:latin typeface="Consolas" pitchFamily="34" charset="0"/>
                          <a:ea typeface="Consolas" pitchFamily="34" charset="-122"/>
                          <a:cs typeface="Consolas" pitchFamily="34" charset="-120"/>
                        </a:rPr>
                        <a:t>29.0%</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62.1%</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DC2626"/>
                          </a:solidFill>
                          <a:latin typeface="Consolas" pitchFamily="34" charset="0"/>
                          <a:ea typeface="Consolas" pitchFamily="34" charset="-122"/>
                          <a:cs typeface="Consolas" pitchFamily="34" charset="-120"/>
                        </a:rPr>
                        <a:t>13.2%</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103</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cy ∪ role_rank</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73.9%</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79.2%</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DC2626"/>
                          </a:solidFill>
                          <a:latin typeface="Consolas" pitchFamily="34" charset="0"/>
                          <a:ea typeface="Consolas" pitchFamily="34" charset="-122"/>
                          <a:cs typeface="Consolas" pitchFamily="34" charset="-120"/>
                        </a:rPr>
                        <a:t>31.9%</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366</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 name="Text 8"/>
          <p:cNvSpPr/>
          <p:nvPr/>
        </p:nvSpPr>
        <p:spPr>
          <a:xfrm>
            <a:off x="6400800" y="3246120"/>
            <a:ext cx="5212080" cy="228600"/>
          </a:xfrm>
          <a:prstGeom prst="rect">
            <a:avLst/>
          </a:prstGeom>
          <a:noFill/>
          <a:ln/>
        </p:spPr>
        <p:txBody>
          <a:bodyPr wrap="square" rtlCol="0" anchor="ctr"/>
          <a:lstStyle/>
          <a:p>
            <a:pPr marL="0" indent="0">
              <a:buNone/>
            </a:pPr>
            <a:r>
              <a:rPr lang="en-US" sz="900" kern="0" spc="100" dirty="0">
                <a:solidFill>
                  <a:srgbClr val="959DAB"/>
                </a:solidFill>
                <a:latin typeface="Consolas" pitchFamily="34" charset="0"/>
                <a:ea typeface="Consolas" pitchFamily="34" charset="-122"/>
                <a:cs typeface="Consolas" pitchFamily="34" charset="-120"/>
              </a:rPr>
              <a:t>THE MERGE’S “TRUE-HITS” EFFECT  (cy ∪ role_rank vs cy)</a:t>
            </a:r>
            <a:endParaRPr lang="en-US" sz="900" dirty="0"/>
          </a:p>
        </p:txBody>
      </p:sp>
      <p:sp>
        <p:nvSpPr>
          <p:cNvPr id="13" name="Shape 9"/>
          <p:cNvSpPr/>
          <p:nvPr/>
        </p:nvSpPr>
        <p:spPr>
          <a:xfrm>
            <a:off x="7680960" y="3566160"/>
            <a:ext cx="3931920" cy="384048"/>
          </a:xfrm>
          <a:prstGeom prst="rect">
            <a:avLst/>
          </a:prstGeom>
          <a:solidFill>
            <a:srgbClr val="F0D9D9"/>
          </a:solidFill>
          <a:ln/>
        </p:spPr>
        <p:txBody>
          <a:bodyPr/>
          <a:lstStyle/>
          <a:p>
            <a:endParaRPr lang="en-US"/>
          </a:p>
        </p:txBody>
      </p:sp>
      <p:sp>
        <p:nvSpPr>
          <p:cNvPr id="14" name="Text 10"/>
          <p:cNvSpPr/>
          <p:nvPr/>
        </p:nvSpPr>
        <p:spPr>
          <a:xfrm>
            <a:off x="10972800" y="3566160"/>
            <a:ext cx="594360" cy="384048"/>
          </a:xfrm>
          <a:prstGeom prst="rect">
            <a:avLst/>
          </a:prstGeom>
          <a:noFill/>
          <a:ln/>
        </p:spPr>
        <p:txBody>
          <a:bodyPr wrap="square" rtlCol="0" anchor="ctr"/>
          <a:lstStyle/>
          <a:p>
            <a:pPr marL="0" indent="0" algn="r">
              <a:buNone/>
            </a:pPr>
            <a:r>
              <a:rPr lang="en-US" sz="1000" b="1" dirty="0">
                <a:solidFill>
                  <a:srgbClr val="DC2626"/>
                </a:solidFill>
                <a:latin typeface="Consolas" pitchFamily="34" charset="0"/>
                <a:ea typeface="Consolas" pitchFamily="34" charset="-122"/>
                <a:cs typeface="Consolas" pitchFamily="34" charset="-120"/>
              </a:rPr>
              <a:t>+467</a:t>
            </a:r>
            <a:endParaRPr lang="en-US" sz="1000" dirty="0"/>
          </a:p>
        </p:txBody>
      </p:sp>
      <p:sp>
        <p:nvSpPr>
          <p:cNvPr id="15" name="Text 11"/>
          <p:cNvSpPr/>
          <p:nvPr/>
        </p:nvSpPr>
        <p:spPr>
          <a:xfrm>
            <a:off x="6400800" y="3566160"/>
            <a:ext cx="1234440" cy="384048"/>
          </a:xfrm>
          <a:prstGeom prst="rect">
            <a:avLst/>
          </a:prstGeom>
          <a:noFill/>
          <a:ln/>
        </p:spPr>
        <p:txBody>
          <a:bodyPr wrap="square" rtlCol="0" anchor="ctr"/>
          <a:lstStyle/>
          <a:p>
            <a:pPr marL="0" indent="0">
              <a:buNone/>
            </a:pPr>
            <a:r>
              <a:rPr lang="en-US" sz="950" dirty="0">
                <a:solidFill>
                  <a:srgbClr val="586274"/>
                </a:solidFill>
                <a:latin typeface="Calibri" pitchFamily="34" charset="0"/>
                <a:ea typeface="Calibri" pitchFamily="34" charset="-122"/>
                <a:cs typeface="Calibri" pitchFamily="34" charset="-120"/>
              </a:rPr>
              <a:t>tuples added</a:t>
            </a:r>
            <a:endParaRPr lang="en-US" sz="950" dirty="0"/>
          </a:p>
        </p:txBody>
      </p:sp>
      <p:sp>
        <p:nvSpPr>
          <p:cNvPr id="16" name="Shape 12"/>
          <p:cNvSpPr/>
          <p:nvPr/>
        </p:nvSpPr>
        <p:spPr>
          <a:xfrm>
            <a:off x="7680960" y="4114800"/>
            <a:ext cx="109454" cy="384048"/>
          </a:xfrm>
          <a:prstGeom prst="rect">
            <a:avLst/>
          </a:prstGeom>
          <a:solidFill>
            <a:srgbClr val="0F766E"/>
          </a:solidFill>
          <a:ln/>
        </p:spPr>
        <p:txBody>
          <a:bodyPr/>
          <a:lstStyle/>
          <a:p>
            <a:endParaRPr lang="en-US"/>
          </a:p>
        </p:txBody>
      </p:sp>
      <p:sp>
        <p:nvSpPr>
          <p:cNvPr id="17" name="Text 13"/>
          <p:cNvSpPr/>
          <p:nvPr/>
        </p:nvSpPr>
        <p:spPr>
          <a:xfrm>
            <a:off x="7836134" y="4114800"/>
            <a:ext cx="731520" cy="384048"/>
          </a:xfrm>
          <a:prstGeom prst="rect">
            <a:avLst/>
          </a:prstGeom>
          <a:noFill/>
          <a:ln/>
        </p:spPr>
        <p:txBody>
          <a:bodyPr wrap="square" rtlCol="0" anchor="ctr"/>
          <a:lstStyle/>
          <a:p>
            <a:pPr marL="0" indent="0" algn="l">
              <a:buNone/>
            </a:pPr>
            <a:r>
              <a:rPr lang="en-US" sz="1000" b="1" dirty="0">
                <a:solidFill>
                  <a:srgbClr val="0F766E"/>
                </a:solidFill>
                <a:latin typeface="Consolas" pitchFamily="34" charset="0"/>
                <a:ea typeface="Consolas" pitchFamily="34" charset="-122"/>
                <a:cs typeface="Consolas" pitchFamily="34" charset="-120"/>
              </a:rPr>
              <a:t>+13</a:t>
            </a:r>
            <a:endParaRPr lang="en-US" sz="1000" dirty="0"/>
          </a:p>
        </p:txBody>
      </p:sp>
      <p:sp>
        <p:nvSpPr>
          <p:cNvPr id="18" name="Text 14"/>
          <p:cNvSpPr/>
          <p:nvPr/>
        </p:nvSpPr>
        <p:spPr>
          <a:xfrm>
            <a:off x="6400800" y="4114800"/>
            <a:ext cx="1234440" cy="384048"/>
          </a:xfrm>
          <a:prstGeom prst="rect">
            <a:avLst/>
          </a:prstGeom>
          <a:noFill/>
          <a:ln/>
        </p:spPr>
        <p:txBody>
          <a:bodyPr wrap="square" rtlCol="0" anchor="ctr"/>
          <a:lstStyle/>
          <a:p>
            <a:pPr marL="0" indent="0">
              <a:buNone/>
            </a:pPr>
            <a:r>
              <a:rPr lang="en-US" sz="950" dirty="0">
                <a:solidFill>
                  <a:srgbClr val="586274"/>
                </a:solidFill>
                <a:latin typeface="Calibri" pitchFamily="34" charset="0"/>
                <a:ea typeface="Calibri" pitchFamily="34" charset="-122"/>
                <a:cs typeface="Calibri" pitchFamily="34" charset="-120"/>
              </a:rPr>
              <a:t>actually correct</a:t>
            </a:r>
            <a:endParaRPr lang="en-US" sz="950" dirty="0"/>
          </a:p>
        </p:txBody>
      </p:sp>
      <p:sp>
        <p:nvSpPr>
          <p:cNvPr id="19" name="Text 15"/>
          <p:cNvSpPr/>
          <p:nvPr/>
        </p:nvSpPr>
        <p:spPr>
          <a:xfrm>
            <a:off x="6400800" y="4754880"/>
            <a:ext cx="5212080" cy="1417320"/>
          </a:xfrm>
          <a:prstGeom prst="roundRect">
            <a:avLst>
              <a:gd name="adj" fmla="val 3226"/>
            </a:avLst>
          </a:prstGeom>
          <a:solidFill>
            <a:srgbClr val="FCEBEB"/>
          </a:solidFill>
          <a:ln/>
        </p:spPr>
        <p:txBody>
          <a:bodyPr wrap="square" lIns="139700" tIns="139700" rIns="139700" bIns="139700" rtlCol="0" anchor="ctr"/>
          <a:lstStyle/>
          <a:p>
            <a:pPr marL="0" indent="0">
              <a:lnSpc>
                <a:spcPct val="108000"/>
              </a:lnSpc>
              <a:buNone/>
            </a:pPr>
            <a:r>
              <a:rPr lang="en-US" sz="1200" b="1" dirty="0">
                <a:solidFill>
                  <a:srgbClr val="161B24"/>
                </a:solidFill>
                <a:latin typeface="Calibri" pitchFamily="34" charset="0"/>
                <a:ea typeface="Calibri" pitchFamily="34" charset="-122"/>
                <a:cs typeface="Calibri" pitchFamily="34" charset="-120"/>
              </a:rPr>
              <a:t>Mechanism.  </a:t>
            </a:r>
            <a:r>
              <a:rPr lang="en-US" sz="1200" dirty="0">
                <a:solidFill>
                  <a:srgbClr val="586274"/>
                </a:solidFill>
                <a:latin typeface="Calibri" pitchFamily="34" charset="0"/>
                <a:ea typeface="Calibri" pitchFamily="34" charset="-122"/>
                <a:cs typeface="Calibri" pitchFamily="34" charset="-120"/>
              </a:rPr>
              <a:t>role_rank pairs the k-th nutrient with the k-th quantity — correct only if both columns have equal, ordered cardinality. One dropped/fused/spurious token shifts every pairing below it. Units repeat (mg, mg…) so they look fine; quantities are all distinct, so the shift shows. ~97% of the merge’s 467 additions are false positives → precision collapses.</a:t>
            </a:r>
            <a:endParaRPr lang="en-US" sz="1200" dirty="0"/>
          </a:p>
        </p:txBody>
      </p:sp>
      <p:sp>
        <p:nvSpPr>
          <p:cNvPr id="20" name="Shape 16"/>
          <p:cNvSpPr/>
          <p:nvPr/>
        </p:nvSpPr>
        <p:spPr>
          <a:xfrm>
            <a:off x="6400800" y="4754880"/>
            <a:ext cx="64008" cy="1417320"/>
          </a:xfrm>
          <a:prstGeom prst="rect">
            <a:avLst/>
          </a:prstGeom>
          <a:solidFill>
            <a:srgbClr val="DC2626"/>
          </a:solidFill>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23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07 · AXIS 3 — FROM CY TO OVERLAP</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A row rule with no pixel constant to tune — and it wins</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600200"/>
            <a:ext cx="5486400" cy="1371600"/>
          </a:xfrm>
          <a:prstGeom prst="roundRect">
            <a:avLst>
              <a:gd name="adj" fmla="val 4000"/>
            </a:avLst>
          </a:prstGeom>
          <a:solidFill>
            <a:srgbClr val="FFFFFF"/>
          </a:solidFill>
          <a:ln w="12700">
            <a:solidFill>
              <a:srgbClr val="E0E4EA"/>
            </a:solidFill>
          </a:ln>
        </p:spPr>
        <p:txBody>
          <a:bodyPr wrap="square" lIns="152400" tIns="152400" rIns="152400" bIns="152400" rtlCol="0" anchor="t"/>
          <a:lstStyle/>
          <a:p>
            <a:pPr marL="0" indent="0">
              <a:lnSpc>
                <a:spcPct val="120000"/>
              </a:lnSpc>
              <a:buNone/>
            </a:pPr>
            <a:r>
              <a:rPr lang="en-US" sz="1000" b="1" kern="0" spc="100" dirty="0">
                <a:solidFill>
                  <a:srgbClr val="DC2626"/>
                </a:solidFill>
                <a:latin typeface="Consolas" pitchFamily="34" charset="0"/>
                <a:ea typeface="Consolas" pitchFamily="34" charset="-122"/>
                <a:cs typeface="Consolas" pitchFamily="34" charset="-120"/>
              </a:rPr>
              <a:t>THE PROBLEM WITH cy
</a:t>
            </a:r>
            <a:endParaRPr lang="en-US" sz="1000" dirty="0"/>
          </a:p>
          <a:p>
            <a:pPr marL="0" indent="0">
              <a:lnSpc>
                <a:spcPct val="120000"/>
              </a:lnSpc>
              <a:buNone/>
            </a:pPr>
            <a:r>
              <a:rPr lang="en-US" sz="1150" dirty="0">
                <a:solidFill>
                  <a:srgbClr val="586274"/>
                </a:solidFill>
                <a:latin typeface="Calibri" pitchFamily="34" charset="0"/>
                <a:ea typeface="Calibri" pitchFamily="34" charset="-122"/>
                <a:cs typeface="Calibri" pitchFamily="34" charset="-120"/>
              </a:rPr>
              <a:t>cy fires when |c</a:t>
            </a:r>
            <a:r>
              <a:rPr lang="en-US" sz="800" dirty="0">
                <a:solidFill>
                  <a:srgbClr val="586274"/>
                </a:solidFill>
                <a:latin typeface="Calibri" pitchFamily="34" charset="0"/>
                <a:ea typeface="Calibri" pitchFamily="34" charset="-122"/>
                <a:cs typeface="Calibri" pitchFamily="34" charset="-120"/>
              </a:rPr>
              <a:t>y,a</a:t>
            </a:r>
            <a:r>
              <a:rPr lang="en-US" sz="1150" dirty="0">
                <a:solidFill>
                  <a:srgbClr val="586274"/>
                </a:solidFill>
                <a:latin typeface="Calibri" pitchFamily="34" charset="0"/>
                <a:ea typeface="Calibri" pitchFamily="34" charset="-122"/>
                <a:cs typeface="Calibri" pitchFamily="34" charset="-120"/>
              </a:rPr>
              <a:t> − c</a:t>
            </a:r>
            <a:r>
              <a:rPr lang="en-US" sz="800" dirty="0">
                <a:solidFill>
                  <a:srgbClr val="586274"/>
                </a:solidFill>
                <a:latin typeface="Calibri" pitchFamily="34" charset="0"/>
                <a:ea typeface="Calibri" pitchFamily="34" charset="-122"/>
                <a:cs typeface="Calibri" pitchFamily="34" charset="-120"/>
              </a:rPr>
              <a:t>y,b</a:t>
            </a:r>
            <a:r>
              <a:rPr lang="en-US" sz="1150" dirty="0">
                <a:solidFill>
                  <a:srgbClr val="586274"/>
                </a:solidFill>
                <a:latin typeface="Calibri" pitchFamily="34" charset="0"/>
                <a:ea typeface="Calibri" pitchFamily="34" charset="-122"/>
                <a:cs typeface="Calibri" pitchFamily="34" charset="-120"/>
              </a:rPr>
              <a:t>| ≤ ~25 px. The real problem is the number itself: 25 px for a row, ~60 px for a column — arbitrary pixel constants with no principled way to choose them. The right value shifts with font size, image resolution and row spacing, and it still compares only centres, so tokens of different heights on one line get missed.</a:t>
            </a:r>
            <a:endParaRPr lang="en-US" sz="1000" dirty="0"/>
          </a:p>
        </p:txBody>
      </p:sp>
      <p:sp>
        <p:nvSpPr>
          <p:cNvPr id="9" name="Text 7"/>
          <p:cNvSpPr/>
          <p:nvPr/>
        </p:nvSpPr>
        <p:spPr>
          <a:xfrm>
            <a:off x="566928" y="3063240"/>
            <a:ext cx="5486400" cy="1463040"/>
          </a:xfrm>
          <a:prstGeom prst="roundRect">
            <a:avLst>
              <a:gd name="adj" fmla="val 3750"/>
            </a:avLst>
          </a:prstGeom>
          <a:solidFill>
            <a:srgbClr val="EAF2F1"/>
          </a:solidFill>
          <a:ln w="17780">
            <a:solidFill>
              <a:srgbClr val="0F766E"/>
            </a:solidFill>
          </a:ln>
        </p:spPr>
        <p:txBody>
          <a:bodyPr wrap="square" lIns="152400" tIns="152400" rIns="152400" bIns="152400" rtlCol="0" anchor="t"/>
          <a:lstStyle/>
          <a:p>
            <a:pPr marL="0" indent="0">
              <a:lnSpc>
                <a:spcPct val="120000"/>
              </a:lnSpc>
              <a:buNone/>
            </a:pPr>
            <a:r>
              <a:rPr lang="en-US" sz="1000" b="1" kern="0" spc="100" dirty="0">
                <a:solidFill>
                  <a:srgbClr val="0F766E"/>
                </a:solidFill>
                <a:latin typeface="Consolas" pitchFamily="34" charset="0"/>
                <a:ea typeface="Consolas" pitchFamily="34" charset="-122"/>
                <a:cs typeface="Consolas" pitchFamily="34" charset="-120"/>
              </a:rPr>
              <a:t>THE OVERLAP RULE
</a:t>
            </a:r>
            <a:endParaRPr lang="en-US" sz="1000" dirty="0"/>
          </a:p>
          <a:p>
            <a:pPr marL="0" indent="0">
              <a:lnSpc>
                <a:spcPct val="120000"/>
              </a:lnSpc>
              <a:buNone/>
            </a:pPr>
            <a:r>
              <a:rPr lang="en-US" sz="1150" dirty="0">
                <a:solidFill>
                  <a:srgbClr val="586274"/>
                </a:solidFill>
                <a:latin typeface="Calibri" pitchFamily="34" charset="0"/>
                <a:ea typeface="Calibri" pitchFamily="34" charset="-122"/>
                <a:cs typeface="Calibri" pitchFamily="34" charset="-120"/>
              </a:rPr>
              <a:t>A row edge is created when the intersection of the two boxes’ vertical spans [y</a:t>
            </a:r>
            <a:r>
              <a:rPr lang="en-US" sz="800" dirty="0">
                <a:solidFill>
                  <a:srgbClr val="586274"/>
                </a:solidFill>
                <a:latin typeface="Calibri" pitchFamily="34" charset="0"/>
                <a:ea typeface="Calibri" pitchFamily="34" charset="-122"/>
                <a:cs typeface="Calibri" pitchFamily="34" charset="-120"/>
              </a:rPr>
              <a:t>1</a:t>
            </a:r>
            <a:r>
              <a:rPr lang="en-US" sz="1150" dirty="0">
                <a:solidFill>
                  <a:srgbClr val="586274"/>
                </a:solidFill>
                <a:latin typeface="Calibri" pitchFamily="34" charset="0"/>
                <a:ea typeface="Calibri" pitchFamily="34" charset="-122"/>
                <a:cs typeface="Calibri" pitchFamily="34" charset="-120"/>
              </a:rPr>
              <a:t>, y</a:t>
            </a:r>
            <a:r>
              <a:rPr lang="en-US" sz="800" dirty="0">
                <a:solidFill>
                  <a:srgbClr val="586274"/>
                </a:solidFill>
                <a:latin typeface="Calibri" pitchFamily="34" charset="0"/>
                <a:ea typeface="Calibri" pitchFamily="34" charset="-122"/>
                <a:cs typeface="Calibri" pitchFamily="34" charset="-120"/>
              </a:rPr>
              <a:t>2</a:t>
            </a:r>
            <a:r>
              <a:rPr lang="en-US" sz="1150" dirty="0">
                <a:solidFill>
                  <a:srgbClr val="586274"/>
                </a:solidFill>
                <a:latin typeface="Calibri" pitchFamily="34" charset="0"/>
                <a:ea typeface="Calibri" pitchFamily="34" charset="-122"/>
                <a:cs typeface="Calibri" pitchFamily="34" charset="-120"/>
              </a:rPr>
              <a:t>] covers at least 0.30 of the shorter span. A </a:t>
            </a:r>
            <a:r>
              <a:rPr lang="en-US" sz="1150" b="1" dirty="0">
                <a:solidFill>
                  <a:srgbClr val="161B24"/>
                </a:solidFill>
                <a:latin typeface="Calibri" pitchFamily="34" charset="0"/>
                <a:ea typeface="Calibri" pitchFamily="34" charset="-122"/>
                <a:cs typeface="Calibri" pitchFamily="34" charset="-120"/>
              </a:rPr>
              <a:t>scale-free ratio</a:t>
            </a:r>
            <a:r>
              <a:rPr lang="en-US" sz="1150" dirty="0">
                <a:solidFill>
                  <a:srgbClr val="586274"/>
                </a:solidFill>
                <a:latin typeface="Calibri" pitchFamily="34" charset="0"/>
                <a:ea typeface="Calibri" pitchFamily="34" charset="-122"/>
                <a:cs typeface="Calibri" pitchFamily="34" charset="-120"/>
              </a:rPr>
              <a:t> — no arbitrary pixel constant to pick. It self-scales to each pair of boxes, so it is robust to font size, token height and image resolution alike.</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4663440"/>
          <a:ext cx="5486400" cy="754380"/>
        </p:xfrm>
        <a:graphic>
          <a:graphicData uri="http://schemas.openxmlformats.org/drawingml/2006/table">
            <a:tbl>
              <a:tblPr/>
              <a:tblGrid>
                <a:gridCol w="24688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0">
                <a:tc>
                  <a:txBody>
                    <a:bodyPr/>
                    <a:lstStyle/>
                    <a:p>
                      <a:pPr marL="0" indent="0" algn="l">
                        <a:buNone/>
                      </a:pPr>
                      <a:r>
                        <a:rPr lang="en-US" sz="1050" b="1" dirty="0">
                          <a:solidFill>
                            <a:srgbClr val="586274"/>
                          </a:solidFill>
                          <a:latin typeface="Georgia" pitchFamily="34" charset="0"/>
                          <a:ea typeface="Georgia" pitchFamily="34" charset="-122"/>
                          <a:cs typeface="Georgia" pitchFamily="34" charset="-120"/>
                        </a:rPr>
                        <a:t>GLiNER · graph v2</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4F-P</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Ctx</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4F-F1</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overlap  (E2-C)</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0.4634</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0.879</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b="1" dirty="0">
                          <a:solidFill>
                            <a:srgbClr val="0F766E"/>
                          </a:solidFill>
                          <a:latin typeface="Consolas" pitchFamily="34" charset="0"/>
                          <a:ea typeface="Consolas" pitchFamily="34" charset="-122"/>
                          <a:cs typeface="Consolas" pitchFamily="34" charset="-120"/>
                        </a:rPr>
                        <a:t>0.4304</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cy-cx  (E5-GLiNER-cy)</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0.4325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0.848</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0.4135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1" name="Text 8"/>
          <p:cNvSpPr/>
          <p:nvPr/>
        </p:nvSpPr>
        <p:spPr>
          <a:xfrm>
            <a:off x="566928" y="5806440"/>
            <a:ext cx="5486400" cy="457200"/>
          </a:xfrm>
          <a:prstGeom prst="rect">
            <a:avLst/>
          </a:prstGeom>
          <a:noFill/>
          <a:ln/>
        </p:spPr>
        <p:txBody>
          <a:bodyPr wrap="square" rtlCol="0" anchor="ctr"/>
          <a:lstStyle/>
          <a:p>
            <a:pPr marL="0" indent="0">
              <a:lnSpc>
                <a:spcPct val="110000"/>
              </a:lnSpc>
              <a:buNone/>
            </a:pPr>
            <a:r>
              <a:rPr lang="en-US" sz="1050" i="1" dirty="0">
                <a:solidFill>
                  <a:srgbClr val="586274"/>
                </a:solidFill>
                <a:latin typeface="Calibri" pitchFamily="34" charset="0"/>
                <a:ea typeface="Calibri" pitchFamily="34" charset="-122"/>
                <a:cs typeface="Calibri" pitchFamily="34" charset="-120"/>
              </a:rPr>
              <a:t>overlap beats cy/cx on the same evaluator: +1.7 pp 4F-F1, +3 pp precision, +3 pp context.</a:t>
            </a:r>
            <a:endParaRPr lang="en-US" sz="1050" dirty="0"/>
          </a:p>
        </p:txBody>
      </p:sp>
      <p:sp>
        <p:nvSpPr>
          <p:cNvPr id="12" name="Shape 9"/>
          <p:cNvSpPr/>
          <p:nvPr/>
        </p:nvSpPr>
        <p:spPr>
          <a:xfrm>
            <a:off x="6355080" y="1828800"/>
            <a:ext cx="5257800" cy="1463040"/>
          </a:xfrm>
          <a:prstGeom prst="roundRect">
            <a:avLst>
              <a:gd name="adj" fmla="val 2500"/>
            </a:avLst>
          </a:prstGeom>
          <a:solidFill>
            <a:srgbClr val="FFFFFF"/>
          </a:solidFill>
          <a:ln w="12700">
            <a:solidFill>
              <a:srgbClr val="E0E4EA"/>
            </a:solidFill>
            <a:prstDash val="solid"/>
          </a:ln>
        </p:spPr>
        <p:txBody>
          <a:bodyPr/>
          <a:lstStyle/>
          <a:p>
            <a:endParaRPr lang="en-US"/>
          </a:p>
        </p:txBody>
      </p:sp>
      <p:pic>
        <p:nvPicPr>
          <p:cNvPr id="13" name="Image 0" descr="preencoded.png"/>
          <p:cNvPicPr>
            <a:picLocks noChangeAspect="1"/>
          </p:cNvPicPr>
          <p:nvPr/>
        </p:nvPicPr>
        <p:blipFill>
          <a:blip r:embed="rId3"/>
          <a:srcRect/>
          <a:stretch/>
        </p:blipFill>
        <p:spPr>
          <a:xfrm>
            <a:off x="6428232" y="1901952"/>
            <a:ext cx="5111496" cy="1316736"/>
          </a:xfrm>
          <a:prstGeom prst="rect">
            <a:avLst/>
          </a:prstGeom>
        </p:spPr>
      </p:pic>
      <p:sp>
        <p:nvSpPr>
          <p:cNvPr id="14" name="Text 10"/>
          <p:cNvSpPr/>
          <p:nvPr/>
        </p:nvSpPr>
        <p:spPr>
          <a:xfrm>
            <a:off x="6355080" y="3337560"/>
            <a:ext cx="5257800" cy="548640"/>
          </a:xfrm>
          <a:prstGeom prst="rect">
            <a:avLst/>
          </a:prstGeom>
          <a:noFill/>
          <a:ln/>
        </p:spPr>
        <p:txBody>
          <a:bodyPr wrap="square" rtlCol="0" anchor="ctr"/>
          <a:lstStyle/>
          <a:p>
            <a:pPr marL="0" indent="0" algn="ctr">
              <a:lnSpc>
                <a:spcPct val="115000"/>
              </a:lnSpc>
              <a:buNone/>
            </a:pPr>
            <a:r>
              <a:rPr lang="en-US" sz="800" dirty="0">
                <a:solidFill>
                  <a:srgbClr val="959DAB"/>
                </a:solidFill>
                <a:latin typeface="Consolas" pitchFamily="34" charset="0"/>
                <a:ea typeface="Consolas" pitchFamily="34" charset="-122"/>
                <a:cs typeface="Consolas" pitchFamily="34" charset="-120"/>
              </a:rPr>
              <a:t>Fig. 3.7 — coordinate-descent over the three overlap thresholds: row 0.30 is decisive; column 0.20 and context 0.10 are flat.</a:t>
            </a:r>
            <a:endParaRPr lang="en-US" sz="800" dirty="0"/>
          </a:p>
        </p:txBody>
      </p:sp>
      <p:sp>
        <p:nvSpPr>
          <p:cNvPr id="15" name="Text 11"/>
          <p:cNvSpPr/>
          <p:nvPr/>
        </p:nvSpPr>
        <p:spPr>
          <a:xfrm>
            <a:off x="6355080" y="4069080"/>
            <a:ext cx="5257800" cy="1828800"/>
          </a:xfrm>
          <a:prstGeom prst="roundRect">
            <a:avLst>
              <a:gd name="adj" fmla="val 2500"/>
            </a:avLst>
          </a:prstGeom>
          <a:solidFill>
            <a:srgbClr val="EAF2F1"/>
          </a:solidFill>
          <a:ln/>
        </p:spPr>
        <p:txBody>
          <a:bodyPr wrap="square" lIns="139700" tIns="139700" rIns="139700" bIns="139700" rtlCol="0" anchor="ctr"/>
          <a:lstStyle/>
          <a:p>
            <a:pPr marL="0" indent="0">
              <a:lnSpc>
                <a:spcPct val="108000"/>
              </a:lnSpc>
              <a:buNone/>
            </a:pPr>
            <a:r>
              <a:rPr lang="en-US" sz="1200" b="1" dirty="0">
                <a:solidFill>
                  <a:srgbClr val="161B24"/>
                </a:solidFill>
                <a:latin typeface="Calibri" pitchFamily="34" charset="0"/>
                <a:ea typeface="Calibri" pitchFamily="34" charset="-122"/>
                <a:cs typeface="Calibri" pitchFamily="34" charset="-120"/>
              </a:rPr>
              <a:t>Why overlap is the default.  </a:t>
            </a:r>
            <a:r>
              <a:rPr lang="en-US" sz="1200" dirty="0">
                <a:solidFill>
                  <a:srgbClr val="586274"/>
                </a:solidFill>
                <a:latin typeface="Calibri" pitchFamily="34" charset="0"/>
                <a:ea typeface="Calibri" pitchFamily="34" charset="-122"/>
                <a:cs typeface="Calibri" pitchFamily="34" charset="-120"/>
              </a:rPr>
              <a:t>It reads the row directly off page geometry (like cy) but as a proportion, so it is invariant to resolution and to unequal token heights. The sweep confirms the row threshold is the one decisive knob; column and context overlap are nearly flat — a clean, defensible operating point.</a:t>
            </a:r>
            <a:endParaRPr lang="en-US" sz="1200" dirty="0"/>
          </a:p>
        </p:txBody>
      </p:sp>
      <p:sp>
        <p:nvSpPr>
          <p:cNvPr id="16" name="Shape 12"/>
          <p:cNvSpPr/>
          <p:nvPr/>
        </p:nvSpPr>
        <p:spPr>
          <a:xfrm>
            <a:off x="6355080" y="4069080"/>
            <a:ext cx="64008" cy="1828800"/>
          </a:xfrm>
          <a:prstGeom prst="rect">
            <a:avLst/>
          </a:prstGeom>
          <a:solidFill>
            <a:srgbClr val="0F766E"/>
          </a:solidFill>
          <a:ln/>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24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07 · ASSOCIATION ① — GRAPH V1 VS GRAPH V2</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Graph v2 nearly doubles the score — all on context</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5486400" cy="1257300"/>
        </p:xfrm>
        <a:graphic>
          <a:graphicData uri="http://schemas.openxmlformats.org/drawingml/2006/table">
            <a:tbl>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0">
                <a:tc>
                  <a:txBody>
                    <a:bodyPr/>
                    <a:lstStyle/>
                    <a:p>
                      <a:pPr marL="0" indent="0" algn="l">
                        <a:buNone/>
                      </a:pPr>
                      <a:r>
                        <a:rPr lang="en-US" sz="1050" b="1" dirty="0">
                          <a:solidFill>
                            <a:srgbClr val="586274"/>
                          </a:solidFill>
                          <a:latin typeface="Georgia" pitchFamily="34" charset="0"/>
                          <a:ea typeface="Georgia" pitchFamily="34" charset="-122"/>
                          <a:cs typeface="Georgia" pitchFamily="34" charset="-120"/>
                        </a:rPr>
                        <a:t>Configuration</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3F-F1</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4F-F1</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Embedding · graph v1</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0.3427</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0.2325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Embedding · graph v2</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0.4204</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0.4025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GLiNER · graph v1</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0.3705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0.2523</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GLiNER · graph v2</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0.4465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b="1" dirty="0">
                          <a:solidFill>
                            <a:srgbClr val="0F766E"/>
                          </a:solidFill>
                          <a:latin typeface="Consolas" pitchFamily="34" charset="0"/>
                          <a:ea typeface="Consolas" pitchFamily="34" charset="-122"/>
                          <a:cs typeface="Consolas" pitchFamily="34" charset="-120"/>
                        </a:rPr>
                        <a:t>0.4304</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extLst>
                  <a:ext uri="{0D108BD9-81ED-4DB2-BD59-A6C34878D82A}">
                    <a16:rowId xmlns:a16="http://schemas.microsoft.com/office/drawing/2014/main" val="10004"/>
                  </a:ext>
                </a:extLst>
              </a:tr>
            </a:tbl>
          </a:graphicData>
        </a:graphic>
      </p:graphicFrame>
      <p:graphicFrame>
        <p:nvGraphicFramePr>
          <p:cNvPr id="9" name="Chart 0"/>
          <p:cNvGraphicFramePr/>
          <p:nvPr/>
        </p:nvGraphicFramePr>
        <p:xfrm>
          <a:off x="6355080" y="1645920"/>
          <a:ext cx="525780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6"/>
          <p:cNvSpPr/>
          <p:nvPr/>
        </p:nvSpPr>
        <p:spPr>
          <a:xfrm>
            <a:off x="566928" y="4160520"/>
            <a:ext cx="11055096" cy="1554480"/>
          </a:xfrm>
          <a:prstGeom prst="roundRect">
            <a:avLst>
              <a:gd name="adj" fmla="val 2941"/>
            </a:avLst>
          </a:prstGeom>
          <a:solidFill>
            <a:srgbClr val="F5EDFB"/>
          </a:solidFill>
          <a:ln/>
        </p:spPr>
        <p:txBody>
          <a:bodyPr wrap="square" lIns="139700" tIns="139700" rIns="139700" bIns="139700" rtlCol="0" anchor="ctr"/>
          <a:lstStyle/>
          <a:p>
            <a:pPr marL="0" indent="0">
              <a:lnSpc>
                <a:spcPct val="108000"/>
              </a:lnSpc>
              <a:buNone/>
            </a:pPr>
            <a:r>
              <a:rPr lang="en-US" sz="1200" b="1" dirty="0">
                <a:solidFill>
                  <a:srgbClr val="161B24"/>
                </a:solidFill>
                <a:latin typeface="Calibri" pitchFamily="34" charset="0"/>
                <a:ea typeface="Calibri" pitchFamily="34" charset="-122"/>
                <a:cs typeface="Calibri" pitchFamily="34" charset="-120"/>
              </a:rPr>
              <a:t>Answer.  </a:t>
            </a:r>
            <a:r>
              <a:rPr lang="en-US" sz="1200" dirty="0">
                <a:solidFill>
                  <a:srgbClr val="586274"/>
                </a:solidFill>
                <a:latin typeface="Calibri" pitchFamily="34" charset="0"/>
                <a:ea typeface="Calibri" pitchFamily="34" charset="-122"/>
                <a:cs typeface="Calibri" pitchFamily="34" charset="-120"/>
              </a:rPr>
              <a:t>The jump appears for both classifiers, so it is the graph. The 3F→4F gap collapses from 0.110→0.018 (emb) and 0.118→0.016 (GLiNER). On multi-context labels (37 imgs, 707 tuples) 4F recall nearly doubles — 0.181→0.375 (GLiNER), 0.187→0.390 (embedding) — while single-context is unchanged (0.497→0.522). </a:t>
            </a:r>
            <a:r>
              <a:rPr lang="en-US" sz="1200" b="1" dirty="0">
                <a:solidFill>
                  <a:srgbClr val="9333EA"/>
                </a:solidFill>
                <a:latin typeface="Calibri" pitchFamily="34" charset="0"/>
                <a:ea typeface="Calibri" pitchFamily="34" charset="-122"/>
                <a:cs typeface="Calibri" pitchFamily="34" charset="-120"/>
              </a:rPr>
              <a:t>HEADER_SCOPE is the cause.</a:t>
            </a:r>
            <a:endParaRPr lang="en-US" sz="1200" dirty="0"/>
          </a:p>
        </p:txBody>
      </p:sp>
      <p:sp>
        <p:nvSpPr>
          <p:cNvPr id="11" name="Shape 7"/>
          <p:cNvSpPr/>
          <p:nvPr/>
        </p:nvSpPr>
        <p:spPr>
          <a:xfrm>
            <a:off x="566928" y="4160520"/>
            <a:ext cx="64008" cy="1554480"/>
          </a:xfrm>
          <a:prstGeom prst="rect">
            <a:avLst/>
          </a:prstGeom>
          <a:solidFill>
            <a:srgbClr val="9333EA"/>
          </a:solidFill>
          <a:ln/>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25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07 · ASSOCIATION ② — GRAPH V2 VS VLM-ASSOCIATION</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A VLM binder lifts precision — for every classifier</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17904"/>
            <a:ext cx="11055096" cy="365760"/>
          </a:xfrm>
          <a:prstGeom prst="rect">
            <a:avLst/>
          </a:prstGeom>
          <a:noFill/>
          <a:ln/>
        </p:spPr>
        <p:txBody>
          <a:bodyPr wrap="square" rtlCol="0" anchor="t"/>
          <a:lstStyle/>
          <a:p>
            <a:pPr marL="0" indent="0">
              <a:lnSpc>
                <a:spcPct val="110000"/>
              </a:lnSpc>
              <a:buNone/>
            </a:pPr>
            <a:r>
              <a:rPr lang="en-US" sz="1150" dirty="0">
                <a:solidFill>
                  <a:srgbClr val="586274"/>
                </a:solidFill>
                <a:latin typeface="Calibri" pitchFamily="34" charset="0"/>
                <a:ea typeface="Calibri" pitchFamily="34" charset="-122"/>
                <a:cs typeface="Calibri" pitchFamily="34" charset="-120"/>
              </a:rPr>
              <a:t>Swap only the binding step: graph v2 → Gemma 3 4B reading the same injected token table. OCR and classifier held fixed.</a:t>
            </a:r>
            <a:endParaRPr lang="en-US" sz="11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55096" cy="1760220"/>
        </p:xfrm>
        <a:graphic>
          <a:graphicData uri="http://schemas.openxmlformats.org/drawingml/2006/table">
            <a:tbl>
              <a:tblPr/>
              <a:tblGrid>
                <a:gridCol w="1737360">
                  <a:extLst>
                    <a:ext uri="{9D8B030D-6E8A-4147-A177-3AD203B41FA5}">
                      <a16:colId xmlns:a16="http://schemas.microsoft.com/office/drawing/2014/main" val="20000"/>
                    </a:ext>
                  </a:extLst>
                </a:gridCol>
                <a:gridCol w="3648456">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tblGrid>
              <a:tr h="0">
                <a:tc>
                  <a:txBody>
                    <a:bodyPr/>
                    <a:lstStyle/>
                    <a:p>
                      <a:pPr marL="0" indent="0" algn="l">
                        <a:buNone/>
                      </a:pPr>
                      <a:r>
                        <a:rPr lang="en-US" sz="1050" b="1" dirty="0">
                          <a:solidFill>
                            <a:srgbClr val="586274"/>
                          </a:solidFill>
                          <a:latin typeface="Georgia" pitchFamily="34" charset="0"/>
                          <a:ea typeface="Georgia" pitchFamily="34" charset="-122"/>
                          <a:cs typeface="Georgia" pitchFamily="34" charset="-120"/>
                        </a:rPr>
                        <a:t>Classifier</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l">
                        <a:buNone/>
                      </a:pPr>
                      <a:r>
                        <a:rPr lang="en-US" sz="1050" b="1" dirty="0">
                          <a:solidFill>
                            <a:srgbClr val="586274"/>
                          </a:solidFill>
                          <a:latin typeface="Georgia" pitchFamily="34" charset="0"/>
                          <a:ea typeface="Georgia" pitchFamily="34" charset="-122"/>
                          <a:cs typeface="Georgia" pitchFamily="34" charset="-120"/>
                        </a:rPr>
                        <a:t>Association</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4F-P</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4F-R</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4F-F1</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Δ P</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Rule-based</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graph v2  (E2-A)</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0.4223</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0.4238</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0.4231</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959DAB"/>
                          </a:solidFill>
                          <a:latin typeface="Consolas" pitchFamily="34" charset="0"/>
                          <a:ea typeface="Consolas" pitchFamily="34" charset="-122"/>
                          <a:cs typeface="Consolas" pitchFamily="34" charset="-120"/>
                        </a:rPr>
                        <a:t>—</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Rule-based</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VLM assoc.  (A_VLM)</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0.5732</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0.4157</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b="1" dirty="0">
                          <a:solidFill>
                            <a:srgbClr val="D97706"/>
                          </a:solidFill>
                          <a:latin typeface="Consolas" pitchFamily="34" charset="0"/>
                          <a:ea typeface="Consolas" pitchFamily="34" charset="-122"/>
                          <a:cs typeface="Consolas" pitchFamily="34" charset="-120"/>
                        </a:rPr>
                        <a:t>0.4819</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dirty="0">
                          <a:solidFill>
                            <a:srgbClr val="16A34A"/>
                          </a:solidFill>
                          <a:latin typeface="Consolas" pitchFamily="34" charset="0"/>
                          <a:ea typeface="Consolas" pitchFamily="34" charset="-122"/>
                          <a:cs typeface="Consolas" pitchFamily="34" charset="-120"/>
                        </a:rPr>
                        <a:t>+0.15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Embedding</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graph v2  (E2-B)</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0.3911</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0.4145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0.4025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959DAB"/>
                          </a:solidFill>
                          <a:latin typeface="Consolas" pitchFamily="34" charset="0"/>
                          <a:ea typeface="Consolas" pitchFamily="34" charset="-122"/>
                          <a:cs typeface="Consolas" pitchFamily="34" charset="-120"/>
                        </a:rPr>
                        <a:t>—</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Embedding</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VLM assoc.  (E3-EMB-VLM · best)</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0.6054</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0.4180</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b="1" dirty="0">
                          <a:solidFill>
                            <a:srgbClr val="D97706"/>
                          </a:solidFill>
                          <a:latin typeface="Consolas" pitchFamily="34" charset="0"/>
                          <a:ea typeface="Consolas" pitchFamily="34" charset="-122"/>
                          <a:cs typeface="Consolas" pitchFamily="34" charset="-120"/>
                        </a:rPr>
                        <a:t>0.4945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dirty="0">
                          <a:solidFill>
                            <a:srgbClr val="16A34A"/>
                          </a:solidFill>
                          <a:latin typeface="Consolas" pitchFamily="34" charset="0"/>
                          <a:ea typeface="Consolas" pitchFamily="34" charset="-122"/>
                          <a:cs typeface="Consolas" pitchFamily="34" charset="-120"/>
                        </a:rPr>
                        <a:t>+0.21</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extLst>
                  <a:ext uri="{0D108BD9-81ED-4DB2-BD59-A6C34878D82A}">
                    <a16:rowId xmlns:a16="http://schemas.microsoft.com/office/drawing/2014/main" val="10004"/>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GLiNER</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graph v2  (E2-C)</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0.4634</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0.4018</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0F766E"/>
                          </a:solidFill>
                          <a:latin typeface="Consolas" pitchFamily="34" charset="0"/>
                          <a:ea typeface="Consolas" pitchFamily="34" charset="-122"/>
                          <a:cs typeface="Consolas" pitchFamily="34" charset="-120"/>
                        </a:rPr>
                        <a:t>0.4304</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959DAB"/>
                          </a:solidFill>
                          <a:latin typeface="Consolas" pitchFamily="34" charset="0"/>
                          <a:ea typeface="Consolas" pitchFamily="34" charset="-122"/>
                          <a:cs typeface="Consolas" pitchFamily="34" charset="-120"/>
                        </a:rPr>
                        <a:t>—</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GLiNER</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VLM assoc.  (E3-GLiNER-VLM)</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0.5269</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0.3845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b="1" dirty="0">
                          <a:solidFill>
                            <a:srgbClr val="D97706"/>
                          </a:solidFill>
                          <a:latin typeface="Consolas" pitchFamily="34" charset="0"/>
                          <a:ea typeface="Consolas" pitchFamily="34" charset="-122"/>
                          <a:cs typeface="Consolas" pitchFamily="34" charset="-120"/>
                        </a:rPr>
                        <a:t>0.4446</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dirty="0">
                          <a:solidFill>
                            <a:srgbClr val="16A34A"/>
                          </a:solidFill>
                          <a:latin typeface="Consolas" pitchFamily="34" charset="0"/>
                          <a:ea typeface="Consolas" pitchFamily="34" charset="-122"/>
                          <a:cs typeface="Consolas" pitchFamily="34" charset="-120"/>
                        </a:rPr>
                        <a:t>+0.06</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extLst>
                  <a:ext uri="{0D108BD9-81ED-4DB2-BD59-A6C34878D82A}">
                    <a16:rowId xmlns:a16="http://schemas.microsoft.com/office/drawing/2014/main" val="10006"/>
                  </a:ext>
                </a:extLst>
              </a:tr>
            </a:tbl>
          </a:graphicData>
        </a:graphic>
      </p:graphicFrame>
      <p:sp>
        <p:nvSpPr>
          <p:cNvPr id="10" name="Text 7"/>
          <p:cNvSpPr/>
          <p:nvPr/>
        </p:nvSpPr>
        <p:spPr>
          <a:xfrm>
            <a:off x="566928" y="4434840"/>
            <a:ext cx="11055096" cy="1234440"/>
          </a:xfrm>
          <a:prstGeom prst="roundRect">
            <a:avLst>
              <a:gd name="adj" fmla="val 3704"/>
            </a:avLst>
          </a:prstGeom>
          <a:solidFill>
            <a:srgbClr val="FBF1E3"/>
          </a:solidFill>
          <a:ln/>
        </p:spPr>
        <p:txBody>
          <a:bodyPr wrap="square" lIns="139700" tIns="139700" rIns="139700" bIns="139700" rtlCol="0" anchor="ctr"/>
          <a:lstStyle/>
          <a:p>
            <a:pPr marL="0" indent="0">
              <a:lnSpc>
                <a:spcPct val="108000"/>
              </a:lnSpc>
              <a:buNone/>
            </a:pPr>
            <a:r>
              <a:rPr lang="en-US" sz="1200" b="1" dirty="0">
                <a:solidFill>
                  <a:srgbClr val="161B24"/>
                </a:solidFill>
                <a:latin typeface="Calibri" pitchFamily="34" charset="0"/>
                <a:ea typeface="Calibri" pitchFamily="34" charset="-122"/>
                <a:cs typeface="Calibri" pitchFamily="34" charset="-120"/>
              </a:rPr>
              <a:t>Answer.  </a:t>
            </a:r>
            <a:r>
              <a:rPr lang="en-US" sz="1200" dirty="0">
                <a:solidFill>
                  <a:srgbClr val="586274"/>
                </a:solidFill>
                <a:latin typeface="Calibri" pitchFamily="34" charset="0"/>
                <a:ea typeface="Calibri" pitchFamily="34" charset="-122"/>
                <a:cs typeface="Calibri" pitchFamily="34" charset="-120"/>
              </a:rPr>
              <a:t>The VLM raises 4F-F1 in every case — entirely through precision (recall barely moves). Biggest gain for embedding (+0.21). The best classifier flips: GLiNER under the graph, embedding under the VLM. Cost: the binding step is now a black box, ~13.7 s/image.</a:t>
            </a:r>
            <a:endParaRPr lang="en-US" sz="1200" dirty="0"/>
          </a:p>
        </p:txBody>
      </p:sp>
      <p:sp>
        <p:nvSpPr>
          <p:cNvPr id="11" name="Shape 8"/>
          <p:cNvSpPr/>
          <p:nvPr/>
        </p:nvSpPr>
        <p:spPr>
          <a:xfrm>
            <a:off x="566928" y="4434840"/>
            <a:ext cx="64008" cy="1234440"/>
          </a:xfrm>
          <a:prstGeom prst="rect">
            <a:avLst/>
          </a:prstGeom>
          <a:solidFill>
            <a:srgbClr val="D97706"/>
          </a:solidFill>
          <a:ln/>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26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07 · ASSOCIATION ③ — VLM-ASSOC VS END-TO-END VLM</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A clean token table beats the raw image</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517904"/>
            <a:ext cx="11055096" cy="411480"/>
          </a:xfrm>
          <a:prstGeom prst="rect">
            <a:avLst/>
          </a:prstGeom>
          <a:noFill/>
          <a:ln/>
        </p:spPr>
        <p:txBody>
          <a:bodyPr wrap="square" rtlCol="0" anchor="t"/>
          <a:lstStyle/>
          <a:p>
            <a:pPr marL="0" indent="0">
              <a:lnSpc>
                <a:spcPct val="110000"/>
              </a:lnSpc>
              <a:buNone/>
            </a:pPr>
            <a:r>
              <a:rPr lang="en-US" sz="1150" dirty="0">
                <a:solidFill>
                  <a:srgbClr val="586274"/>
                </a:solidFill>
                <a:latin typeface="Calibri" pitchFamily="34" charset="0"/>
                <a:ea typeface="Calibri" pitchFamily="34" charset="-122"/>
                <a:cs typeface="Calibri" pitchFamily="34" charset="-120"/>
              </a:rPr>
              <a:t>Same model (Gemma 3 4B) binds in both cases. The difference: VLM-association is handed the OCR token table first; end-to-end gets the raw image alone.</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2148840"/>
          <a:ext cx="11055096" cy="1257300"/>
        </p:xfrm>
        <a:graphic>
          <a:graphicData uri="http://schemas.openxmlformats.org/drawingml/2006/table">
            <a:tbl>
              <a:tblPr/>
              <a:tblGrid>
                <a:gridCol w="5202936">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0">
                <a:tc>
                  <a:txBody>
                    <a:bodyPr/>
                    <a:lstStyle/>
                    <a:p>
                      <a:pPr marL="0" indent="0" algn="l">
                        <a:buNone/>
                      </a:pPr>
                      <a:r>
                        <a:rPr lang="en-US" sz="1050" b="1" dirty="0">
                          <a:solidFill>
                            <a:srgbClr val="586274"/>
                          </a:solidFill>
                          <a:latin typeface="Georgia" pitchFamily="34" charset="0"/>
                          <a:ea typeface="Georgia" pitchFamily="34" charset="-122"/>
                          <a:cs typeface="Georgia" pitchFamily="34" charset="-120"/>
                        </a:rPr>
                        <a:t>Pipeline</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4F-P</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4F-R</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4F-F1</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Time / img</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Embedding + VLM  (E3-EMB-VLM · best overall)</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dirty="0">
                          <a:solidFill>
                            <a:srgbClr val="161B24"/>
                          </a:solidFill>
                          <a:latin typeface="Consolas" pitchFamily="34" charset="0"/>
                          <a:ea typeface="Consolas" pitchFamily="34" charset="-122"/>
                          <a:cs typeface="Consolas" pitchFamily="34" charset="-120"/>
                        </a:rPr>
                        <a:t>0.6054</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0.4180</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b="1" dirty="0">
                          <a:solidFill>
                            <a:srgbClr val="D97706"/>
                          </a:solidFill>
                          <a:latin typeface="Consolas" pitchFamily="34" charset="0"/>
                          <a:ea typeface="Consolas" pitchFamily="34" charset="-122"/>
                          <a:cs typeface="Consolas" pitchFamily="34" charset="-120"/>
                        </a:rPr>
                        <a:t>0.4945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13.72 s</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Rule + VLM  (A_VLM)</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0.5732</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0.4157</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0.4819</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~13 s</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161B24"/>
                          </a:solidFill>
                          <a:latin typeface="Calibri" pitchFamily="34" charset="0"/>
                          <a:ea typeface="Calibri" pitchFamily="34" charset="-122"/>
                          <a:cs typeface="Calibri" pitchFamily="34" charset="-120"/>
                        </a:rPr>
                        <a:t>GLiNER + VLM  (E3-GLiNER-VLM)</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0.5269</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0.3845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0.4446</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~13 s</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End-to-end VLM  (E4 · no pipeline)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0.4228</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0.3129</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DC2626"/>
                          </a:solidFill>
                          <a:latin typeface="Consolas" pitchFamily="34" charset="0"/>
                          <a:ea typeface="Consolas" pitchFamily="34" charset="-122"/>
                          <a:cs typeface="Consolas" pitchFamily="34" charset="-120"/>
                        </a:rPr>
                        <a:t>0.3597</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dirty="0">
                          <a:solidFill>
                            <a:srgbClr val="586274"/>
                          </a:solidFill>
                          <a:latin typeface="Consolas" pitchFamily="34" charset="0"/>
                          <a:ea typeface="Consolas" pitchFamily="34" charset="-122"/>
                          <a:cs typeface="Consolas" pitchFamily="34" charset="-120"/>
                        </a:rPr>
                        <a:t>7.53 s</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 7"/>
          <p:cNvSpPr/>
          <p:nvPr/>
        </p:nvSpPr>
        <p:spPr>
          <a:xfrm>
            <a:off x="566928" y="4069080"/>
            <a:ext cx="11055096" cy="1554480"/>
          </a:xfrm>
          <a:prstGeom prst="roundRect">
            <a:avLst>
              <a:gd name="adj" fmla="val 2941"/>
            </a:avLst>
          </a:prstGeom>
          <a:solidFill>
            <a:srgbClr val="EAF2F1"/>
          </a:solidFill>
          <a:ln/>
        </p:spPr>
        <p:txBody>
          <a:bodyPr wrap="square" lIns="139700" tIns="139700" rIns="139700" bIns="139700" rtlCol="0" anchor="ctr"/>
          <a:lstStyle/>
          <a:p>
            <a:pPr marL="0" indent="0">
              <a:lnSpc>
                <a:spcPct val="108000"/>
              </a:lnSpc>
              <a:buNone/>
            </a:pPr>
            <a:r>
              <a:rPr lang="en-US" sz="1200" b="1" dirty="0">
                <a:solidFill>
                  <a:srgbClr val="161B24"/>
                </a:solidFill>
                <a:latin typeface="Calibri" pitchFamily="34" charset="0"/>
                <a:ea typeface="Calibri" pitchFamily="34" charset="-122"/>
                <a:cs typeface="Calibri" pitchFamily="34" charset="-120"/>
              </a:rPr>
              <a:t>Answer.  </a:t>
            </a:r>
            <a:r>
              <a:rPr lang="en-US" sz="1200" dirty="0">
                <a:solidFill>
                  <a:srgbClr val="586274"/>
                </a:solidFill>
                <a:latin typeface="Calibri" pitchFamily="34" charset="0"/>
                <a:ea typeface="Calibri" pitchFamily="34" charset="-122"/>
                <a:cs typeface="Calibri" pitchFamily="34" charset="-120"/>
              </a:rPr>
              <a:t>All three VLM-association runs beat the end-to-end model. The token table raises both precision (the model isn’t also making OCR errors) and recall (the front-end recovered tokens it would miss). The best, E3-EMB-VLM at 0.4945, is +0.135 over E4 (0.3597). Structuring the problem before binding is worth more than handing the whole task to one model.</a:t>
            </a:r>
            <a:endParaRPr lang="en-US" sz="1200" dirty="0"/>
          </a:p>
        </p:txBody>
      </p:sp>
      <p:sp>
        <p:nvSpPr>
          <p:cNvPr id="11" name="Shape 8"/>
          <p:cNvSpPr/>
          <p:nvPr/>
        </p:nvSpPr>
        <p:spPr>
          <a:xfrm>
            <a:off x="566928" y="4069080"/>
            <a:ext cx="64008" cy="1554480"/>
          </a:xfrm>
          <a:prstGeom prst="rect">
            <a:avLst/>
          </a:prstGeom>
          <a:solidFill>
            <a:srgbClr val="0F766E"/>
          </a:solidFill>
          <a:ln/>
        </p:spPr>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27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08 · ALL 14 RUNS</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Complete results</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591056"/>
          <a:ext cx="11055096" cy="3771900"/>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2551176">
                  <a:extLst>
                    <a:ext uri="{9D8B030D-6E8A-4147-A177-3AD203B41FA5}">
                      <a16:colId xmlns:a16="http://schemas.microsoft.com/office/drawing/2014/main" val="20005"/>
                    </a:ext>
                  </a:extLst>
                </a:gridCol>
              </a:tblGrid>
              <a:tr h="0">
                <a:tc>
                  <a:txBody>
                    <a:bodyPr/>
                    <a:lstStyle/>
                    <a:p>
                      <a:pPr marL="0" indent="0" algn="l">
                        <a:buNone/>
                      </a:pPr>
                      <a:r>
                        <a:rPr lang="en-US" sz="1050" b="1" dirty="0">
                          <a:solidFill>
                            <a:srgbClr val="586274"/>
                          </a:solidFill>
                          <a:latin typeface="Georgia" pitchFamily="34" charset="0"/>
                          <a:ea typeface="Georgia" pitchFamily="34" charset="-122"/>
                          <a:cs typeface="Georgia" pitchFamily="34" charset="-120"/>
                        </a:rPr>
                        <a:t>ID</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l">
                        <a:buNone/>
                      </a:pPr>
                      <a:r>
                        <a:rPr lang="en-US" sz="1050" b="1" dirty="0">
                          <a:solidFill>
                            <a:srgbClr val="586274"/>
                          </a:solidFill>
                          <a:latin typeface="Georgia" pitchFamily="34" charset="0"/>
                          <a:ea typeface="Georgia" pitchFamily="34" charset="-122"/>
                          <a:cs typeface="Georgia" pitchFamily="34" charset="-120"/>
                        </a:rPr>
                        <a:t>OCR</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l">
                        <a:buNone/>
                      </a:pPr>
                      <a:r>
                        <a:rPr lang="en-US" sz="1050" b="1" dirty="0">
                          <a:solidFill>
                            <a:srgbClr val="586274"/>
                          </a:solidFill>
                          <a:latin typeface="Georgia" pitchFamily="34" charset="0"/>
                          <a:ea typeface="Georgia" pitchFamily="34" charset="-122"/>
                          <a:cs typeface="Georgia" pitchFamily="34" charset="-120"/>
                        </a:rPr>
                        <a:t>Classifier</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l">
                        <a:buNone/>
                      </a:pPr>
                      <a:r>
                        <a:rPr lang="en-US" sz="1050" b="1" dirty="0">
                          <a:solidFill>
                            <a:srgbClr val="586274"/>
                          </a:solidFill>
                          <a:latin typeface="Georgia" pitchFamily="34" charset="0"/>
                          <a:ea typeface="Georgia" pitchFamily="34" charset="-122"/>
                          <a:cs typeface="Georgia" pitchFamily="34" charset="-120"/>
                        </a:rPr>
                        <a:t>Association</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r">
                        <a:buNone/>
                      </a:pPr>
                      <a:r>
                        <a:rPr lang="en-US" sz="1050" b="1" dirty="0">
                          <a:solidFill>
                            <a:srgbClr val="586274"/>
                          </a:solidFill>
                          <a:latin typeface="Georgia" pitchFamily="34" charset="0"/>
                          <a:ea typeface="Georgia" pitchFamily="34" charset="-122"/>
                          <a:cs typeface="Georgia" pitchFamily="34" charset="-120"/>
                        </a:rPr>
                        <a:t>4F-F1</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tc>
                  <a:txBody>
                    <a:bodyPr/>
                    <a:lstStyle/>
                    <a:p>
                      <a:pPr marL="0" indent="0" algn="l">
                        <a:buNone/>
                      </a:pPr>
                      <a:r>
                        <a:rPr lang="en-US" sz="1050" b="1" dirty="0">
                          <a:solidFill>
                            <a:srgbClr val="586274"/>
                          </a:solidFill>
                          <a:latin typeface="Georgia" pitchFamily="34" charset="0"/>
                          <a:ea typeface="Georgia" pitchFamily="34" charset="-122"/>
                          <a:cs typeface="Georgia" pitchFamily="34" charset="-120"/>
                        </a:rPr>
                        <a:t>Note</a:t>
                      </a:r>
                      <a:endParaRPr lang="en-US" sz="1050" dirty="0">
                        <a:latin typeface="Georgia" charset="0"/>
                        <a:ea typeface="Georgia" charset="0"/>
                        <a:cs typeface="Georgia"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6F7FA"/>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E3-EMB-VLM</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Paddle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Embedding</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VLM assoc.</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r">
                        <a:buNone/>
                      </a:pPr>
                      <a:r>
                        <a:rPr lang="en-US" sz="1050" b="1" dirty="0">
                          <a:solidFill>
                            <a:srgbClr val="D97706"/>
                          </a:solidFill>
                          <a:latin typeface="Consolas" pitchFamily="34" charset="0"/>
                          <a:ea typeface="Consolas" pitchFamily="34" charset="-122"/>
                          <a:cs typeface="Consolas" pitchFamily="34" charset="-120"/>
                        </a:rPr>
                        <a:t>0.4945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best overall</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FBF1E3"/>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A_VLM</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Paddle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VLM assoc.</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0.4819</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black-box bind</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E3-GLiNER-VLM</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Paddle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GLiNER</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VLM assoc.</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0.4446</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E2-C</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Paddle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GLiNER</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graph v2 · overlap</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r">
                        <a:buNone/>
                      </a:pPr>
                      <a:r>
                        <a:rPr lang="en-US" sz="1050" b="1" dirty="0">
                          <a:solidFill>
                            <a:srgbClr val="0F766E"/>
                          </a:solidFill>
                          <a:latin typeface="Consolas" pitchFamily="34" charset="0"/>
                          <a:ea typeface="Consolas" pitchFamily="34" charset="-122"/>
                          <a:cs typeface="Consolas" pitchFamily="34" charset="-120"/>
                        </a:rPr>
                        <a:t>0.4304</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best interpretable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solidFill>
                      <a:srgbClr val="EAF2F1"/>
                    </a:solidFill>
                  </a:tcPr>
                </a:tc>
                <a:extLst>
                  <a:ext uri="{0D108BD9-81ED-4DB2-BD59-A6C34878D82A}">
                    <a16:rowId xmlns:a16="http://schemas.microsoft.com/office/drawing/2014/main" val="10004"/>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E2-A</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Paddle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graph v2 · overlap</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0.4231</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highest recall</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E5-GLiNER-cy</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Paddle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GLiNER</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graph v2 · cy-cx</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0.4135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overlap +1.7pp</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E2-B</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Paddle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Embedding</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graph v2 · overlap</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0.4025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best emb row</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exp39d</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Paddle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Embedding</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graph v2 · cy-cx</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0.3860</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E4</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end-to-end VLM</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DC2626"/>
                          </a:solidFill>
                          <a:latin typeface="Consolas" pitchFamily="34" charset="0"/>
                          <a:ea typeface="Consolas" pitchFamily="34" charset="-122"/>
                          <a:cs typeface="Consolas" pitchFamily="34" charset="-120"/>
                        </a:rPr>
                        <a:t>0.3597</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bypasses pipeline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exp39f</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Paddle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Embedding</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graph v2 · merged</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0.3190</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union wrecks P</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E3-GLiNER-G1</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Paddle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GLiNER</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graph v1</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0.2523</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legacy graph</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11"/>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E3-EMB-G1</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Paddle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Embedding</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graph v1</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0.2325</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legacy graph</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12"/>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EXP-01</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EasyOCR</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graph v2 · overlap</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161B24"/>
                          </a:solidFill>
                          <a:latin typeface="Consolas" pitchFamily="34" charset="0"/>
                          <a:ea typeface="Consolas" pitchFamily="34" charset="-122"/>
                          <a:cs typeface="Consolas" pitchFamily="34" charset="-120"/>
                        </a:rPr>
                        <a:t>0.1773</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OCR baseline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13"/>
                  </a:ext>
                </a:extLst>
              </a:tr>
              <a:tr h="0">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exp39c</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Paddle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Embedding</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586274"/>
                          </a:solidFill>
                          <a:latin typeface="Calibri" pitchFamily="34" charset="0"/>
                          <a:ea typeface="Calibri" pitchFamily="34" charset="-122"/>
                          <a:cs typeface="Calibri" pitchFamily="34" charset="-120"/>
                        </a:rPr>
                        <a:t>graph v2 · role_rank</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r">
                        <a:buNone/>
                      </a:pPr>
                      <a:r>
                        <a:rPr lang="en-US" sz="1050" b="1" dirty="0">
                          <a:solidFill>
                            <a:srgbClr val="DC2626"/>
                          </a:solidFill>
                          <a:latin typeface="Consolas" pitchFamily="34" charset="0"/>
                          <a:ea typeface="Consolas" pitchFamily="34" charset="-122"/>
                          <a:cs typeface="Consolas" pitchFamily="34" charset="-120"/>
                        </a:rPr>
                        <a:t>0.1320</a:t>
                      </a:r>
                      <a:endParaRPr lang="en-US" sz="1050" dirty="0">
                        <a:latin typeface="Consolas" charset="0"/>
                        <a:ea typeface="Consolas" charset="0"/>
                        <a:cs typeface="Consolas"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tc>
                  <a:txBody>
                    <a:bodyPr/>
                    <a:lstStyle/>
                    <a:p>
                      <a:pPr marL="0" indent="0" algn="l">
                        <a:buNone/>
                      </a:pPr>
                      <a:r>
                        <a:rPr lang="en-US" sz="1050" dirty="0">
                          <a:solidFill>
                            <a:srgbClr val="959DAB"/>
                          </a:solidFill>
                          <a:latin typeface="Calibri" pitchFamily="34" charset="0"/>
                          <a:ea typeface="Calibri" pitchFamily="34" charset="-122"/>
                          <a:cs typeface="Calibri" pitchFamily="34" charset="-120"/>
                        </a:rPr>
                        <a:t>ordinal brittle</a:t>
                      </a:r>
                      <a:endParaRPr lang="en-US" sz="1050" dirty="0">
                        <a:latin typeface="Calibri" charset="0"/>
                        <a:ea typeface="Calibri" charset="0"/>
                        <a:cs typeface="Calibri" charset="0"/>
                      </a:endParaRPr>
                    </a:p>
                  </a:txBody>
                  <a:tcPr anchor="ctr">
                    <a:lnL w="6350" cap="flat" cmpd="sng" algn="ctr">
                      <a:solidFill>
                        <a:srgbClr val="EAEDF1"/>
                      </a:solidFill>
                      <a:prstDash val="solid"/>
                      <a:round/>
                      <a:headEnd type="none" w="med" len="med"/>
                      <a:tailEnd type="none" w="med" len="med"/>
                    </a:lnL>
                    <a:lnR w="6350" cap="flat" cmpd="sng" algn="ctr">
                      <a:solidFill>
                        <a:srgbClr val="EAEDF1"/>
                      </a:solidFill>
                      <a:prstDash val="solid"/>
                      <a:round/>
                      <a:headEnd type="none" w="med" len="med"/>
                      <a:tailEnd type="none" w="med" len="med"/>
                    </a:lnR>
                    <a:lnT w="6350" cap="flat" cmpd="sng" algn="ctr">
                      <a:solidFill>
                        <a:srgbClr val="EAEDF1"/>
                      </a:solidFill>
                      <a:prstDash val="solid"/>
                      <a:round/>
                      <a:headEnd type="none" w="med" len="med"/>
                      <a:tailEnd type="none" w="med" len="med"/>
                    </a:lnT>
                    <a:lnB w="6350" cap="flat" cmpd="sng" algn="ctr">
                      <a:solidFill>
                        <a:srgbClr val="EAEDF1"/>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0F766E"/>
          </a:solidFill>
          <a:ln/>
        </p:spPr>
        <p:txBody>
          <a:bodyPr/>
          <a:lstStyle/>
          <a:p>
            <a:endParaRPr lang="en-US"/>
          </a:p>
        </p:txBody>
      </p:sp>
      <p:sp>
        <p:nvSpPr>
          <p:cNvPr id="3" name="Text 1"/>
          <p:cNvSpPr/>
          <p:nvPr/>
        </p:nvSpPr>
        <p:spPr>
          <a:xfrm>
            <a:off x="10634472" y="6400800"/>
            <a:ext cx="1188720" cy="274320"/>
          </a:xfrm>
          <a:prstGeom prst="rect">
            <a:avLst/>
          </a:prstGeom>
          <a:noFill/>
          <a:ln/>
        </p:spPr>
        <p:txBody>
          <a:bodyPr wrap="square" rtlCol="0" anchor="ctr"/>
          <a:lstStyle/>
          <a:p>
            <a:pPr marL="0" indent="0" algn="r">
              <a:buNone/>
            </a:pPr>
            <a:r>
              <a:rPr lang="en-US" sz="900" dirty="0">
                <a:solidFill>
                  <a:srgbClr val="959DAB"/>
                </a:solidFill>
                <a:latin typeface="Consolas" pitchFamily="34" charset="0"/>
                <a:ea typeface="Consolas" pitchFamily="34" charset="-122"/>
                <a:cs typeface="Consolas" pitchFamily="34" charset="-120"/>
              </a:rPr>
              <a:t>28 / 28</a:t>
            </a:r>
            <a:endParaRPr lang="en-US" sz="900" dirty="0"/>
          </a:p>
        </p:txBody>
      </p:sp>
      <p:sp>
        <p:nvSpPr>
          <p:cNvPr id="4" name="Text 2"/>
          <p:cNvSpPr/>
          <p:nvPr/>
        </p:nvSpPr>
        <p:spPr>
          <a:xfrm>
            <a:off x="566928" y="6400800"/>
            <a:ext cx="5486400" cy="274320"/>
          </a:xfrm>
          <a:prstGeom prst="rect">
            <a:avLst/>
          </a:prstGeom>
          <a:noFill/>
          <a:ln/>
        </p:spPr>
        <p:txBody>
          <a:bodyPr wrap="square" rtlCol="0" anchor="ctr"/>
          <a:lstStyle/>
          <a:p>
            <a:pPr marL="0" indent="0">
              <a:buNone/>
            </a:pPr>
            <a:r>
              <a:rPr lang="en-US" sz="900" dirty="0">
                <a:solidFill>
                  <a:srgbClr val="586274"/>
                </a:solidFill>
                <a:latin typeface="Consolas" pitchFamily="34" charset="0"/>
                <a:ea typeface="Consolas" pitchFamily="34" charset="-122"/>
                <a:cs typeface="Consolas" pitchFamily="34" charset="-120"/>
              </a:rPr>
              <a:t>PaddleOCR → </a:t>
            </a:r>
            <a:r>
              <a:rPr lang="en-US" sz="900" b="1" dirty="0">
                <a:solidFill>
                  <a:srgbClr val="0F766E"/>
                </a:solidFill>
                <a:latin typeface="Consolas" pitchFamily="34" charset="0"/>
                <a:ea typeface="Consolas" pitchFamily="34" charset="-122"/>
                <a:cs typeface="Consolas" pitchFamily="34" charset="-120"/>
              </a:rPr>
              <a:t>GLiNER</a:t>
            </a:r>
            <a:r>
              <a:rPr lang="en-US" sz="900" dirty="0">
                <a:solidFill>
                  <a:srgbClr val="586274"/>
                </a:solidFill>
                <a:latin typeface="Consolas" pitchFamily="34" charset="0"/>
                <a:ea typeface="Consolas" pitchFamily="34" charset="-122"/>
                <a:cs typeface="Consolas" pitchFamily="34" charset="-120"/>
              </a:rPr>
              <a:t> → graph v2 · </a:t>
            </a:r>
            <a:r>
              <a:rPr lang="en-US" sz="900" b="1" dirty="0">
                <a:solidFill>
                  <a:srgbClr val="0F766E"/>
                </a:solidFill>
                <a:latin typeface="Consolas" pitchFamily="34" charset="0"/>
                <a:ea typeface="Consolas" pitchFamily="34" charset="-122"/>
                <a:cs typeface="Consolas" pitchFamily="34" charset="-120"/>
              </a:rPr>
              <a:t>43.0%</a:t>
            </a:r>
            <a:endParaRPr lang="en-US" sz="900" dirty="0"/>
          </a:p>
        </p:txBody>
      </p:sp>
      <p:sp>
        <p:nvSpPr>
          <p:cNvPr id="5" name="Text 3"/>
          <p:cNvSpPr/>
          <p:nvPr/>
        </p:nvSpPr>
        <p:spPr>
          <a:xfrm>
            <a:off x="566928" y="384048"/>
            <a:ext cx="11055096" cy="274320"/>
          </a:xfrm>
          <a:prstGeom prst="rect">
            <a:avLst/>
          </a:prstGeom>
          <a:noFill/>
          <a:ln/>
        </p:spPr>
        <p:txBody>
          <a:bodyPr wrap="square" rtlCol="0" anchor="ctr"/>
          <a:lstStyle/>
          <a:p>
            <a:pPr marL="0" indent="0">
              <a:buNone/>
            </a:pPr>
            <a:r>
              <a:rPr lang="en-US" sz="1100" b="1" kern="0" spc="200" dirty="0">
                <a:solidFill>
                  <a:srgbClr val="0F766E"/>
                </a:solidFill>
                <a:latin typeface="Consolas" pitchFamily="34" charset="0"/>
                <a:ea typeface="Consolas" pitchFamily="34" charset="-122"/>
                <a:cs typeface="Consolas" pitchFamily="34" charset="-120"/>
              </a:rPr>
              <a:t>09 · CONCLUSION</a:t>
            </a:r>
            <a:endParaRPr lang="en-US" sz="1100" dirty="0"/>
          </a:p>
        </p:txBody>
      </p:sp>
      <p:sp>
        <p:nvSpPr>
          <p:cNvPr id="6" name="Text 4"/>
          <p:cNvSpPr/>
          <p:nvPr/>
        </p:nvSpPr>
        <p:spPr>
          <a:xfrm>
            <a:off x="566928" y="676656"/>
            <a:ext cx="11055096" cy="731520"/>
          </a:xfrm>
          <a:prstGeom prst="rect">
            <a:avLst/>
          </a:prstGeom>
          <a:noFill/>
          <a:ln/>
        </p:spPr>
        <p:txBody>
          <a:bodyPr wrap="square" rtlCol="0" anchor="t"/>
          <a:lstStyle/>
          <a:p>
            <a:pPr marL="0" indent="0">
              <a:buNone/>
            </a:pPr>
            <a:r>
              <a:rPr lang="en-US" sz="2600" b="1" dirty="0">
                <a:solidFill>
                  <a:srgbClr val="161B24"/>
                </a:solidFill>
                <a:latin typeface="Georgia" pitchFamily="34" charset="0"/>
                <a:ea typeface="Georgia" pitchFamily="34" charset="-122"/>
                <a:cs typeface="Georgia" pitchFamily="34" charset="-120"/>
              </a:rPr>
              <a:t>Interpretable, zero-shot, and competitive</a:t>
            </a:r>
            <a:endParaRPr lang="en-US" sz="2600" dirty="0"/>
          </a:p>
        </p:txBody>
      </p:sp>
      <p:sp>
        <p:nvSpPr>
          <p:cNvPr id="7" name="Shape 5"/>
          <p:cNvSpPr/>
          <p:nvPr/>
        </p:nvSpPr>
        <p:spPr>
          <a:xfrm>
            <a:off x="566928" y="1463040"/>
            <a:ext cx="11055096" cy="0"/>
          </a:xfrm>
          <a:prstGeom prst="line">
            <a:avLst/>
          </a:prstGeom>
          <a:noFill/>
          <a:ln w="12700">
            <a:solidFill>
              <a:srgbClr val="E0E4EA"/>
            </a:solidFill>
            <a:prstDash val="solid"/>
          </a:ln>
        </p:spPr>
        <p:txBody>
          <a:bodyPr/>
          <a:lstStyle/>
          <a:p>
            <a:endParaRPr lang="en-US"/>
          </a:p>
        </p:txBody>
      </p:sp>
      <p:sp>
        <p:nvSpPr>
          <p:cNvPr id="8" name="Text 6"/>
          <p:cNvSpPr/>
          <p:nvPr/>
        </p:nvSpPr>
        <p:spPr>
          <a:xfrm>
            <a:off x="566928" y="1627632"/>
            <a:ext cx="6400800" cy="228600"/>
          </a:xfrm>
          <a:prstGeom prst="rect">
            <a:avLst/>
          </a:prstGeom>
          <a:noFill/>
          <a:ln/>
        </p:spPr>
        <p:txBody>
          <a:bodyPr wrap="square" rtlCol="0" anchor="ctr"/>
          <a:lstStyle/>
          <a:p>
            <a:pPr marL="0" indent="0">
              <a:buNone/>
            </a:pPr>
            <a:r>
              <a:rPr lang="en-US" sz="950" kern="0" spc="100" dirty="0">
                <a:solidFill>
                  <a:srgbClr val="959DAB"/>
                </a:solidFill>
                <a:latin typeface="Consolas" pitchFamily="34" charset="0"/>
                <a:ea typeface="Consolas" pitchFamily="34" charset="-122"/>
                <a:cs typeface="Consolas" pitchFamily="34" charset="-120"/>
              </a:rPr>
              <a:t>CONTRIBUTIONS</a:t>
            </a:r>
            <a:endParaRPr lang="en-US" sz="950" dirty="0"/>
          </a:p>
        </p:txBody>
      </p:sp>
      <p:sp>
        <p:nvSpPr>
          <p:cNvPr id="9" name="Text 7"/>
          <p:cNvSpPr/>
          <p:nvPr/>
        </p:nvSpPr>
        <p:spPr>
          <a:xfrm>
            <a:off x="566928" y="1901952"/>
            <a:ext cx="6492240" cy="2011680"/>
          </a:xfrm>
          <a:prstGeom prst="rect">
            <a:avLst/>
          </a:prstGeom>
          <a:noFill/>
          <a:ln/>
        </p:spPr>
        <p:txBody>
          <a:bodyPr wrap="square" rtlCol="0" anchor="t"/>
          <a:lstStyle/>
          <a:p>
            <a:pPr marL="177800" indent="-177800">
              <a:lnSpc>
                <a:spcPct val="108000"/>
              </a:lnSpc>
              <a:buSzPct val="100000"/>
              <a:buChar char="•"/>
            </a:pPr>
            <a:r>
              <a:rPr lang="en-US" sz="1200" dirty="0">
                <a:solidFill>
                  <a:srgbClr val="586274"/>
                </a:solidFill>
                <a:latin typeface="Calibri" pitchFamily="34" charset="0"/>
                <a:ea typeface="Calibri" pitchFamily="34" charset="-122"/>
                <a:cs typeface="Calibri" pitchFamily="34" charset="-120"/>
              </a:rPr>
              <a:t>A modular, fully zero-shot pipeline recovering ⟨nutrient, quantity, unit, context⟩ from label photos across languages.
</a:t>
            </a:r>
            <a:endParaRPr lang="en-US" sz="1200" dirty="0"/>
          </a:p>
          <a:p>
            <a:pPr marL="0" indent="0">
              <a:lnSpc>
                <a:spcPct val="108000"/>
              </a:lnSpc>
              <a:buNone/>
            </a:pPr>
            <a:r>
              <a:rPr lang="en-US" sz="1200" dirty="0">
                <a:solidFill>
                  <a:srgbClr val="586274"/>
                </a:solidFill>
                <a:latin typeface="Calibri" pitchFamily="34" charset="0"/>
                <a:ea typeface="Calibri" pitchFamily="34" charset="-122"/>
                <a:cs typeface="Calibri" pitchFamily="34" charset="-120"/>
              </a:rPr>
              <a:t>Graph v2 with closed-form geometric/structural edges — relational power without supervision; HEADER_SCOPE nearly doubles multi-context recall.
</a:t>
            </a:r>
            <a:endParaRPr lang="en-US" sz="1200" dirty="0"/>
          </a:p>
          <a:p>
            <a:pPr marL="0" indent="0">
              <a:lnSpc>
                <a:spcPct val="108000"/>
              </a:lnSpc>
              <a:buNone/>
            </a:pPr>
            <a:r>
              <a:rPr lang="en-US" sz="1200" dirty="0">
                <a:solidFill>
                  <a:srgbClr val="586274"/>
                </a:solidFill>
                <a:latin typeface="Calibri" pitchFamily="34" charset="0"/>
                <a:ea typeface="Calibri" pitchFamily="34" charset="-122"/>
                <a:cs typeface="Calibri" pitchFamily="34" charset="-120"/>
              </a:rPr>
              <a:t>A VLM-as-associator variant that uses the model only where it pays, keeping the front-end interpretable.
</a:t>
            </a:r>
            <a:endParaRPr lang="en-US" sz="1200" dirty="0"/>
          </a:p>
          <a:p>
            <a:pPr marL="0" indent="0">
              <a:lnSpc>
                <a:spcPct val="108000"/>
              </a:lnSpc>
              <a:buNone/>
            </a:pPr>
            <a:r>
              <a:rPr lang="en-US" sz="1200" dirty="0">
                <a:solidFill>
                  <a:srgbClr val="586274"/>
                </a:solidFill>
                <a:latin typeface="Calibri" pitchFamily="34" charset="0"/>
                <a:ea typeface="Calibri" pitchFamily="34" charset="-122"/>
                <a:cs typeface="Calibri" pitchFamily="34" charset="-120"/>
              </a:rPr>
              <a:t>A reproducible 57-image / 866-tuple benchmark with a deterministic evaluator.</a:t>
            </a:r>
            <a:endParaRPr lang="en-US" sz="1200" dirty="0"/>
          </a:p>
        </p:txBody>
      </p:sp>
      <p:sp>
        <p:nvSpPr>
          <p:cNvPr id="10" name="Text 8"/>
          <p:cNvSpPr/>
          <p:nvPr/>
        </p:nvSpPr>
        <p:spPr>
          <a:xfrm>
            <a:off x="566928" y="3977640"/>
            <a:ext cx="6400800" cy="228600"/>
          </a:xfrm>
          <a:prstGeom prst="rect">
            <a:avLst/>
          </a:prstGeom>
          <a:noFill/>
          <a:ln/>
        </p:spPr>
        <p:txBody>
          <a:bodyPr wrap="square" rtlCol="0" anchor="ctr"/>
          <a:lstStyle/>
          <a:p>
            <a:pPr marL="0" indent="0">
              <a:buNone/>
            </a:pPr>
            <a:r>
              <a:rPr lang="en-US" sz="950" kern="0" spc="100" dirty="0">
                <a:solidFill>
                  <a:srgbClr val="959DAB"/>
                </a:solidFill>
                <a:latin typeface="Consolas" pitchFamily="34" charset="0"/>
                <a:ea typeface="Consolas" pitchFamily="34" charset="-122"/>
                <a:cs typeface="Consolas" pitchFamily="34" charset="-120"/>
              </a:rPr>
              <a:t>LIMITATIONS &amp; FUTURE WORK</a:t>
            </a:r>
            <a:endParaRPr lang="en-US" sz="950" dirty="0"/>
          </a:p>
        </p:txBody>
      </p:sp>
      <p:sp>
        <p:nvSpPr>
          <p:cNvPr id="11" name="Text 9"/>
          <p:cNvSpPr/>
          <p:nvPr/>
        </p:nvSpPr>
        <p:spPr>
          <a:xfrm>
            <a:off x="566928" y="4251960"/>
            <a:ext cx="6492240" cy="1463040"/>
          </a:xfrm>
          <a:prstGeom prst="rect">
            <a:avLst/>
          </a:prstGeom>
          <a:noFill/>
          <a:ln/>
        </p:spPr>
        <p:txBody>
          <a:bodyPr wrap="square" rtlCol="0" anchor="t"/>
          <a:lstStyle/>
          <a:p>
            <a:pPr marL="177800" indent="-177800">
              <a:lnSpc>
                <a:spcPct val="108000"/>
              </a:lnSpc>
              <a:buSzPct val="100000"/>
              <a:buChar char="•"/>
            </a:pPr>
            <a:r>
              <a:rPr lang="en-US" sz="1200" dirty="0">
                <a:solidFill>
                  <a:srgbClr val="586274"/>
                </a:solidFill>
                <a:latin typeface="Calibri" pitchFamily="34" charset="0"/>
                <a:ea typeface="Calibri" pitchFamily="34" charset="-122"/>
                <a:cs typeface="Calibri" pitchFamily="34" charset="-120"/>
              </a:rPr>
              <a:t>Greedy local association — no global one-to-one resolution.
</a:t>
            </a:r>
            <a:endParaRPr lang="en-US" sz="1200" dirty="0"/>
          </a:p>
          <a:p>
            <a:pPr marL="0" indent="0">
              <a:lnSpc>
                <a:spcPct val="108000"/>
              </a:lnSpc>
              <a:buNone/>
            </a:pPr>
            <a:r>
              <a:rPr lang="en-US" sz="1200" dirty="0">
                <a:solidFill>
                  <a:srgbClr val="586274"/>
                </a:solidFill>
                <a:latin typeface="Calibri" pitchFamily="34" charset="0"/>
                <a:ea typeface="Calibri" pitchFamily="34" charset="-122"/>
                <a:cs typeface="Calibri" pitchFamily="34" charset="-120"/>
              </a:rPr>
              <a:t>Small single-domain corpus; OCR is still the dominant error source.
</a:t>
            </a:r>
            <a:endParaRPr lang="en-US" sz="1200" dirty="0"/>
          </a:p>
          <a:p>
            <a:pPr marL="0" indent="0">
              <a:lnSpc>
                <a:spcPct val="108000"/>
              </a:lnSpc>
              <a:buNone/>
            </a:pPr>
            <a:r>
              <a:rPr lang="en-US" sz="1200" dirty="0">
                <a:solidFill>
                  <a:srgbClr val="586274"/>
                </a:solidFill>
                <a:latin typeface="Calibri" pitchFamily="34" charset="0"/>
                <a:ea typeface="Calibri" pitchFamily="34" charset="-122"/>
                <a:cs typeface="Calibri" pitchFamily="34" charset="-120"/>
              </a:rPr>
              <a:t>Next: larger multilingual corpora, learned-but-inspectable edge scoring, global matching.</a:t>
            </a:r>
            <a:endParaRPr lang="en-US" sz="1200" dirty="0"/>
          </a:p>
        </p:txBody>
      </p:sp>
      <p:sp>
        <p:nvSpPr>
          <p:cNvPr id="12" name="Shape 10"/>
          <p:cNvSpPr/>
          <p:nvPr/>
        </p:nvSpPr>
        <p:spPr>
          <a:xfrm>
            <a:off x="7406640" y="1627632"/>
            <a:ext cx="4206240" cy="4160520"/>
          </a:xfrm>
          <a:prstGeom prst="roundRect">
            <a:avLst>
              <a:gd name="adj" fmla="val 1319"/>
            </a:avLst>
          </a:prstGeom>
          <a:solidFill>
            <a:srgbClr val="EAF2F1"/>
          </a:solidFill>
          <a:ln w="20320">
            <a:solidFill>
              <a:srgbClr val="0F766E"/>
            </a:solidFill>
            <a:prstDash val="solid"/>
          </a:ln>
        </p:spPr>
        <p:txBody>
          <a:bodyPr/>
          <a:lstStyle/>
          <a:p>
            <a:endParaRPr lang="en-US"/>
          </a:p>
        </p:txBody>
      </p:sp>
      <p:sp>
        <p:nvSpPr>
          <p:cNvPr id="13" name="Text 11"/>
          <p:cNvSpPr/>
          <p:nvPr/>
        </p:nvSpPr>
        <p:spPr>
          <a:xfrm>
            <a:off x="7726680" y="1828800"/>
            <a:ext cx="3566160" cy="228600"/>
          </a:xfrm>
          <a:prstGeom prst="rect">
            <a:avLst/>
          </a:prstGeom>
          <a:noFill/>
          <a:ln/>
        </p:spPr>
        <p:txBody>
          <a:bodyPr wrap="square" rtlCol="0" anchor="ctr"/>
          <a:lstStyle/>
          <a:p>
            <a:pPr marL="0" indent="0">
              <a:buNone/>
            </a:pPr>
            <a:r>
              <a:rPr lang="en-US" sz="950" kern="0" spc="100" dirty="0">
                <a:solidFill>
                  <a:srgbClr val="959DAB"/>
                </a:solidFill>
                <a:latin typeface="Consolas" pitchFamily="34" charset="0"/>
                <a:ea typeface="Consolas" pitchFamily="34" charset="-122"/>
                <a:cs typeface="Consolas" pitchFamily="34" charset="-120"/>
              </a:rPr>
              <a:t>HEADLINE RESULT</a:t>
            </a:r>
            <a:endParaRPr lang="en-US" sz="950" dirty="0"/>
          </a:p>
        </p:txBody>
      </p:sp>
      <p:sp>
        <p:nvSpPr>
          <p:cNvPr id="14" name="Text 12"/>
          <p:cNvSpPr/>
          <p:nvPr/>
        </p:nvSpPr>
        <p:spPr>
          <a:xfrm>
            <a:off x="7726680" y="2057400"/>
            <a:ext cx="3566160" cy="914400"/>
          </a:xfrm>
          <a:prstGeom prst="rect">
            <a:avLst/>
          </a:prstGeom>
          <a:noFill/>
          <a:ln/>
        </p:spPr>
        <p:txBody>
          <a:bodyPr wrap="square" rtlCol="0" anchor="ctr"/>
          <a:lstStyle/>
          <a:p>
            <a:pPr marL="0" indent="0">
              <a:buNone/>
            </a:pPr>
            <a:r>
              <a:rPr lang="en-US" sz="5400" b="1" dirty="0">
                <a:solidFill>
                  <a:srgbClr val="0F766E"/>
                </a:solidFill>
                <a:latin typeface="Georgia" pitchFamily="34" charset="0"/>
                <a:ea typeface="Georgia" pitchFamily="34" charset="-122"/>
                <a:cs typeface="Georgia" pitchFamily="34" charset="-120"/>
              </a:rPr>
              <a:t>43.0%</a:t>
            </a:r>
            <a:endParaRPr lang="en-US" sz="5400" dirty="0"/>
          </a:p>
        </p:txBody>
      </p:sp>
      <p:sp>
        <p:nvSpPr>
          <p:cNvPr id="15" name="Text 13"/>
          <p:cNvSpPr/>
          <p:nvPr/>
        </p:nvSpPr>
        <p:spPr>
          <a:xfrm>
            <a:off x="7726680" y="3017520"/>
            <a:ext cx="3566160" cy="640080"/>
          </a:xfrm>
          <a:prstGeom prst="rect">
            <a:avLst/>
          </a:prstGeom>
          <a:noFill/>
          <a:ln/>
        </p:spPr>
        <p:txBody>
          <a:bodyPr wrap="square" rtlCol="0" anchor="ctr"/>
          <a:lstStyle/>
          <a:p>
            <a:pPr marL="0" indent="0">
              <a:lnSpc>
                <a:spcPct val="120000"/>
              </a:lnSpc>
              <a:buNone/>
            </a:pPr>
            <a:r>
              <a:rPr lang="en-US" sz="1050" dirty="0">
                <a:solidFill>
                  <a:srgbClr val="586274"/>
                </a:solidFill>
                <a:latin typeface="Consolas" pitchFamily="34" charset="0"/>
                <a:ea typeface="Consolas" pitchFamily="34" charset="-122"/>
                <a:cs typeface="Consolas" pitchFamily="34" charset="-120"/>
              </a:rPr>
              <a:t>best interpretable 4F-F1, fully zero-shot</a:t>
            </a:r>
            <a:endParaRPr lang="en-US" sz="1050" dirty="0"/>
          </a:p>
          <a:p>
            <a:pPr marL="0" indent="0">
              <a:lnSpc>
                <a:spcPct val="120000"/>
              </a:lnSpc>
              <a:buNone/>
            </a:pPr>
            <a:r>
              <a:rPr lang="en-US" sz="1050" dirty="0">
                <a:solidFill>
                  <a:srgbClr val="586274"/>
                </a:solidFill>
                <a:latin typeface="Consolas" pitchFamily="34" charset="0"/>
                <a:ea typeface="Consolas" pitchFamily="34" charset="-122"/>
                <a:cs typeface="Consolas" pitchFamily="34" charset="-120"/>
              </a:rPr>
              <a:t>PaddleOCR → GLiNER → graph v2 · overlap</a:t>
            </a:r>
            <a:endParaRPr lang="en-US" sz="1050" dirty="0"/>
          </a:p>
        </p:txBody>
      </p:sp>
      <p:sp>
        <p:nvSpPr>
          <p:cNvPr id="16" name="Text 14"/>
          <p:cNvSpPr/>
          <p:nvPr/>
        </p:nvSpPr>
        <p:spPr>
          <a:xfrm>
            <a:off x="7726680" y="3703320"/>
            <a:ext cx="3566160" cy="548640"/>
          </a:xfrm>
          <a:prstGeom prst="rect">
            <a:avLst/>
          </a:prstGeom>
          <a:noFill/>
          <a:ln/>
        </p:spPr>
        <p:txBody>
          <a:bodyPr wrap="square" rtlCol="0" anchor="ctr"/>
          <a:lstStyle/>
          <a:p>
            <a:pPr marL="0" indent="0">
              <a:lnSpc>
                <a:spcPct val="110000"/>
              </a:lnSpc>
              <a:buNone/>
            </a:pPr>
            <a:r>
              <a:rPr lang="en-US" sz="1150" i="1" dirty="0">
                <a:solidFill>
                  <a:srgbClr val="161B24"/>
                </a:solidFill>
                <a:latin typeface="Calibri" pitchFamily="34" charset="0"/>
                <a:ea typeface="Calibri" pitchFamily="34" charset="-122"/>
                <a:cs typeface="Calibri" pitchFamily="34" charset="-120"/>
              </a:rPr>
              <a:t>beats the end-to-end VLM (36.0%), ~40% faster, fully transparent</a:t>
            </a:r>
            <a:endParaRPr lang="en-US" sz="1150" dirty="0"/>
          </a:p>
        </p:txBody>
      </p:sp>
      <p:sp>
        <p:nvSpPr>
          <p:cNvPr id="17" name="Shape 15"/>
          <p:cNvSpPr/>
          <p:nvPr/>
        </p:nvSpPr>
        <p:spPr>
          <a:xfrm>
            <a:off x="7726680" y="4526280"/>
            <a:ext cx="3566160" cy="0"/>
          </a:xfrm>
          <a:prstGeom prst="line">
            <a:avLst/>
          </a:prstGeom>
          <a:noFill/>
          <a:ln w="12700">
            <a:solidFill>
              <a:srgbClr val="E0E4EA"/>
            </a:solidFill>
            <a:prstDash val="solid"/>
          </a:ln>
        </p:spPr>
        <p:txBody>
          <a:bodyPr/>
          <a:lstStyle/>
          <a:p>
            <a:endParaRPr lang="en-US"/>
          </a:p>
        </p:txBody>
      </p:sp>
      <p:sp>
        <p:nvSpPr>
          <p:cNvPr id="18" name="Text 16"/>
          <p:cNvSpPr/>
          <p:nvPr/>
        </p:nvSpPr>
        <p:spPr>
          <a:xfrm>
            <a:off x="7726680" y="4663440"/>
            <a:ext cx="3566160" cy="457200"/>
          </a:xfrm>
          <a:prstGeom prst="rect">
            <a:avLst/>
          </a:prstGeom>
          <a:noFill/>
          <a:ln/>
        </p:spPr>
        <p:txBody>
          <a:bodyPr wrap="square" rtlCol="0" anchor="ctr"/>
          <a:lstStyle/>
          <a:p>
            <a:pPr marL="0" indent="0">
              <a:buNone/>
            </a:pPr>
            <a:r>
              <a:rPr lang="en-US" sz="2200" b="1" dirty="0">
                <a:solidFill>
                  <a:srgbClr val="161B24"/>
                </a:solidFill>
                <a:latin typeface="Georgia" pitchFamily="34" charset="0"/>
                <a:ea typeface="Georgia" pitchFamily="34" charset="-122"/>
                <a:cs typeface="Georgia" pitchFamily="34" charset="-120"/>
              </a:rPr>
              <a:t>Thank you</a:t>
            </a:r>
            <a:endParaRPr lang="en-US" sz="2200" dirty="0"/>
          </a:p>
        </p:txBody>
      </p:sp>
      <p:sp>
        <p:nvSpPr>
          <p:cNvPr id="19" name="Text 17"/>
          <p:cNvSpPr/>
          <p:nvPr/>
        </p:nvSpPr>
        <p:spPr>
          <a:xfrm>
            <a:off x="7726680" y="5166360"/>
            <a:ext cx="3566160" cy="365760"/>
          </a:xfrm>
          <a:prstGeom prst="rect">
            <a:avLst/>
          </a:prstGeom>
          <a:noFill/>
          <a:ln/>
        </p:spPr>
        <p:txBody>
          <a:bodyPr wrap="square" rtlCol="0" anchor="ctr"/>
          <a:lstStyle/>
          <a:p>
            <a:pPr marL="0" indent="0">
              <a:buNone/>
            </a:pPr>
            <a:r>
              <a:rPr lang="en-US" sz="1200" dirty="0">
                <a:solidFill>
                  <a:srgbClr val="586274"/>
                </a:solidFill>
                <a:latin typeface="Calibri" pitchFamily="34" charset="0"/>
                <a:ea typeface="Calibri" pitchFamily="34" charset="-122"/>
                <a:cs typeface="Calibri" pitchFamily="34" charset="-120"/>
              </a:rPr>
              <a:t>Questions &amp; discussion welcome.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5053</Words>
  <Application>Microsoft Office PowerPoint</Application>
  <PresentationFormat>Widescreen</PresentationFormat>
  <Paragraphs>736</Paragraphs>
  <Slides>28</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Zero-Shot Nutrient &amp; Quantity Association</dc:title>
  <dc:subject>PptxGenJS Presentation</dc:subject>
  <dc:creator>Moustafa Hamada</dc:creator>
  <cp:lastModifiedBy>MOSTAFA SAEID</cp:lastModifiedBy>
  <cp:revision>2</cp:revision>
  <dcterms:created xsi:type="dcterms:W3CDTF">2026-06-26T06:52:54Z</dcterms:created>
  <dcterms:modified xsi:type="dcterms:W3CDTF">2026-06-30T19:18:02Z</dcterms:modified>
</cp:coreProperties>
</file>