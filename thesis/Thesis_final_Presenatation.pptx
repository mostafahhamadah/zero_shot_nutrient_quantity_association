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1" r:id="rId15"/>
    <p:sldId id="269" r:id="rId16"/>
    <p:sldId id="289" r:id="rId17"/>
    <p:sldId id="288" r:id="rId18"/>
    <p:sldId id="290" r:id="rId19"/>
    <p:sldId id="270" r:id="rId20"/>
    <p:sldId id="271" r:id="rId21"/>
    <p:sldId id="274" r:id="rId22"/>
    <p:sldId id="273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66E22D-69E4-45B1-AA4C-B0D7895E991E}" v="17" dt="2026-07-01T12:56:21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TAFA SAEID" userId="58df6ffb00d4bf01" providerId="LiveId" clId="{941B6836-EB97-429F-9219-1A1DB3C6AFFC}"/>
    <pc:docChg chg="undo custSel addSld delSld modSld">
      <pc:chgData name="MOSTAFA SAEID" userId="58df6ffb00d4bf01" providerId="LiveId" clId="{941B6836-EB97-429F-9219-1A1DB3C6AFFC}" dt="2026-07-01T21:43:00.359" v="251" actId="20577"/>
      <pc:docMkLst>
        <pc:docMk/>
      </pc:docMkLst>
      <pc:sldChg chg="modSp mod">
        <pc:chgData name="MOSTAFA SAEID" userId="58df6ffb00d4bf01" providerId="LiveId" clId="{941B6836-EB97-429F-9219-1A1DB3C6AFFC}" dt="2026-07-01T12:21:05.417" v="27" actId="1076"/>
        <pc:sldMkLst>
          <pc:docMk/>
          <pc:sldMk cId="0" sldId="256"/>
        </pc:sldMkLst>
        <pc:spChg chg="mod">
          <ac:chgData name="MOSTAFA SAEID" userId="58df6ffb00d4bf01" providerId="LiveId" clId="{941B6836-EB97-429F-9219-1A1DB3C6AFFC}" dt="2026-07-01T12:21:01.751" v="2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STAFA SAEID" userId="58df6ffb00d4bf01" providerId="LiveId" clId="{941B6836-EB97-429F-9219-1A1DB3C6AFFC}" dt="2026-07-01T12:21:05.417" v="27" actId="1076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MOSTAFA SAEID" userId="58df6ffb00d4bf01" providerId="LiveId" clId="{941B6836-EB97-429F-9219-1A1DB3C6AFFC}" dt="2026-07-01T12:36:26.662" v="105" actId="20577"/>
        <pc:sldMkLst>
          <pc:docMk/>
          <pc:sldMk cId="0" sldId="260"/>
        </pc:sldMkLst>
        <pc:spChg chg="mod">
          <ac:chgData name="MOSTAFA SAEID" userId="58df6ffb00d4bf01" providerId="LiveId" clId="{941B6836-EB97-429F-9219-1A1DB3C6AFFC}" dt="2026-07-01T12:36:26.662" v="105" actId="20577"/>
          <ac:spMkLst>
            <pc:docMk/>
            <pc:sldMk cId="0" sldId="260"/>
            <ac:spMk id="10" creationId="{00000000-0000-0000-0000-000000000000}"/>
          </ac:spMkLst>
        </pc:spChg>
      </pc:sldChg>
      <pc:sldChg chg="addSp delSp modSp mod">
        <pc:chgData name="MOSTAFA SAEID" userId="58df6ffb00d4bf01" providerId="LiveId" clId="{941B6836-EB97-429F-9219-1A1DB3C6AFFC}" dt="2026-07-01T12:57:26.617" v="123" actId="14100"/>
        <pc:sldMkLst>
          <pc:docMk/>
          <pc:sldMk cId="0" sldId="266"/>
        </pc:sldMkLst>
        <pc:graphicFrameChg chg="del mod">
          <ac:chgData name="MOSTAFA SAEID" userId="58df6ffb00d4bf01" providerId="LiveId" clId="{941B6836-EB97-429F-9219-1A1DB3C6AFFC}" dt="2026-07-01T12:56:23.236" v="118" actId="21"/>
          <ac:graphicFrameMkLst>
            <pc:docMk/>
            <pc:sldMk cId="0" sldId="266"/>
            <ac:graphicFrameMk id="10" creationId="{00000000-0000-0000-0000-000000000000}"/>
          </ac:graphicFrameMkLst>
        </pc:graphicFrameChg>
        <pc:picChg chg="add mod">
          <ac:chgData name="MOSTAFA SAEID" userId="58df6ffb00d4bf01" providerId="LiveId" clId="{941B6836-EB97-429F-9219-1A1DB3C6AFFC}" dt="2026-07-01T12:57:26.617" v="123" actId="14100"/>
          <ac:picMkLst>
            <pc:docMk/>
            <pc:sldMk cId="0" sldId="266"/>
            <ac:picMk id="13" creationId="{313F07B2-DA01-19DF-CDA3-45EBDE25C291}"/>
          </ac:picMkLst>
        </pc:picChg>
      </pc:sldChg>
      <pc:sldChg chg="addSp delSp modSp mod">
        <pc:chgData name="MOSTAFA SAEID" userId="58df6ffb00d4bf01" providerId="LiveId" clId="{941B6836-EB97-429F-9219-1A1DB3C6AFFC}" dt="2026-07-01T12:59:44.981" v="137" actId="1076"/>
        <pc:sldMkLst>
          <pc:docMk/>
          <pc:sldMk cId="0" sldId="267"/>
        </pc:sldMkLst>
        <pc:spChg chg="mod">
          <ac:chgData name="MOSTAFA SAEID" userId="58df6ffb00d4bf01" providerId="LiveId" clId="{941B6836-EB97-429F-9219-1A1DB3C6AFFC}" dt="2026-07-01T12:59:05.796" v="131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MOSTAFA SAEID" userId="58df6ffb00d4bf01" providerId="LiveId" clId="{941B6836-EB97-429F-9219-1A1DB3C6AFFC}" dt="2026-07-01T12:22:40.151" v="32" actId="20577"/>
          <ac:spMkLst>
            <pc:docMk/>
            <pc:sldMk cId="0" sldId="267"/>
            <ac:spMk id="12" creationId="{00000000-0000-0000-0000-000000000000}"/>
          </ac:spMkLst>
        </pc:spChg>
        <pc:graphicFrameChg chg="del modGraphic">
          <ac:chgData name="MOSTAFA SAEID" userId="58df6ffb00d4bf01" providerId="LiveId" clId="{941B6836-EB97-429F-9219-1A1DB3C6AFFC}" dt="2026-07-01T12:58:35.613" v="124" actId="478"/>
          <ac:graphicFrameMkLst>
            <pc:docMk/>
            <pc:sldMk cId="0" sldId="267"/>
            <ac:graphicFrameMk id="13" creationId="{00000000-0000-0000-0000-000000000000}"/>
          </ac:graphicFrameMkLst>
        </pc:graphicFrameChg>
        <pc:picChg chg="mod">
          <ac:chgData name="MOSTAFA SAEID" userId="58df6ffb00d4bf01" providerId="LiveId" clId="{941B6836-EB97-429F-9219-1A1DB3C6AFFC}" dt="2026-07-01T12:59:00.219" v="130" actId="1076"/>
          <ac:picMkLst>
            <pc:docMk/>
            <pc:sldMk cId="0" sldId="267"/>
            <ac:picMk id="11" creationId="{00000000-0000-0000-0000-000000000000}"/>
          </ac:picMkLst>
        </pc:picChg>
        <pc:picChg chg="add mod">
          <ac:chgData name="MOSTAFA SAEID" userId="58df6ffb00d4bf01" providerId="LiveId" clId="{941B6836-EB97-429F-9219-1A1DB3C6AFFC}" dt="2026-07-01T12:58:56.585" v="129" actId="1076"/>
          <ac:picMkLst>
            <pc:docMk/>
            <pc:sldMk cId="0" sldId="267"/>
            <ac:picMk id="14" creationId="{BE8F0CB9-87EC-4490-79D8-AF4A86B1B3AD}"/>
          </ac:picMkLst>
        </pc:picChg>
        <pc:picChg chg="add mod">
          <ac:chgData name="MOSTAFA SAEID" userId="58df6ffb00d4bf01" providerId="LiveId" clId="{941B6836-EB97-429F-9219-1A1DB3C6AFFC}" dt="2026-07-01T12:59:44.981" v="137" actId="1076"/>
          <ac:picMkLst>
            <pc:docMk/>
            <pc:sldMk cId="0" sldId="267"/>
            <ac:picMk id="16" creationId="{CC0C0DA0-CC44-8981-BA3B-1B50A90CACCA}"/>
          </ac:picMkLst>
        </pc:picChg>
      </pc:sldChg>
      <pc:sldChg chg="addSp delSp modSp mod">
        <pc:chgData name="MOSTAFA SAEID" userId="58df6ffb00d4bf01" providerId="LiveId" clId="{941B6836-EB97-429F-9219-1A1DB3C6AFFC}" dt="2026-07-01T13:01:35.318" v="203" actId="20577"/>
        <pc:sldMkLst>
          <pc:docMk/>
          <pc:sldMk cId="0" sldId="268"/>
        </pc:sldMkLst>
        <pc:spChg chg="mod">
          <ac:chgData name="MOSTAFA SAEID" userId="58df6ffb00d4bf01" providerId="LiveId" clId="{941B6836-EB97-429F-9219-1A1DB3C6AFFC}" dt="2026-07-01T13:01:19.650" v="192" actId="20577"/>
          <ac:spMkLst>
            <pc:docMk/>
            <pc:sldMk cId="0" sldId="268"/>
            <ac:spMk id="8" creationId="{00000000-0000-0000-0000-000000000000}"/>
          </ac:spMkLst>
        </pc:spChg>
        <pc:spChg chg="mod">
          <ac:chgData name="MOSTAFA SAEID" userId="58df6ffb00d4bf01" providerId="LiveId" clId="{941B6836-EB97-429F-9219-1A1DB3C6AFFC}" dt="2026-07-01T13:01:31.260" v="202" actId="20577"/>
          <ac:spMkLst>
            <pc:docMk/>
            <pc:sldMk cId="0" sldId="268"/>
            <ac:spMk id="9" creationId="{00000000-0000-0000-0000-000000000000}"/>
          </ac:spMkLst>
        </pc:spChg>
        <pc:spChg chg="mod">
          <ac:chgData name="MOSTAFA SAEID" userId="58df6ffb00d4bf01" providerId="LiveId" clId="{941B6836-EB97-429F-9219-1A1DB3C6AFFC}" dt="2026-07-01T13:01:35.318" v="203" actId="20577"/>
          <ac:spMkLst>
            <pc:docMk/>
            <pc:sldMk cId="0" sldId="268"/>
            <ac:spMk id="11" creationId="{00000000-0000-0000-0000-000000000000}"/>
          </ac:spMkLst>
        </pc:spChg>
        <pc:picChg chg="del">
          <ac:chgData name="MOSTAFA SAEID" userId="58df6ffb00d4bf01" providerId="LiveId" clId="{941B6836-EB97-429F-9219-1A1DB3C6AFFC}" dt="2026-07-01T13:00:42.032" v="139" actId="478"/>
          <ac:picMkLst>
            <pc:docMk/>
            <pc:sldMk cId="0" sldId="268"/>
            <ac:picMk id="10" creationId="{00000000-0000-0000-0000-000000000000}"/>
          </ac:picMkLst>
        </pc:picChg>
        <pc:picChg chg="add mod">
          <ac:chgData name="MOSTAFA SAEID" userId="58df6ffb00d4bf01" providerId="LiveId" clId="{941B6836-EB97-429F-9219-1A1DB3C6AFFC}" dt="2026-07-01T13:00:52.086" v="142" actId="1076"/>
          <ac:picMkLst>
            <pc:docMk/>
            <pc:sldMk cId="0" sldId="268"/>
            <ac:picMk id="13" creationId="{CA0CC377-06C7-D231-BF24-D93EE79E3268}"/>
          </ac:picMkLst>
        </pc:picChg>
      </pc:sldChg>
      <pc:sldChg chg="modSp mod">
        <pc:chgData name="MOSTAFA SAEID" userId="58df6ffb00d4bf01" providerId="LiveId" clId="{941B6836-EB97-429F-9219-1A1DB3C6AFFC}" dt="2026-07-01T21:43:00.359" v="251" actId="20577"/>
        <pc:sldMkLst>
          <pc:docMk/>
          <pc:sldMk cId="0" sldId="270"/>
        </pc:sldMkLst>
        <pc:spChg chg="mod">
          <ac:chgData name="MOSTAFA SAEID" userId="58df6ffb00d4bf01" providerId="LiveId" clId="{941B6836-EB97-429F-9219-1A1DB3C6AFFC}" dt="2026-07-01T21:43:00.359" v="251" actId="20577"/>
          <ac:spMkLst>
            <pc:docMk/>
            <pc:sldMk cId="0" sldId="270"/>
            <ac:spMk id="11" creationId="{00000000-0000-0000-0000-000000000000}"/>
          </ac:spMkLst>
        </pc:spChg>
      </pc:sldChg>
      <pc:sldChg chg="modSp mod">
        <pc:chgData name="MOSTAFA SAEID" userId="58df6ffb00d4bf01" providerId="LiveId" clId="{941B6836-EB97-429F-9219-1A1DB3C6AFFC}" dt="2026-07-01T21:41:39.398" v="245" actId="20577"/>
        <pc:sldMkLst>
          <pc:docMk/>
          <pc:sldMk cId="0" sldId="273"/>
        </pc:sldMkLst>
        <pc:spChg chg="mod">
          <ac:chgData name="MOSTAFA SAEID" userId="58df6ffb00d4bf01" providerId="LiveId" clId="{941B6836-EB97-429F-9219-1A1DB3C6AFFC}" dt="2026-07-01T21:41:39.398" v="245" actId="20577"/>
          <ac:spMkLst>
            <pc:docMk/>
            <pc:sldMk cId="0" sldId="273"/>
            <ac:spMk id="16" creationId="{00000000-0000-0000-0000-000000000000}"/>
          </ac:spMkLst>
        </pc:spChg>
      </pc:sldChg>
      <pc:sldChg chg="del">
        <pc:chgData name="MOSTAFA SAEID" userId="58df6ffb00d4bf01" providerId="LiveId" clId="{941B6836-EB97-429F-9219-1A1DB3C6AFFC}" dt="2026-07-01T21:00:26.718" v="224" actId="2696"/>
        <pc:sldMkLst>
          <pc:docMk/>
          <pc:sldMk cId="0" sldId="275"/>
        </pc:sldMkLst>
      </pc:sldChg>
      <pc:sldChg chg="del">
        <pc:chgData name="MOSTAFA SAEID" userId="58df6ffb00d4bf01" providerId="LiveId" clId="{941B6836-EB97-429F-9219-1A1DB3C6AFFC}" dt="2026-07-01T21:00:28.584" v="225" actId="2696"/>
        <pc:sldMkLst>
          <pc:docMk/>
          <pc:sldMk cId="0" sldId="276"/>
        </pc:sldMkLst>
      </pc:sldChg>
      <pc:sldChg chg="del">
        <pc:chgData name="MOSTAFA SAEID" userId="58df6ffb00d4bf01" providerId="LiveId" clId="{941B6836-EB97-429F-9219-1A1DB3C6AFFC}" dt="2026-07-01T21:00:30.279" v="226" actId="2696"/>
        <pc:sldMkLst>
          <pc:docMk/>
          <pc:sldMk cId="0" sldId="277"/>
        </pc:sldMkLst>
      </pc:sldChg>
      <pc:sldChg chg="del">
        <pc:chgData name="MOSTAFA SAEID" userId="58df6ffb00d4bf01" providerId="LiveId" clId="{941B6836-EB97-429F-9219-1A1DB3C6AFFC}" dt="2026-07-01T21:00:31.510" v="227" actId="2696"/>
        <pc:sldMkLst>
          <pc:docMk/>
          <pc:sldMk cId="0" sldId="278"/>
        </pc:sldMkLst>
      </pc:sldChg>
      <pc:sldChg chg="modSp del">
        <pc:chgData name="MOSTAFA SAEID" userId="58df6ffb00d4bf01" providerId="LiveId" clId="{941B6836-EB97-429F-9219-1A1DB3C6AFFC}" dt="2026-07-01T21:00:32.261" v="229" actId="2696"/>
        <pc:sldMkLst>
          <pc:docMk/>
          <pc:sldMk cId="0" sldId="279"/>
        </pc:sldMkLst>
        <pc:graphicFrameChg chg="mod">
          <ac:chgData name="MOSTAFA SAEID" userId="58df6ffb00d4bf01" providerId="LiveId" clId="{941B6836-EB97-429F-9219-1A1DB3C6AFFC}" dt="2026-07-01T21:00:31.510" v="228"/>
          <ac:graphicFrameMkLst>
            <pc:docMk/>
            <pc:sldMk cId="0" sldId="279"/>
            <ac:graphicFrameMk id="25" creationId="{00000000-0000-0000-0000-000000000000}"/>
          </ac:graphicFrameMkLst>
        </pc:graphicFrameChg>
      </pc:sldChg>
      <pc:sldChg chg="del">
        <pc:chgData name="MOSTAFA SAEID" userId="58df6ffb00d4bf01" providerId="LiveId" clId="{941B6836-EB97-429F-9219-1A1DB3C6AFFC}" dt="2026-07-01T21:00:32.777" v="230" actId="2696"/>
        <pc:sldMkLst>
          <pc:docMk/>
          <pc:sldMk cId="0" sldId="280"/>
        </pc:sldMkLst>
      </pc:sldChg>
      <pc:sldChg chg="del">
        <pc:chgData name="MOSTAFA SAEID" userId="58df6ffb00d4bf01" providerId="LiveId" clId="{941B6836-EB97-429F-9219-1A1DB3C6AFFC}" dt="2026-07-01T21:00:33.252" v="231" actId="2696"/>
        <pc:sldMkLst>
          <pc:docMk/>
          <pc:sldMk cId="0" sldId="281"/>
        </pc:sldMkLst>
      </pc:sldChg>
      <pc:sldChg chg="del">
        <pc:chgData name="MOSTAFA SAEID" userId="58df6ffb00d4bf01" providerId="LiveId" clId="{941B6836-EB97-429F-9219-1A1DB3C6AFFC}" dt="2026-07-01T21:00:33.649" v="232" actId="2696"/>
        <pc:sldMkLst>
          <pc:docMk/>
          <pc:sldMk cId="0" sldId="282"/>
        </pc:sldMkLst>
      </pc:sldChg>
      <pc:sldChg chg="del">
        <pc:chgData name="MOSTAFA SAEID" userId="58df6ffb00d4bf01" providerId="LiveId" clId="{941B6836-EB97-429F-9219-1A1DB3C6AFFC}" dt="2026-07-01T21:00:34.075" v="233" actId="2696"/>
        <pc:sldMkLst>
          <pc:docMk/>
          <pc:sldMk cId="0" sldId="283"/>
        </pc:sldMkLst>
      </pc:sldChg>
      <pc:sldChg chg="del">
        <pc:chgData name="MOSTAFA SAEID" userId="58df6ffb00d4bf01" providerId="LiveId" clId="{941B6836-EB97-429F-9219-1A1DB3C6AFFC}" dt="2026-07-01T21:00:34.501" v="234" actId="2696"/>
        <pc:sldMkLst>
          <pc:docMk/>
          <pc:sldMk cId="0" sldId="284"/>
        </pc:sldMkLst>
      </pc:sldChg>
      <pc:sldChg chg="del">
        <pc:chgData name="MOSTAFA SAEID" userId="58df6ffb00d4bf01" providerId="LiveId" clId="{941B6836-EB97-429F-9219-1A1DB3C6AFFC}" dt="2026-07-01T21:00:36.868" v="235" actId="2696"/>
        <pc:sldMkLst>
          <pc:docMk/>
          <pc:sldMk cId="3394730953" sldId="285"/>
        </pc:sldMkLst>
      </pc:sldChg>
      <pc:sldChg chg="del">
        <pc:chgData name="MOSTAFA SAEID" userId="58df6ffb00d4bf01" providerId="LiveId" clId="{941B6836-EB97-429F-9219-1A1DB3C6AFFC}" dt="2026-07-01T21:00:37.395" v="236" actId="2696"/>
        <pc:sldMkLst>
          <pc:docMk/>
          <pc:sldMk cId="3727930135" sldId="286"/>
        </pc:sldMkLst>
      </pc:sldChg>
      <pc:sldChg chg="del">
        <pc:chgData name="MOSTAFA SAEID" userId="58df6ffb00d4bf01" providerId="LiveId" clId="{941B6836-EB97-429F-9219-1A1DB3C6AFFC}" dt="2026-07-01T21:00:38.065" v="237" actId="2696"/>
        <pc:sldMkLst>
          <pc:docMk/>
          <pc:sldMk cId="346910428" sldId="287"/>
        </pc:sldMkLst>
      </pc:sldChg>
      <pc:sldChg chg="addSp delSp modSp add mod">
        <pc:chgData name="MOSTAFA SAEID" userId="58df6ffb00d4bf01" providerId="LiveId" clId="{941B6836-EB97-429F-9219-1A1DB3C6AFFC}" dt="2026-07-01T13:02:40.981" v="223" actId="14100"/>
        <pc:sldMkLst>
          <pc:docMk/>
          <pc:sldMk cId="3161362244" sldId="291"/>
        </pc:sldMkLst>
        <pc:picChg chg="mod">
          <ac:chgData name="MOSTAFA SAEID" userId="58df6ffb00d4bf01" providerId="LiveId" clId="{941B6836-EB97-429F-9219-1A1DB3C6AFFC}" dt="2026-07-01T13:02:40.981" v="223" actId="14100"/>
          <ac:picMkLst>
            <pc:docMk/>
            <pc:sldMk cId="3161362244" sldId="291"/>
            <ac:picMk id="10" creationId="{4686EC2B-8ACE-E188-F319-D5A32656F236}"/>
          </ac:picMkLst>
        </pc:picChg>
        <pc:picChg chg="add del mod">
          <ac:chgData name="MOSTAFA SAEID" userId="58df6ffb00d4bf01" providerId="LiveId" clId="{941B6836-EB97-429F-9219-1A1DB3C6AFFC}" dt="2026-07-01T13:02:39.538" v="221" actId="22"/>
          <ac:picMkLst>
            <pc:docMk/>
            <pc:sldMk cId="3161362244" sldId="291"/>
            <ac:picMk id="13" creationId="{8CC18618-FB53-7212-2D2F-4C1CC0367E0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04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63134-C47F-EDF8-802B-C89E36925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22736-C333-C6B2-609C-A00951202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651DB-6D82-6A31-5727-9DCDD8E9C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81374-3BC9-EB10-2137-AE4A1667C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84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DC83A-C4DE-9AF2-8785-4EF8C4D32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D1776-5D2F-643C-044E-863BBBF58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B880C-2E76-0369-DD53-D2879D71F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7E85B-0186-0C03-10DC-78A8CEDAE1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82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838EB-96A5-5095-2769-F3458E1F5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95E17-1427-0264-9187-BAF25D52D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D0863-0A75-1322-DAE3-61D766A54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8D89D-42B8-C03A-8510-119AC3CC15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444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DAB10-1D64-D157-6D45-96DD252A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F38F6-C20F-A279-263E-6916C287D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E9000-AE00-12F4-119E-7800EE09E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CA67F-2097-2346-2883-0C780A80EA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7165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" y="1904695"/>
            <a:ext cx="405994" cy="32004"/>
          </a:xfrm>
          <a:prstGeom prst="rect">
            <a:avLst/>
          </a:prstGeom>
          <a:solidFill>
            <a:srgbClr val="9C3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3637" y="1830296"/>
            <a:ext cx="9524390" cy="1651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4400" b="1" kern="0" spc="-1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Nutrient &amp; Quantity Association </a:t>
            </a:r>
          </a:p>
          <a:p>
            <a:r>
              <a:rPr lang="en-US" b="1" kern="0" spc="-1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</a:t>
            </a:r>
            <a:r>
              <a:rPr lang="en-US" sz="5200" b="1" kern="0" spc="-1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kern="0" spc="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62152" y="4063551"/>
            <a:ext cx="8889797" cy="3813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Recovering structured facts from label photographs — with no training labels.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1695" y="4889297"/>
            <a:ext cx="3174797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15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761695" y="5067605"/>
            <a:ext cx="3301898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Moustafa Hamada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90695" y="4889297"/>
            <a:ext cx="3174797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90695" y="5067605"/>
            <a:ext cx="3301898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Andreas Fischer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01000" y="4889297"/>
            <a:ext cx="3174797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15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INSTITUTION · DATE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8001000" y="5067605"/>
            <a:ext cx="3301898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THD · July 2026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9A81E4-257A-3046-E43E-5C49D2A491B3}"/>
              </a:ext>
            </a:extLst>
          </p:cNvPr>
          <p:cNvSpPr txBox="1"/>
          <p:nvPr/>
        </p:nvSpPr>
        <p:spPr>
          <a:xfrm>
            <a:off x="4190695" y="5283403"/>
            <a:ext cx="126829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kern="0" spc="15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Co-Supervisor</a:t>
            </a:r>
            <a:endParaRPr lang="en-US" sz="9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D21FE2-FB8B-D744-5AB8-C42686C1D9A5}"/>
              </a:ext>
            </a:extLst>
          </p:cNvPr>
          <p:cNvSpPr txBox="1"/>
          <p:nvPr/>
        </p:nvSpPr>
        <p:spPr>
          <a:xfrm>
            <a:off x="4190695" y="5513585"/>
            <a:ext cx="6094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Prof. Dr.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oec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troph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. Claudia Osterkamp-Baerens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THE PROBLEM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952805"/>
            <a:ext cx="952439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label is a picture. The facts inside it are not.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1587398"/>
            <a:ext cx="10667390" cy="38733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1695" y="5587898"/>
            <a:ext cx="10667390" cy="254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value belongs to which nutrient? — recover ⟨ nutrient, quantity, unit, context ⟩, zero-shot, across languages.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THE OBVIOUS MOVE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1587398"/>
            <a:ext cx="8889797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obvious move: hand the photo to a model.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61695" y="2984602"/>
            <a:ext cx="1904695" cy="317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photo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30398" y="2984602"/>
            <a:ext cx="381305" cy="317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927F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38805" y="2933395"/>
            <a:ext cx="2730398" cy="418795"/>
          </a:xfrm>
          <a:prstGeom prst="rect">
            <a:avLst/>
          </a:prstGeom>
          <a:solidFill>
            <a:srgbClr val="F3EEE4"/>
          </a:solidFill>
          <a:ln w="19050">
            <a:solidFill>
              <a:srgbClr val="20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38805" y="2933395"/>
            <a:ext cx="2730398" cy="418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opaque VLM 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305" y="2984602"/>
            <a:ext cx="381305" cy="317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927F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03797" y="2984602"/>
            <a:ext cx="1904695" cy="317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⟨n, q, u, x⟩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1695" y="4063594"/>
            <a:ext cx="6985102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and simple — but </a:t>
            </a:r>
            <a:r>
              <a:rPr lang="en-US" sz="1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opaque, costly, and impossible to audit</a:t>
            </a:r>
            <a:r>
              <a:rPr lang="en-US" sz="12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When a tuple is wrong, nothing tells you which step failed.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OUR APPROACH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952805"/>
            <a:ext cx="6666890" cy="4453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problem into stages you can read.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61695" y="1904695"/>
            <a:ext cx="6222492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one opaque model, the task is split into three transparent stages — each stage swappable, every output you can inspect.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1695" y="2984602"/>
            <a:ext cx="381305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70102" y="2984602"/>
            <a:ext cx="6032297" cy="254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 </a:t>
            </a: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OCR turns the label photo into located text tokens.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1695" y="3396996"/>
            <a:ext cx="381305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70102" y="3396996"/>
            <a:ext cx="6032297" cy="254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 </a:t>
            </a: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classification gives every token a role.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1695" y="3810305"/>
            <a:ext cx="381305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70102" y="3810305"/>
            <a:ext cx="6032297" cy="254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 </a:t>
            </a: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association links tokens into ⟨n, q, u, x⟩ tuples.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1695" y="4444898"/>
            <a:ext cx="6222492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learned weights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tuple is a path you can trace back to one stage.</a:t>
            </a:r>
            <a:endParaRPr lang="en-US" sz="1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09890" y="952805"/>
            <a:ext cx="2984602" cy="482620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09890" y="5810098"/>
            <a:ext cx="2984602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stages, each swappable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CLOSER LOOK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698602"/>
            <a:ext cx="10667390" cy="360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1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closer look into the pipeline</a:t>
            </a:r>
            <a:endParaRPr lang="en-US" sz="2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1206094"/>
            <a:ext cx="2730398" cy="49533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6492" y="1143000"/>
            <a:ext cx="685800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936492" y="1333195"/>
            <a:ext cx="6858000" cy="952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character recognition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OCR model  reads the image into raw tokens (s, b, c).
</a:t>
            </a: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correction &amp; normalisation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900" dirty="0" err="1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OCR_corrector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fixes misreads, merges tokens, fix fused tokens, canonicalises to English (C15). 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936492" y="2318004"/>
            <a:ext cx="685800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CLASSIFICATION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936492" y="2508199"/>
            <a:ext cx="6858000" cy="952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role classification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—rule / BGE-M3 / GLiNER-biomed tags each token nutrient, quantity, unit or context.
</a:t>
            </a: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enrichment &amp; geometry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TokenEnricher attaches column IDs, row/rank, dosage-stream and header info.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936492" y="3556102"/>
            <a:ext cx="685800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ASSOCIATION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36492" y="3746297"/>
            <a:ext cx="6858000" cy="952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matching &amp; association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Graph Constructor builds a typed graph (row / column / overlap edges), then links each nutrient to its quantity, unit and context.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936492" y="4604004"/>
            <a:ext cx="6858000" cy="0"/>
          </a:xfrm>
          <a:prstGeom prst="line">
            <a:avLst/>
          </a:prstGeom>
          <a:noFill/>
          <a:ln w="12700">
            <a:solidFill>
              <a:srgbClr val="DD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936492" y="4730191"/>
            <a:ext cx="6858000" cy="254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four-field tuples ⟨n, q, u, x⟩.     </a:t>
            </a: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→ clean → label → add geometry → link → emit tuples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STAGE 1 — OCR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856793"/>
            <a:ext cx="3810305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1695" y="1110996"/>
            <a:ext cx="5715000" cy="4453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character recognition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1695" y="1904695"/>
            <a:ext cx="4572000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label photograph into machine-readable text — find every printed string and read it, in any language, with no assumptions about the layout.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1695" y="2984602"/>
            <a:ext cx="5715000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— LOCATED TOKENS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61695" y="3206801"/>
            <a:ext cx="4826203" cy="444398"/>
          </a:xfrm>
          <a:prstGeom prst="rect">
            <a:avLst/>
          </a:prstGeom>
          <a:solidFill>
            <a:srgbClr val="ECE6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1695" y="3206801"/>
            <a:ext cx="38405" cy="444398"/>
          </a:xfrm>
          <a:prstGeom prst="rect">
            <a:avLst/>
          </a:prstGeom>
          <a:solidFill>
            <a:srgbClr val="201C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2805" y="3206801"/>
            <a:ext cx="4444898" cy="4443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1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r>
              <a:rPr lang="en-US" sz="1200" dirty="0">
                <a:solidFill>
                  <a:srgbClr val="2B5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"Kohlenhydrate"</a:t>
            </a:r>
            <a:r>
              <a:rPr lang="en-US" sz="1200" dirty="0">
                <a:solidFill>
                  <a:srgbClr val="201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box, conf </a:t>
            </a:r>
            <a:r>
              <a:rPr lang="en-US" sz="1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</a:t>
            </a:r>
            <a:r>
              <a:rPr lang="en-US" sz="1200" dirty="0">
                <a:solidFill>
                  <a:srgbClr val="201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1695" y="3810305"/>
            <a:ext cx="4826203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token carries its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its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on the label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a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⟨s, b, c⟩ that feeds classification.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21094" y="952805"/>
            <a:ext cx="3873398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ENGINES WE COMPARE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921094" y="1238098"/>
            <a:ext cx="3873398" cy="952805"/>
          </a:xfrm>
          <a:prstGeom prst="rect">
            <a:avLst/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12203" y="1352398"/>
            <a:ext cx="3556102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EasyOCR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12203" y="1606601"/>
            <a:ext cx="3556102" cy="508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open-source reader with broad, out-of-the-box language coverage — our baseline.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21094" y="2349094"/>
            <a:ext cx="3873398" cy="952805"/>
          </a:xfrm>
          <a:prstGeom prst="rect">
            <a:avLst/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12203" y="2463394"/>
            <a:ext cx="3556102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 PP-OCRv5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12203" y="2717597"/>
            <a:ext cx="3556102" cy="508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Baidu's latest detection + recognition models; stronger on dense, multilingual label text.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21094" y="3429000"/>
            <a:ext cx="3873398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Compared head-to-head in Q1.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STAGE 2 — CLASSIFICATION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761695"/>
            <a:ext cx="3810305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1695" y="1015898"/>
            <a:ext cx="1066739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classification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1695" y="1492301"/>
            <a:ext cx="9905695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every token a role. A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cascade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resolves the easy ones — quantity, unit, context, NRV — while the hard open-vocabulary call,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it a nutrient?”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is decided by one of three interchangeable variants.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2286000"/>
            <a:ext cx="10667390" cy="35561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STAGE 3 — ASSOCIATION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698602"/>
            <a:ext cx="3810305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1695" y="920801"/>
            <a:ext cx="5715000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2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1695" y="1365199"/>
            <a:ext cx="9905695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token is a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typed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link them by geometry into one tuple per nutrient. Two variants —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v1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(raw) and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v2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(geometry-aware), below.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1904695"/>
            <a:ext cx="5715000" cy="39364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0" y="1904695"/>
            <a:ext cx="3936492" cy="139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TYPES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858000" y="2126894"/>
            <a:ext cx="3936492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ROW_COMPAT  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nutrient ↔ quantity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58000" y="2318004"/>
            <a:ext cx="3936492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axis — links each nutrient to the quantity on its row, pulling that value into the tuple.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58000" y="2857500"/>
            <a:ext cx="3936492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COL_COMPAT  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sub-nutrient fallback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58000" y="3047695"/>
            <a:ext cx="3936492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sub-nutrient with no value of its own inherits the quantity from the parent above it in the column.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858000" y="3588106"/>
            <a:ext cx="3936492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DIRECTIONAL_ADJ  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recovery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58000" y="3778301"/>
            <a:ext cx="3936492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a unit sitting near a number but not grouped with it, so a detached unit still reaches its quantity.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317797"/>
            <a:ext cx="3936492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CONTEXT_SCOPE + HEADER_SCOPE  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58000" y="4507992"/>
            <a:ext cx="3936492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a context header down to the values beneath — per 100 g / per serving / per daily dose.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DATASET &amp; EVALUATION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825703"/>
            <a:ext cx="1066739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evaluation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1695" y="1460297"/>
            <a:ext cx="3556102" cy="254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 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images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56102" y="1460297"/>
            <a:ext cx="3556102" cy="254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866  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tuples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40703" y="1460297"/>
            <a:ext cx="3556102" cy="254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 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labels — zero-shot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805" y="1968703"/>
            <a:ext cx="4826203" cy="29846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52805" y="5003597"/>
            <a:ext cx="4826203" cy="254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Tuples per image — mean 15.2; a few dense tables carry a third of all tuples.</a:t>
            </a:r>
            <a:endParaRPr lang="en-US" sz="7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2297" y="1968703"/>
            <a:ext cx="4826203" cy="29846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32297" y="5003597"/>
            <a:ext cx="4826203" cy="254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65% of labels mix two+ contexts — why a value needs its column, not just its row.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761695" y="5428793"/>
            <a:ext cx="10667390" cy="0"/>
          </a:xfrm>
          <a:prstGeom prst="line">
            <a:avLst/>
          </a:prstGeom>
          <a:noFill/>
          <a:ln w="12700">
            <a:solidFill>
              <a:srgbClr val="DD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61695" y="5555894"/>
            <a:ext cx="10667390" cy="3813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on the four-field tuple ⟨n, q, u, x⟩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correct only if all four fields match. A deterministic scorer reports </a:t>
            </a: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/ recall / F1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pooled over all 866 tuples; 4F-F1 is the headline.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THE ABLATION Tree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19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348" y="761695"/>
            <a:ext cx="11239304" cy="55531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/ OCR ENGINE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761695"/>
            <a:ext cx="1066739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 </a:t>
            </a: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engine reads the labels best?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EasyOCR · PaddleOCR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1695" y="1047902"/>
            <a:ext cx="9524390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2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values — not names — decides the tuple.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1695" y="1587398"/>
            <a:ext cx="1066739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Per-field accuracy over matched nutrients · downstream fixed (rule-based · graph v2 · overlap)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61695" y="5270602"/>
            <a:ext cx="10667390" cy="254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tie; PaddleOCR wins the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4F-F1 </a:t>
            </a:r>
            <a:r>
              <a:rPr lang="en-US" sz="10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.177 → </a:t>
            </a:r>
            <a:r>
              <a:rPr lang="en-US" sz="10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.423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3F07B2-DA01-19DF-CDA3-45EBDE25C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981" y="1890064"/>
            <a:ext cx="9991442" cy="41917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/ NUTRIENT DECISION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698602"/>
            <a:ext cx="1066739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 </a:t>
            </a: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decide “is this a nutrient?”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rule · embedding · GLiNER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1695" y="952805"/>
            <a:ext cx="6985102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2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wins the tuple — GLiNER leads.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07949" y="5536692"/>
            <a:ext cx="6222492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binds whatever it is given — so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false positives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beat higher recall.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54289" y="1480414"/>
            <a:ext cx="3429000" cy="3429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5492" y="5397703"/>
            <a:ext cx="3429000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8F0CB9-87EC-4490-79D8-AF4A86B1B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2" y="1491550"/>
            <a:ext cx="7380210" cy="17243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0C0DA0-CC44-8981-BA3B-1B50A90CA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82" y="3793095"/>
            <a:ext cx="7470366" cy="16799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/ ASSOCIATION ①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761695"/>
            <a:ext cx="1066739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 </a:t>
            </a: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geometry-aware graph beat raw geometry?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graph v1 · v2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1695" y="1047902"/>
            <a:ext cx="1066739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Geometry-aware binding nearly doubles the naïve graph v1.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1695" y="1524305"/>
            <a:ext cx="1066739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4F recall · upstream held fixed (PaddleOCR · classifier ) — only the graph changes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61695" y="5447995"/>
            <a:ext cx="1066739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0CC377-06C7-D231-BF24-D93EE79E3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73" y="2189988"/>
            <a:ext cx="11401899" cy="28652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653DE-263A-CE29-F787-B76EAA962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786E48-A9AE-F89E-AFB5-93BC47D3A216}"/>
              </a:ext>
            </a:extLst>
          </p:cNvPr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/ ASSOCIATION ①</a:t>
            </a:r>
            <a:endParaRPr lang="en-US" sz="1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FAFE0A-C864-EBB0-DECB-3CE55294047A}"/>
              </a:ext>
            </a:extLst>
          </p:cNvPr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1F0A48-D3B8-BB24-8A92-831DCD0B258E}"/>
              </a:ext>
            </a:extLst>
          </p:cNvPr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982036-FEF0-308A-1387-52638ECD7D0A}"/>
              </a:ext>
            </a:extLst>
          </p:cNvPr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D5253B-E4C5-AFFA-B56B-DA5457CA5840}"/>
              </a:ext>
            </a:extLst>
          </p:cNvPr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19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3391864-BFA8-DC54-8660-2BA69A07EEEE}"/>
              </a:ext>
            </a:extLst>
          </p:cNvPr>
          <p:cNvSpPr/>
          <p:nvPr/>
        </p:nvSpPr>
        <p:spPr>
          <a:xfrm>
            <a:off x="761695" y="761695"/>
            <a:ext cx="1066739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 </a:t>
            </a: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geometry-aware graph beat raw geometry?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graph v1 · v2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141BC0-2350-BB05-4EE4-3210D53DACCF}"/>
              </a:ext>
            </a:extLst>
          </p:cNvPr>
          <p:cNvSpPr/>
          <p:nvPr/>
        </p:nvSpPr>
        <p:spPr>
          <a:xfrm>
            <a:off x="761695" y="1047902"/>
            <a:ext cx="1066739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Geometry-aware binding nearly doubles multi-context recall.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F806459-0B67-696E-342E-F0A6799FF600}"/>
              </a:ext>
            </a:extLst>
          </p:cNvPr>
          <p:cNvSpPr/>
          <p:nvPr/>
        </p:nvSpPr>
        <p:spPr>
          <a:xfrm>
            <a:off x="761695" y="1524305"/>
            <a:ext cx="1066739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4F recall · upstream held fixed (PaddleOCR · classifier · overlap edges) — only the graph changes</a:t>
            </a:r>
            <a:endParaRPr lang="en-US" sz="7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4686EC2B-8ACE-E188-F319-D5A32656F2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1809598"/>
            <a:ext cx="10667390" cy="3556102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2E6A6F0A-4875-E5AA-E3C9-ED98469D8778}"/>
              </a:ext>
            </a:extLst>
          </p:cNvPr>
          <p:cNvSpPr/>
          <p:nvPr/>
        </p:nvSpPr>
        <p:spPr>
          <a:xfrm>
            <a:off x="761695" y="5447995"/>
            <a:ext cx="1066739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Single-context barely moves (+0.025); multi-context nearly doubles — v1 .187 → v2 .390 (embedding), .181 → .375 (GLiNER).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161362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/ ASSOCIATION ②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761695"/>
            <a:ext cx="1066739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 </a:t>
            </a: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way builds the row edges best?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overlap · cy-cx · cy∪role_rank · role_rank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1695" y="1047902"/>
            <a:ext cx="1066739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1695" y="1524305"/>
            <a:ext cx="1066739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61695" y="5447995"/>
            <a:ext cx="1066739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AC866B-D4B8-8724-FE6B-D0B00FCAD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58" y="1116482"/>
            <a:ext cx="9851888" cy="49075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8A237E-CDEE-7946-A031-283D5C08D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735DB3-0F9D-A09F-FB95-79B0760E0D16}"/>
              </a:ext>
            </a:extLst>
          </p:cNvPr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/ ASSOCIATION ②</a:t>
            </a:r>
            <a:endParaRPr lang="en-US" sz="1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E8C8AC-67F8-F06C-8274-5BC1A60BCB40}"/>
              </a:ext>
            </a:extLst>
          </p:cNvPr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0BFB96-8D1E-73C7-2A23-CAD6CFBA00AB}"/>
              </a:ext>
            </a:extLst>
          </p:cNvPr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699157F-DE42-2452-5008-1B1A461686B8}"/>
              </a:ext>
            </a:extLst>
          </p:cNvPr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7DAF6D-11E7-D090-1C0B-AE93EEA79A5C}"/>
              </a:ext>
            </a:extLst>
          </p:cNvPr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19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F6027D-150F-04B6-12A6-0DBFFE595E29}"/>
              </a:ext>
            </a:extLst>
          </p:cNvPr>
          <p:cNvSpPr/>
          <p:nvPr/>
        </p:nvSpPr>
        <p:spPr>
          <a:xfrm>
            <a:off x="761695" y="761695"/>
            <a:ext cx="1066739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/>
              <a:t>The same four modes, drawn over a real label.</a:t>
            </a:r>
          </a:p>
          <a:p>
            <a:r>
              <a:rPr lang="en-US" sz="1100" dirty="0"/>
              <a:t>overlap &amp; cy link Magnesium to its values; </a:t>
            </a:r>
            <a:r>
              <a:rPr lang="en-US" sz="1100" dirty="0" err="1"/>
              <a:t>role_rank</a:t>
            </a:r>
            <a:r>
              <a:rPr lang="en-US" sz="1100" dirty="0"/>
              <a:t> slips when a token is dropped; cy ∪ </a:t>
            </a:r>
            <a:r>
              <a:rPr lang="en-US" sz="1100" dirty="0" err="1"/>
              <a:t>role_rank</a:t>
            </a:r>
            <a:r>
              <a:rPr lang="en-US" sz="1100" dirty="0"/>
              <a:t> restores the true pairs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EB892A5-F5FC-5AA9-FEA9-BC767DF6DA29}"/>
              </a:ext>
            </a:extLst>
          </p:cNvPr>
          <p:cNvSpPr/>
          <p:nvPr/>
        </p:nvSpPr>
        <p:spPr>
          <a:xfrm>
            <a:off x="761695" y="1047902"/>
            <a:ext cx="1066739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327E99B-D4DF-0458-1865-E61B6EC8076C}"/>
              </a:ext>
            </a:extLst>
          </p:cNvPr>
          <p:cNvSpPr/>
          <p:nvPr/>
        </p:nvSpPr>
        <p:spPr>
          <a:xfrm>
            <a:off x="761695" y="1524305"/>
            <a:ext cx="1066739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6CDBECF-C33B-56B2-492F-6B55D04C5131}"/>
              </a:ext>
            </a:extLst>
          </p:cNvPr>
          <p:cNvSpPr/>
          <p:nvPr/>
        </p:nvSpPr>
        <p:spPr>
          <a:xfrm>
            <a:off x="761695" y="5447995"/>
            <a:ext cx="1066739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6CBD18-72F6-B657-A5AC-7BB820FE9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81" y="1291565"/>
            <a:ext cx="10667390" cy="484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30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F9BA0-885D-4270-42F0-B82833898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B3DCF6-0325-7CA5-66D3-3AA44284EF32}"/>
              </a:ext>
            </a:extLst>
          </p:cNvPr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/ ASSOCIATION ②</a:t>
            </a:r>
            <a:endParaRPr lang="en-US" sz="1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412EE1-1225-329B-54D6-9D8776526248}"/>
              </a:ext>
            </a:extLst>
          </p:cNvPr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496DD7A-3393-3012-6ADB-B37E8D216456}"/>
              </a:ext>
            </a:extLst>
          </p:cNvPr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2AC71F-3FE9-761D-3CFF-3731152264B2}"/>
              </a:ext>
            </a:extLst>
          </p:cNvPr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BD11EA-EEFA-5B14-6357-E60D381CF5E0}"/>
              </a:ext>
            </a:extLst>
          </p:cNvPr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19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F4CAD8-F76E-400E-148B-984A2E121B35}"/>
              </a:ext>
            </a:extLst>
          </p:cNvPr>
          <p:cNvSpPr/>
          <p:nvPr/>
        </p:nvSpPr>
        <p:spPr>
          <a:xfrm>
            <a:off x="761695" y="761695"/>
            <a:ext cx="1066739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 </a:t>
            </a: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way builds the row edges best?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overlap · cy-cx · cy∪role_rank · role_rank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00D6B7D-B1E4-8F05-AB64-2DA0DAD2DF01}"/>
              </a:ext>
            </a:extLst>
          </p:cNvPr>
          <p:cNvSpPr/>
          <p:nvPr/>
        </p:nvSpPr>
        <p:spPr>
          <a:xfrm>
            <a:off x="761695" y="1047902"/>
            <a:ext cx="1066739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wins — geometry beats rank.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151A280-D834-BD69-41A4-44BEEF08C8E2}"/>
              </a:ext>
            </a:extLst>
          </p:cNvPr>
          <p:cNvSpPr/>
          <p:nvPr/>
        </p:nvSpPr>
        <p:spPr>
          <a:xfrm>
            <a:off x="761695" y="1524305"/>
            <a:ext cx="1066739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4F precision / recall / F1 · OCR and classifier held fixed — only the row-edge rule changes</a:t>
            </a:r>
            <a:endParaRPr lang="en-US" sz="7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F0D25405-35D2-B9A8-AA55-354E5850F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1809598"/>
            <a:ext cx="10667390" cy="3556102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2AF0FF85-94D1-3C6A-E93E-5FCEF2BB112C}"/>
              </a:ext>
            </a:extLst>
          </p:cNvPr>
          <p:cNvSpPr/>
          <p:nvPr/>
        </p:nvSpPr>
        <p:spPr>
          <a:xfrm>
            <a:off x="761695" y="5447995"/>
            <a:ext cx="1066739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 ∪ role_rank pushes recall to .423 but precision collapses to .256 — it adds a few true hits and far more false ones.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980278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030CF-18FF-7F6F-F94F-80490B720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4EC067-5D22-D5C7-2181-03BD13AC4679}"/>
              </a:ext>
            </a:extLst>
          </p:cNvPr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200" normalizeH="0" baseline="0" noProof="0" dirty="0">
                <a:ln>
                  <a:noFill/>
                </a:ln>
                <a:solidFill>
                  <a:srgbClr val="6E665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Q5.1 / ASSOCIATION ④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829CC8-7BC2-C3D0-16F9-0B7C8D3D7CCB}"/>
              </a:ext>
            </a:extLst>
          </p:cNvPr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100" normalizeH="0" baseline="0" noProof="0" dirty="0">
                <a:ln>
                  <a:noFill/>
                </a:ln>
                <a:solidFill>
                  <a:srgbClr val="9A927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CCB4EE-50EA-A6EF-4B22-CDC10C9F8B89}"/>
              </a:ext>
            </a:extLst>
          </p:cNvPr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28336F-6553-91C5-E2BB-1E68C9D3FA95}"/>
              </a:ext>
            </a:extLst>
          </p:cNvPr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100" normalizeH="0" baseline="0" noProof="0" dirty="0">
                <a:ln>
                  <a:noFill/>
                </a:ln>
                <a:solidFill>
                  <a:srgbClr val="9A927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8021CC7-8D2C-63E3-13A7-FA1229A368F8}"/>
              </a:ext>
            </a:extLst>
          </p:cNvPr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927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15 / 19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5759303-E43F-14EF-8C22-D7208EA0AF14}"/>
              </a:ext>
            </a:extLst>
          </p:cNvPr>
          <p:cNvSpPr/>
          <p:nvPr/>
        </p:nvSpPr>
        <p:spPr>
          <a:xfrm>
            <a:off x="761695" y="761695"/>
            <a:ext cx="1066739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3B2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Q5.1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E665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Is this Comparable to using the VLM end to end?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9A927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· end-to-end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E304CC6-0F2B-1B8D-D019-A642847B65D8}"/>
              </a:ext>
            </a:extLst>
          </p:cNvPr>
          <p:cNvSpPr/>
          <p:nvPr/>
        </p:nvSpPr>
        <p:spPr>
          <a:xfrm>
            <a:off x="761695" y="1047902"/>
            <a:ext cx="6349594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>
              <a:defRPr/>
            </a:pPr>
            <a:r>
              <a:rPr lang="en-US" sz="8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4-field tuple F1 · </a:t>
            </a:r>
            <a:r>
              <a:rPr lang="en-US" sz="800" b="1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Interpretable Pipeline “</a:t>
            </a:r>
            <a:r>
              <a:rPr lang="en-US" sz="800" b="1" dirty="0" err="1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Gliner</a:t>
            </a:r>
            <a:r>
              <a:rPr lang="en-US" sz="800" b="1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Graph v2</a:t>
            </a:r>
          </a:p>
          <a:p>
            <a:pPr lvl="0">
              <a:defRPr/>
            </a:pPr>
            <a:r>
              <a:rPr lang="en-US" sz="800" b="1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-Overlap mode”  </a:t>
            </a:r>
            <a:r>
              <a:rPr lang="en-US" sz="8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 </a:t>
            </a:r>
            <a:r>
              <a:rPr lang="en-US" sz="1200" b="1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(Gemma 3 4B)</a:t>
            </a: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DC8F771-846A-234D-30CD-6CD3F5FBF057}"/>
              </a:ext>
            </a:extLst>
          </p:cNvPr>
          <p:cNvSpPr/>
          <p:nvPr/>
        </p:nvSpPr>
        <p:spPr>
          <a:xfrm>
            <a:off x="761695" y="1587398"/>
            <a:ext cx="1066739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BCC261-0223-D2ED-8614-AAAF041E552A}"/>
              </a:ext>
            </a:extLst>
          </p:cNvPr>
          <p:cNvSpPr/>
          <p:nvPr/>
        </p:nvSpPr>
        <p:spPr>
          <a:xfrm>
            <a:off x="761695" y="2095805"/>
            <a:ext cx="2730398" cy="1460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0" cap="none" spc="-200" normalizeH="0" baseline="0" noProof="0" dirty="0">
                <a:ln>
                  <a:noFill/>
                </a:ln>
                <a:solidFill>
                  <a:srgbClr val="9C3B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.43</a:t>
            </a:r>
            <a:endParaRPr kumimoji="0" lang="en-US" sz="7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0050CEE-4B59-E56B-827E-EE9F9388A6C7}"/>
              </a:ext>
            </a:extLst>
          </p:cNvPr>
          <p:cNvSpPr/>
          <p:nvPr/>
        </p:nvSpPr>
        <p:spPr>
          <a:xfrm>
            <a:off x="761695" y="3670402"/>
            <a:ext cx="2730398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Interpretable Pipeline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3810237-D8C5-1FC1-CC7F-3552ACDFA54C}"/>
              </a:ext>
            </a:extLst>
          </p:cNvPr>
          <p:cNvSpPr/>
          <p:nvPr/>
        </p:nvSpPr>
        <p:spPr>
          <a:xfrm>
            <a:off x="3556102" y="2540203"/>
            <a:ext cx="761695" cy="508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A927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74B98A1-D92A-6925-F50C-CAD68E898E72}"/>
              </a:ext>
            </a:extLst>
          </p:cNvPr>
          <p:cNvSpPr/>
          <p:nvPr/>
        </p:nvSpPr>
        <p:spPr>
          <a:xfrm>
            <a:off x="4572000" y="2095805"/>
            <a:ext cx="2730398" cy="1460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0" cap="none" spc="-200" normalizeH="0" baseline="0" noProof="0" dirty="0">
                <a:ln>
                  <a:noFill/>
                </a:ln>
                <a:solidFill>
                  <a:srgbClr val="201C1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.36</a:t>
            </a:r>
            <a:endParaRPr kumimoji="0" lang="en-US" sz="7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E08A0CC-2158-870E-0065-5D78F33A4109}"/>
              </a:ext>
            </a:extLst>
          </p:cNvPr>
          <p:cNvSpPr/>
          <p:nvPr/>
        </p:nvSpPr>
        <p:spPr>
          <a:xfrm>
            <a:off x="4572000" y="3670402"/>
            <a:ext cx="2730398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E665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raw image → VLM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B7EA96E-969B-59E8-E637-DBE13C9FAF35}"/>
              </a:ext>
            </a:extLst>
          </p:cNvPr>
          <p:cNvSpPr/>
          <p:nvPr/>
        </p:nvSpPr>
        <p:spPr>
          <a:xfrm>
            <a:off x="761695" y="4444898"/>
            <a:ext cx="7619695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7934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Q5.2 / ASSOCIATION ③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698602"/>
            <a:ext cx="1066739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Q5.2  </a:t>
            </a: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VLM binder beat the graph?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graph v2 · VLM-assoc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1695" y="952805"/>
            <a:ext cx="7619695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2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VLM binder buys precision.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1695" y="1492301"/>
            <a:ext cx="1066739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Four-field tuple · OCR = PaddleOCR fixed · graph v2 vs VLM-association (Gemma 3 4B)</a:t>
            </a:r>
            <a:endParaRPr lang="en-US" sz="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841602"/>
          <a:ext cx="10667391" cy="248991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1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1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17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Classifier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01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Association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01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4F-P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01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4F-R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01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4F-F1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01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01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E6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 v2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01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.422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01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.424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01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.423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01C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VLM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.573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.416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.482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E6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 v2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.391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.415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.403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VLM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.605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.418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9C3B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.495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GLiNER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E66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 v2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.463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.402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.430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GLiNER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VLM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.527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E66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.385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.445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1695" y="4572000"/>
            <a:ext cx="9905695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VLM raises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every case while recall holds — best overall </a:t>
            </a:r>
            <a:r>
              <a:rPr lang="en-US" sz="1000" b="1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.495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(embedding → VLM), </a:t>
            </a:r>
            <a:r>
              <a:rPr lang="en-US" sz="100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~13.7 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s/image vs ~4.5 s for the graph.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Q6 / ASSOCIATION ④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761695"/>
            <a:ext cx="10667390" cy="215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Q6  </a:t>
            </a:r>
            <a:r>
              <a:rPr lang="en-US" sz="11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structuring before binding worth it?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VLM-assoc · end-to-end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1695" y="1047902"/>
            <a:ext cx="6349594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2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first, then bind.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1695" y="1587398"/>
            <a:ext cx="1066739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4-field tuple F1 · same model (Gemma 3 4B) binds in both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61695" y="2095805"/>
            <a:ext cx="2730398" cy="1460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0" b="1" kern="0" spc="-200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.49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761695" y="3670402"/>
            <a:ext cx="2730398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table → VLM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56102" y="2540203"/>
            <a:ext cx="761695" cy="508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9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2095805"/>
            <a:ext cx="2730398" cy="1460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0" b="1" kern="0" spc="-2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.36</a:t>
            </a:r>
            <a:endParaRPr lang="en-US" sz="7500" dirty="0"/>
          </a:p>
        </p:txBody>
      </p:sp>
      <p:sp>
        <p:nvSpPr>
          <p:cNvPr id="14" name="Text 12"/>
          <p:cNvSpPr/>
          <p:nvPr/>
        </p:nvSpPr>
        <p:spPr>
          <a:xfrm>
            <a:off x="4572000" y="3670402"/>
            <a:ext cx="2730398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image → VLM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1695" y="4444898"/>
            <a:ext cx="7619695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model. A clean token table beats the raw image by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+0.13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structuring the problem is worth more than one big model.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THE Conclusion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" y="761695"/>
            <a:ext cx="6985102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2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accurate — and you can read it.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1695" y="1238098"/>
            <a:ext cx="10667390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4-field tuple F1 (all four fields must match) · time = median per-image processing over the 57 images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61695" y="1809598"/>
            <a:ext cx="4572000" cy="235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43.0%</a:t>
            </a:r>
            <a:r>
              <a:rPr lang="en-US" sz="700" kern="0" spc="-1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~4.5 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61695" y="2053742"/>
            <a:ext cx="4572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 · fully interpretable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1695" y="2218334"/>
            <a:ext cx="4572000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PaddleOCR → GLiNER → graph v2 · 0 VLM calls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61695" y="2920594"/>
            <a:ext cx="4572000" cy="235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49.5%</a:t>
            </a:r>
            <a:r>
              <a:rPr lang="en-US" sz="700" kern="0" spc="-1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~13.7 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61695" y="3164738"/>
            <a:ext cx="4572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overall · embedding → VLM-association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1695" y="3330245"/>
            <a:ext cx="4572000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VLM binds the last step · buys precision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61695" y="4032504"/>
            <a:ext cx="4572000" cy="189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-100" dirty="0">
                <a:solidFill>
                  <a:srgbClr val="9A9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36.0%</a:t>
            </a:r>
            <a:r>
              <a:rPr lang="en-US" sz="700" kern="0" spc="-1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~7.5 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1695" y="4227271"/>
            <a:ext cx="4572000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VLM baseline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714500"/>
            <a:ext cx="5079492" cy="298460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715000" y="4749394"/>
            <a:ext cx="5079492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Per-image processing time — the interpretable pipeline is also the fastest.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761695" y="5301691"/>
            <a:ext cx="10667390" cy="3172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+7.1 points over the baseline with no VLM in the loop.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Adding a VLM binder to the embedding front-end reaches the best overall 49.5% — but at roughly 3× the time.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WHAT TO SHIP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1695" y="622706"/>
            <a:ext cx="10667390" cy="0"/>
          </a:xfrm>
          <a:prstGeom prst="line">
            <a:avLst/>
          </a:prstGeom>
          <a:noFill/>
          <a:ln w="9525">
            <a:solidFill>
              <a:srgbClr val="C6BC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Nutrient &amp; Quantity Association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19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1695" y="1460297"/>
            <a:ext cx="405994" cy="32004"/>
          </a:xfrm>
          <a:prstGeom prst="rect">
            <a:avLst/>
          </a:prstGeom>
          <a:solidFill>
            <a:srgbClr val="9C3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1695" y="1714500"/>
            <a:ext cx="8889797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800" b="1" kern="0" spc="-1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761695" y="3174797"/>
            <a:ext cx="3556102" cy="0"/>
          </a:xfrm>
          <a:prstGeom prst="line">
            <a:avLst/>
          </a:prstGeom>
          <a:noFill/>
          <a:ln w="31750">
            <a:solidFill>
              <a:srgbClr val="201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1695" y="3269894"/>
            <a:ext cx="3556102" cy="139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· INTERPRETABLE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61695" y="3461004"/>
            <a:ext cx="3556102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 → GLiNER → graph v2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1695" y="3733495"/>
            <a:ext cx="3556102" cy="317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43.0%  </a:t>
            </a:r>
            <a:r>
              <a:rPr lang="en-US" sz="8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4F-F1 · ~4.5 s · 0 VLM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26203" y="3174797"/>
            <a:ext cx="3556102" cy="0"/>
          </a:xfrm>
          <a:prstGeom prst="line">
            <a:avLst/>
          </a:prstGeom>
          <a:noFill/>
          <a:ln w="31750">
            <a:solidFill>
              <a:srgbClr val="9C3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6203" y="3269894"/>
            <a:ext cx="3556102" cy="139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ACCURACY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26203" y="3461004"/>
            <a:ext cx="3556102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 → embedding → VLM-assoc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6203" y="3733495"/>
            <a:ext cx="3556102" cy="317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49.5%  </a:t>
            </a:r>
            <a:r>
              <a:rPr lang="en-US" sz="8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4F-F1 · ~13.7 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61695" y="4826203"/>
            <a:ext cx="10667390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 welcome.  ·  Moustafa Hamada · THD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1908</Words>
  <Application>Microsoft Office PowerPoint</Application>
  <PresentationFormat>Widescreen</PresentationFormat>
  <Paragraphs>275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MOSTAFA SAEID</cp:lastModifiedBy>
  <cp:revision>3</cp:revision>
  <dcterms:created xsi:type="dcterms:W3CDTF">2026-07-01T11:10:19Z</dcterms:created>
  <dcterms:modified xsi:type="dcterms:W3CDTF">2026-07-01T21:43:04Z</dcterms:modified>
</cp:coreProperties>
</file>