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9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6" r:id="rId14"/>
    <p:sldId id="267" r:id="rId15"/>
    <p:sldId id="275" r:id="rId16"/>
    <p:sldId id="268" r:id="rId17"/>
    <p:sldId id="274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TAFA SAEID" userId="58df6ffb00d4bf01" providerId="LiveId" clId="{941B6836-EB97-429F-9219-1A1DB3C6AFFC}"/>
    <pc:docChg chg="undo custSel modSld">
      <pc:chgData name="MOSTAFA SAEID" userId="58df6ffb00d4bf01" providerId="LiveId" clId="{941B6836-EB97-429F-9219-1A1DB3C6AFFC}" dt="2026-07-03T22:15:40.064" v="247" actId="1076"/>
      <pc:docMkLst>
        <pc:docMk/>
      </pc:docMkLst>
      <pc:sldChg chg="modSp mod">
        <pc:chgData name="MOSTAFA SAEID" userId="58df6ffb00d4bf01" providerId="LiveId" clId="{941B6836-EB97-429F-9219-1A1DB3C6AFFC}" dt="2026-07-02T09:51:45.245" v="9" actId="20577"/>
        <pc:sldMkLst>
          <pc:docMk/>
          <pc:sldMk cId="0" sldId="256"/>
        </pc:sldMkLst>
        <pc:spChg chg="mod">
          <ac:chgData name="MOSTAFA SAEID" userId="58df6ffb00d4bf01" providerId="LiveId" clId="{941B6836-EB97-429F-9219-1A1DB3C6AFFC}" dt="2026-07-02T09:51:45.245" v="9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MOSTAFA SAEID" userId="58df6ffb00d4bf01" providerId="LiveId" clId="{941B6836-EB97-429F-9219-1A1DB3C6AFFC}" dt="2026-07-02T10:25:36.582" v="219" actId="20577"/>
        <pc:sldMkLst>
          <pc:docMk/>
          <pc:sldMk cId="0" sldId="257"/>
        </pc:sldMkLst>
        <pc:spChg chg="mod">
          <ac:chgData name="MOSTAFA SAEID" userId="58df6ffb00d4bf01" providerId="LiveId" clId="{941B6836-EB97-429F-9219-1A1DB3C6AFFC}" dt="2026-07-02T10:25:36.582" v="219" actId="20577"/>
          <ac:spMkLst>
            <pc:docMk/>
            <pc:sldMk cId="0" sldId="257"/>
            <ac:spMk id="3" creationId="{00000000-0000-0000-0000-000000000000}"/>
          </ac:spMkLst>
        </pc:spChg>
        <pc:picChg chg="mod">
          <ac:chgData name="MOSTAFA SAEID" userId="58df6ffb00d4bf01" providerId="LiveId" clId="{941B6836-EB97-429F-9219-1A1DB3C6AFFC}" dt="2026-07-02T10:12:44.760" v="213" actId="14861"/>
          <ac:picMkLst>
            <pc:docMk/>
            <pc:sldMk cId="0" sldId="257"/>
            <ac:picMk id="13" creationId="{47178AB8-DDB2-ED14-AF81-4E1EC3695558}"/>
          </ac:picMkLst>
        </pc:picChg>
      </pc:sldChg>
      <pc:sldChg chg="modSp mod">
        <pc:chgData name="MOSTAFA SAEID" userId="58df6ffb00d4bf01" providerId="LiveId" clId="{941B6836-EB97-429F-9219-1A1DB3C6AFFC}" dt="2026-07-02T09:59:32.186" v="181" actId="20577"/>
        <pc:sldMkLst>
          <pc:docMk/>
          <pc:sldMk cId="0" sldId="259"/>
        </pc:sldMkLst>
        <pc:spChg chg="mod">
          <ac:chgData name="MOSTAFA SAEID" userId="58df6ffb00d4bf01" providerId="LiveId" clId="{941B6836-EB97-429F-9219-1A1DB3C6AFFC}" dt="2026-07-02T09:59:32.186" v="181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MOSTAFA SAEID" userId="58df6ffb00d4bf01" providerId="LiveId" clId="{941B6836-EB97-429F-9219-1A1DB3C6AFFC}" dt="2026-07-02T09:58:54.065" v="124" actId="14861"/>
          <ac:spMkLst>
            <pc:docMk/>
            <pc:sldMk cId="0" sldId="259"/>
            <ac:spMk id="7" creationId="{00000000-0000-0000-0000-000000000000}"/>
          </ac:spMkLst>
        </pc:spChg>
        <pc:spChg chg="mod">
          <ac:chgData name="MOSTAFA SAEID" userId="58df6ffb00d4bf01" providerId="LiveId" clId="{941B6836-EB97-429F-9219-1A1DB3C6AFFC}" dt="2026-07-02T09:58:45.674" v="122" actId="14861"/>
          <ac:spMkLst>
            <pc:docMk/>
            <pc:sldMk cId="0" sldId="259"/>
            <ac:spMk id="9" creationId="{00000000-0000-0000-0000-000000000000}"/>
          </ac:spMkLst>
        </pc:spChg>
        <pc:spChg chg="mod">
          <ac:chgData name="MOSTAFA SAEID" userId="58df6ffb00d4bf01" providerId="LiveId" clId="{941B6836-EB97-429F-9219-1A1DB3C6AFFC}" dt="2026-07-02T09:58:16.563" v="116" actId="1486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OSTAFA SAEID" userId="58df6ffb00d4bf01" providerId="LiveId" clId="{941B6836-EB97-429F-9219-1A1DB3C6AFFC}" dt="2026-07-02T09:58:27.847" v="120" actId="1486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OSTAFA SAEID" userId="58df6ffb00d4bf01" providerId="LiveId" clId="{941B6836-EB97-429F-9219-1A1DB3C6AFFC}" dt="2026-07-02T09:58:22.472" v="118" actId="14861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MOSTAFA SAEID" userId="58df6ffb00d4bf01" providerId="LiveId" clId="{941B6836-EB97-429F-9219-1A1DB3C6AFFC}" dt="2026-07-02T10:01:01.819" v="191" actId="113"/>
        <pc:sldMkLst>
          <pc:docMk/>
          <pc:sldMk cId="0" sldId="260"/>
        </pc:sldMkLst>
        <pc:spChg chg="mod">
          <ac:chgData name="MOSTAFA SAEID" userId="58df6ffb00d4bf01" providerId="LiveId" clId="{941B6836-EB97-429F-9219-1A1DB3C6AFFC}" dt="2026-07-02T09:59:49.603" v="183" actId="14861"/>
          <ac:spMkLst>
            <pc:docMk/>
            <pc:sldMk cId="0" sldId="260"/>
            <ac:spMk id="5" creationId="{00000000-0000-0000-0000-000000000000}"/>
          </ac:spMkLst>
        </pc:spChg>
        <pc:spChg chg="mod">
          <ac:chgData name="MOSTAFA SAEID" userId="58df6ffb00d4bf01" providerId="LiveId" clId="{941B6836-EB97-429F-9219-1A1DB3C6AFFC}" dt="2026-07-02T10:01:01.819" v="191" actId="113"/>
          <ac:spMkLst>
            <pc:docMk/>
            <pc:sldMk cId="0" sldId="260"/>
            <ac:spMk id="7" creationId="{00000000-0000-0000-0000-000000000000}"/>
          </ac:spMkLst>
        </pc:spChg>
        <pc:spChg chg="mod">
          <ac:chgData name="MOSTAFA SAEID" userId="58df6ffb00d4bf01" providerId="LiveId" clId="{941B6836-EB97-429F-9219-1A1DB3C6AFFC}" dt="2026-07-02T09:59:54.350" v="185" actId="14861"/>
          <ac:spMkLst>
            <pc:docMk/>
            <pc:sldMk cId="0" sldId="260"/>
            <ac:spMk id="8" creationId="{00000000-0000-0000-0000-000000000000}"/>
          </ac:spMkLst>
        </pc:spChg>
        <pc:spChg chg="mod">
          <ac:chgData name="MOSTAFA SAEID" userId="58df6ffb00d4bf01" providerId="LiveId" clId="{941B6836-EB97-429F-9219-1A1DB3C6AFFC}" dt="2026-07-02T09:59:59.312" v="187" actId="14861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MOSTAFA SAEID" userId="58df6ffb00d4bf01" providerId="LiveId" clId="{941B6836-EB97-429F-9219-1A1DB3C6AFFC}" dt="2026-07-03T22:15:40.064" v="247" actId="1076"/>
        <pc:sldMkLst>
          <pc:docMk/>
          <pc:sldMk cId="0" sldId="262"/>
        </pc:sldMkLst>
        <pc:picChg chg="mod">
          <ac:chgData name="MOSTAFA SAEID" userId="58df6ffb00d4bf01" providerId="LiveId" clId="{941B6836-EB97-429F-9219-1A1DB3C6AFFC}" dt="2026-07-03T22:15:40.064" v="247" actId="1076"/>
          <ac:picMkLst>
            <pc:docMk/>
            <pc:sldMk cId="0" sldId="262"/>
            <ac:picMk id="27" creationId="{054C9322-4E69-8970-E589-04A895221B0B}"/>
          </ac:picMkLst>
        </pc:picChg>
      </pc:sldChg>
      <pc:sldChg chg="modSp mod">
        <pc:chgData name="MOSTAFA SAEID" userId="58df6ffb00d4bf01" providerId="LiveId" clId="{941B6836-EB97-429F-9219-1A1DB3C6AFFC}" dt="2026-07-02T10:04:05.741" v="192" actId="20577"/>
        <pc:sldMkLst>
          <pc:docMk/>
          <pc:sldMk cId="0" sldId="264"/>
        </pc:sldMkLst>
        <pc:spChg chg="mod">
          <ac:chgData name="MOSTAFA SAEID" userId="58df6ffb00d4bf01" providerId="LiveId" clId="{941B6836-EB97-429F-9219-1A1DB3C6AFFC}" dt="2026-07-02T10:04:05.741" v="192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OSTAFA SAEID" userId="58df6ffb00d4bf01" providerId="LiveId" clId="{941B6836-EB97-429F-9219-1A1DB3C6AFFC}" dt="2026-07-02T12:19:12.918" v="246" actId="1036"/>
        <pc:sldMkLst>
          <pc:docMk/>
          <pc:sldMk cId="0" sldId="265"/>
        </pc:sldMkLst>
        <pc:picChg chg="mod">
          <ac:chgData name="MOSTAFA SAEID" userId="58df6ffb00d4bf01" providerId="LiveId" clId="{941B6836-EB97-429F-9219-1A1DB3C6AFFC}" dt="2026-07-02T12:19:12.918" v="246" actId="1036"/>
          <ac:picMkLst>
            <pc:docMk/>
            <pc:sldMk cId="0" sldId="265"/>
            <ac:picMk id="8" creationId="{CC3D509F-BD6F-83B5-5854-5D9F28D64E42}"/>
          </ac:picMkLst>
        </pc:picChg>
      </pc:sldChg>
      <pc:sldChg chg="modSp mod">
        <pc:chgData name="MOSTAFA SAEID" userId="58df6ffb00d4bf01" providerId="LiveId" clId="{941B6836-EB97-429F-9219-1A1DB3C6AFFC}" dt="2026-07-02T10:07:53.766" v="211" actId="1076"/>
        <pc:sldMkLst>
          <pc:docMk/>
          <pc:sldMk cId="0" sldId="266"/>
        </pc:sldMkLst>
        <pc:spChg chg="mod">
          <ac:chgData name="MOSTAFA SAEID" userId="58df6ffb00d4bf01" providerId="LiveId" clId="{941B6836-EB97-429F-9219-1A1DB3C6AFFC}" dt="2026-07-02T10:07:53.766" v="211" actId="1076"/>
          <ac:spMkLst>
            <pc:docMk/>
            <pc:sldMk cId="0" sldId="266"/>
            <ac:spMk id="10" creationId="{D0EA3F97-2FD5-78C5-74BF-004047AD517C}"/>
          </ac:spMkLst>
        </pc:spChg>
        <pc:picChg chg="mod">
          <ac:chgData name="MOSTAFA SAEID" userId="58df6ffb00d4bf01" providerId="LiveId" clId="{941B6836-EB97-429F-9219-1A1DB3C6AFFC}" dt="2026-07-02T10:06:47.821" v="209" actId="14861"/>
          <ac:picMkLst>
            <pc:docMk/>
            <pc:sldMk cId="0" sldId="266"/>
            <ac:picMk id="13" creationId="{5B206C0A-0273-0339-5F85-F63ABA7E0A1D}"/>
          </ac:picMkLst>
        </pc:picChg>
      </pc:sldChg>
      <pc:sldChg chg="delSp modSp mod">
        <pc:chgData name="MOSTAFA SAEID" userId="58df6ffb00d4bf01" providerId="LiveId" clId="{941B6836-EB97-429F-9219-1A1DB3C6AFFC}" dt="2026-07-02T09:54:23.759" v="28" actId="14861"/>
        <pc:sldMkLst>
          <pc:docMk/>
          <pc:sldMk cId="0" sldId="292"/>
        </pc:sldMkLst>
        <pc:spChg chg="mod">
          <ac:chgData name="MOSTAFA SAEID" userId="58df6ffb00d4bf01" providerId="LiveId" clId="{941B6836-EB97-429F-9219-1A1DB3C6AFFC}" dt="2026-07-02T09:54:11.568" v="13" actId="14861"/>
          <ac:spMkLst>
            <pc:docMk/>
            <pc:sldMk cId="0" sldId="292"/>
            <ac:spMk id="24" creationId="{2056DF08-A2B2-A425-BE57-8E20D4E8E827}"/>
          </ac:spMkLst>
        </pc:spChg>
        <pc:spChg chg="mod">
          <ac:chgData name="MOSTAFA SAEID" userId="58df6ffb00d4bf01" providerId="LiveId" clId="{941B6836-EB97-429F-9219-1A1DB3C6AFFC}" dt="2026-07-02T09:54:14.696" v="18" actId="14861"/>
          <ac:spMkLst>
            <pc:docMk/>
            <pc:sldMk cId="0" sldId="292"/>
            <ac:spMk id="26" creationId="{6D11DA95-5E01-0001-4527-21E97F3ED88D}"/>
          </ac:spMkLst>
        </pc:spChg>
        <pc:spChg chg="mod">
          <ac:chgData name="MOSTAFA SAEID" userId="58df6ffb00d4bf01" providerId="LiveId" clId="{941B6836-EB97-429F-9219-1A1DB3C6AFFC}" dt="2026-07-02T09:54:17.319" v="22" actId="14861"/>
          <ac:spMkLst>
            <pc:docMk/>
            <pc:sldMk cId="0" sldId="292"/>
            <ac:spMk id="30" creationId="{9C1B670F-AB50-DB1A-13C2-26578D4E3608}"/>
          </ac:spMkLst>
        </pc:spChg>
        <pc:spChg chg="mod">
          <ac:chgData name="MOSTAFA SAEID" userId="58df6ffb00d4bf01" providerId="LiveId" clId="{941B6836-EB97-429F-9219-1A1DB3C6AFFC}" dt="2026-07-02T09:54:20.706" v="25" actId="14861"/>
          <ac:spMkLst>
            <pc:docMk/>
            <pc:sldMk cId="0" sldId="292"/>
            <ac:spMk id="34" creationId="{C2140EE0-E788-11FE-CB74-B933DEE03B66}"/>
          </ac:spMkLst>
        </pc:spChg>
        <pc:spChg chg="mod">
          <ac:chgData name="MOSTAFA SAEID" userId="58df6ffb00d4bf01" providerId="LiveId" clId="{941B6836-EB97-429F-9219-1A1DB3C6AFFC}" dt="2026-07-02T09:54:23.759" v="28" actId="14861"/>
          <ac:spMkLst>
            <pc:docMk/>
            <pc:sldMk cId="0" sldId="292"/>
            <ac:spMk id="36" creationId="{7241F7A7-E4D1-12FB-FEAF-E33E93157A55}"/>
          </ac:spMkLst>
        </pc:spChg>
        <pc:spChg chg="del">
          <ac:chgData name="MOSTAFA SAEID" userId="58df6ffb00d4bf01" providerId="LiveId" clId="{941B6836-EB97-429F-9219-1A1DB3C6AFFC}" dt="2026-07-02T09:54:03.884" v="10" actId="21"/>
          <ac:spMkLst>
            <pc:docMk/>
            <pc:sldMk cId="0" sldId="292"/>
            <ac:spMk id="38" creationId="{C727EAEE-C3BD-740A-3567-BD75ECF64E2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774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38B70-B3CF-16E1-D5BB-A3AC51A5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FD83F-40AF-F811-8316-734A6E3E0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1A738-92C0-FB69-A005-D15D27804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1C05B-C407-5618-6659-F087D55B9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82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87EB1-2AAF-3B52-C844-242260B5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A7C8F-1EA6-2E4F-E85C-6C9A7C35B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E35E8-D8F9-6FE8-5B94-BD1FD50E9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13729-4081-FE40-3391-FBD21421D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37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D18EB-D93E-968E-2701-6EEC7F90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DFF76-7EE3-DBE1-D1A0-D67C5F3DB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71692A-773C-D236-8897-BF0E8F113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C8302-B60D-3F44-9D60-C4A8442CBE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235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MASTER'S THESIS  ·SEMINAR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Nutrient &amp; Quantity Association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OCR-Guided Semantic Graph Matching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3063240"/>
            <a:ext cx="5486400" cy="0"/>
          </a:xfrm>
          <a:prstGeom prst="line">
            <a:avLst/>
          </a:prstGeom>
          <a:noFill/>
          <a:ln w="25400">
            <a:solidFill>
              <a:srgbClr val="DD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Recovering structured facts from label photographs — with no training labels.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Moustafa Hamada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4937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528523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Andreas Fischer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0" y="4937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CO-SUPERVISOR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528523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oec. troph. Claudia Osterkamp-Baerens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06840" y="4937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INSTITUTION · DATE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06840" y="528523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THD ·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label is a picture. The facts inside it are not.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/  18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20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47178AB8-DDB2-ED14-AF81-4E1EC36955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0566" y="1384402"/>
            <a:ext cx="10667390" cy="387339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8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27B8D2-CEC3-77AA-AC53-D9EF287D6751}"/>
              </a:ext>
            </a:extLst>
          </p:cNvPr>
          <p:cNvSpPr txBox="1"/>
          <p:nvPr/>
        </p:nvSpPr>
        <p:spPr>
          <a:xfrm>
            <a:off x="410566" y="5516725"/>
            <a:ext cx="113010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value belongs to which nutrient? — recover ⟨ nutrient, quantity, unit, context ⟩, zero-shot, across languages.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THE OBVIOUS MOVE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obvious move: hand the whole photo to one model.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/  18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photo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703320" y="2743200"/>
            <a:ext cx="822960" cy="0"/>
          </a:xfrm>
          <a:prstGeom prst="line">
            <a:avLst/>
          </a:prstGeom>
          <a:noFill/>
          <a:ln w="31750">
            <a:solidFill>
              <a:srgbClr val="6E66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17720" y="2148840"/>
            <a:ext cx="2834640" cy="1188720"/>
          </a:xfrm>
          <a:prstGeom prst="roundRect">
            <a:avLst>
              <a:gd name="adj" fmla="val 6923"/>
            </a:avLst>
          </a:prstGeom>
          <a:solidFill>
            <a:srgbClr val="9C3B2E"/>
          </a:solidFill>
          <a:ln w="12700">
            <a:solidFill>
              <a:srgbClr val="9C3B2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21488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opaque VLM call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589520" y="2743200"/>
            <a:ext cx="822960" cy="0"/>
          </a:xfrm>
          <a:prstGeom prst="line">
            <a:avLst/>
          </a:prstGeom>
          <a:noFill/>
          <a:ln w="31750">
            <a:solidFill>
              <a:srgbClr val="6E66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03920" y="2148840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03920" y="21488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 n, q, u, x 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and simple — but opaque, costly, and impossible to audit. When a tuple is wrong, nothing tells you which step failed.</a:t>
            </a:r>
            <a:endParaRPr lang="en-US" sz="20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873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HYPOTHESIS &amp; RESEARCH QUESTIONS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/  18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3EEE4"/>
          </a:solidFill>
          <a:ln w="19050">
            <a:solidFill>
              <a:srgbClr val="9C3B2E"/>
            </a:solidFill>
            <a:prstDash val="solid"/>
          </a:ln>
          <a:effectLst>
            <a:outerShdw blurRad="63500" dist="25400" dir="5400000" algn="bl" rotWithShape="0">
              <a:srgbClr val="000000">
                <a:alpha val="9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2356" y="1481328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  </a:t>
            </a:r>
          </a:p>
          <a:p>
            <a:pPr marL="0" indent="0" algn="ctr">
              <a:lnSpc>
                <a:spcPct val="112000"/>
              </a:lnSpc>
              <a:buNone/>
            </a:pPr>
            <a:endParaRPr lang="en-US" sz="1800" b="1" dirty="0">
              <a:solidFill>
                <a:srgbClr val="9C3B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Stages Pipeline For Extraction and Association Using OCR Guided Semantic Graph Matching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127248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9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RQ1 · OCR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9417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OCR engine best supports tuple recovery?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45352" y="3127248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9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19672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RQ2 · CLASSIFIER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369417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decide “is this a nutrient?”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4700016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9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864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RQ3 · ASSOCIATION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26694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geometry-aware graph improve binding?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45352" y="4700016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9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19672" y="4864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RQ4 · vs VLM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9672" y="526694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interpretable pipeline competitive with a VLM?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>
            <a:alpha val="4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61695" y="291694"/>
            <a:ext cx="8255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Background</a:t>
            </a:r>
            <a:endParaRPr lang="en-US" sz="1400" dirty="0"/>
          </a:p>
        </p:txBody>
      </p:sp>
      <p:sp>
        <p:nvSpPr>
          <p:cNvPr id="3" name="header"/>
          <p:cNvSpPr/>
          <p:nvPr/>
        </p:nvSpPr>
        <p:spPr>
          <a:xfrm>
            <a:off x="6602882" y="291694"/>
            <a:ext cx="4826203" cy="190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0" cap="none" spc="100" normalizeH="0" baseline="0" noProof="0" dirty="0">
              <a:ln>
                <a:noFill/>
              </a:ln>
              <a:solidFill>
                <a:srgbClr val="9A927F"/>
              </a:solidFill>
              <a:effectLst/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5" name="footL"/>
          <p:cNvSpPr/>
          <p:nvPr/>
        </p:nvSpPr>
        <p:spPr>
          <a:xfrm>
            <a:off x="761695" y="6437376"/>
            <a:ext cx="8255203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0" cap="none" spc="100" normalizeH="0" baseline="0" noProof="0" dirty="0">
              <a:ln>
                <a:noFill/>
              </a:ln>
              <a:solidFill>
                <a:srgbClr val="9A927F"/>
              </a:solidFill>
              <a:effectLst/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6" name="footR"/>
          <p:cNvSpPr/>
          <p:nvPr/>
        </p:nvSpPr>
        <p:spPr>
          <a:xfrm>
            <a:off x="8254289" y="6437376"/>
            <a:ext cx="3174797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defRPr/>
            </a:pPr>
            <a:r>
              <a:rPr lang="en-US" sz="14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/  18</a:t>
            </a:r>
            <a:endParaRPr lang="en-US" sz="1400" dirty="0"/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srgbClr val="9A927F"/>
              </a:solidFill>
              <a:effectLst/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7" name="kicker"/>
          <p:cNvSpPr/>
          <p:nvPr/>
        </p:nvSpPr>
        <p:spPr>
          <a:xfrm>
            <a:off x="761695" y="856793"/>
            <a:ext cx="3810305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200" normalizeH="0" baseline="0" noProof="0" dirty="0">
              <a:ln>
                <a:noFill/>
              </a:ln>
              <a:solidFill>
                <a:srgbClr val="6E6656"/>
              </a:solidFill>
              <a:effectLst/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8" name="title"/>
          <p:cNvSpPr/>
          <p:nvPr/>
        </p:nvSpPr>
        <p:spPr>
          <a:xfrm>
            <a:off x="761695" y="1080000"/>
            <a:ext cx="1066739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01C1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Background: the building blocks</a:t>
            </a:r>
          </a:p>
        </p:txBody>
      </p:sp>
      <p:sp>
        <p:nvSpPr>
          <p:cNvPr id="9" name="lead"/>
          <p:cNvSpPr/>
          <p:nvPr/>
        </p:nvSpPr>
        <p:spPr>
          <a:xfrm>
            <a:off x="761695" y="1620000"/>
            <a:ext cx="10667390" cy="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6E6656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lbl14"/>
          <p:cNvSpPr/>
          <p:nvPr/>
        </p:nvSpPr>
        <p:spPr>
          <a:xfrm>
            <a:off x="951695" y="2530000"/>
            <a:ext cx="47200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01C15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dsc18"/>
          <p:cNvSpPr/>
          <p:nvPr/>
        </p:nvSpPr>
        <p:spPr>
          <a:xfrm>
            <a:off x="4572000" y="4970000"/>
            <a:ext cx="4720000" cy="1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6E6656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lbl15"/>
          <p:cNvSpPr/>
          <p:nvPr/>
        </p:nvSpPr>
        <p:spPr>
          <a:xfrm>
            <a:off x="6519085" y="2530000"/>
            <a:ext cx="47200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01C15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dsc19"/>
          <p:cNvSpPr/>
          <p:nvPr/>
        </p:nvSpPr>
        <p:spPr>
          <a:xfrm>
            <a:off x="6519085" y="2870000"/>
            <a:ext cx="4720000" cy="1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6E6656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lbl16"/>
          <p:cNvSpPr/>
          <p:nvPr/>
        </p:nvSpPr>
        <p:spPr>
          <a:xfrm>
            <a:off x="1375390" y="4646501"/>
            <a:ext cx="47200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01C15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dsc20"/>
          <p:cNvSpPr/>
          <p:nvPr/>
        </p:nvSpPr>
        <p:spPr>
          <a:xfrm>
            <a:off x="951695" y="4580000"/>
            <a:ext cx="4720000" cy="1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6E6656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lbl17"/>
          <p:cNvSpPr/>
          <p:nvPr/>
        </p:nvSpPr>
        <p:spPr>
          <a:xfrm>
            <a:off x="6519085" y="4240000"/>
            <a:ext cx="47200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201C15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1" name="dsc21"/>
          <p:cNvSpPr/>
          <p:nvPr/>
        </p:nvSpPr>
        <p:spPr>
          <a:xfrm>
            <a:off x="6519085" y="4580000"/>
            <a:ext cx="4720000" cy="1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6E6656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note"/>
          <p:cNvSpPr/>
          <p:nvPr/>
        </p:nvSpPr>
        <p:spPr>
          <a:xfrm>
            <a:off x="724573" y="4568131"/>
            <a:ext cx="1066739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9C3B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Zero-shot throughout — no labelled training data at any stage of the pipeline.</a:t>
            </a:r>
          </a:p>
        </p:txBody>
      </p:sp>
      <p:sp>
        <p:nvSpPr>
          <p:cNvPr id="24" name="card12">
            <a:extLst>
              <a:ext uri="{FF2B5EF4-FFF2-40B4-BE49-F238E27FC236}">
                <a16:creationId xmlns:a16="http://schemas.microsoft.com/office/drawing/2014/main" id="{2056DF08-A2B2-A425-BE57-8E20D4E8E827}"/>
              </a:ext>
            </a:extLst>
          </p:cNvPr>
          <p:cNvSpPr/>
          <p:nvPr/>
        </p:nvSpPr>
        <p:spPr>
          <a:xfrm>
            <a:off x="761695" y="2270001"/>
            <a:ext cx="3257412" cy="402244"/>
          </a:xfrm>
          <a:prstGeom prst="rect">
            <a:avLst/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50800" dist="50800" dir="5400000" algn="ctr" rotWithShape="0">
              <a:srgbClr val="000000">
                <a:alpha val="97000"/>
              </a:srgbClr>
            </a:outerShdw>
          </a:effectLst>
        </p:spPr>
        <p:txBody>
          <a:bodyPr/>
          <a:lstStyle/>
          <a:p>
            <a:pPr lvl="0" algn="ctr">
              <a:defRPr/>
            </a:pPr>
            <a:r>
              <a:rPr lang="en-US" sz="1600" b="1" dirty="0"/>
              <a:t>Information Extraction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card12">
            <a:extLst>
              <a:ext uri="{FF2B5EF4-FFF2-40B4-BE49-F238E27FC236}">
                <a16:creationId xmlns:a16="http://schemas.microsoft.com/office/drawing/2014/main" id="{6D11DA95-5E01-0001-4527-21E97F3ED88D}"/>
              </a:ext>
            </a:extLst>
          </p:cNvPr>
          <p:cNvSpPr/>
          <p:nvPr/>
        </p:nvSpPr>
        <p:spPr>
          <a:xfrm>
            <a:off x="4628707" y="2284791"/>
            <a:ext cx="3257412" cy="379064"/>
          </a:xfrm>
          <a:prstGeom prst="rect">
            <a:avLst/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50800" dist="50800" dir="5400000" algn="ctr" rotWithShape="0">
              <a:srgbClr val="000000">
                <a:alpha val="95000"/>
              </a:srgbClr>
            </a:outerShdw>
          </a:effectLst>
        </p:spPr>
        <p:txBody>
          <a:bodyPr/>
          <a:lstStyle/>
          <a:p>
            <a:pPr lvl="0" algn="ctr">
              <a:defRPr/>
            </a:pPr>
            <a:r>
              <a:rPr lang="en-US" sz="1600" b="1" dirty="0"/>
              <a:t>Optical character recognition (OCR)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ard12">
            <a:extLst>
              <a:ext uri="{FF2B5EF4-FFF2-40B4-BE49-F238E27FC236}">
                <a16:creationId xmlns:a16="http://schemas.microsoft.com/office/drawing/2014/main" id="{9C1B670F-AB50-DB1A-13C2-26578D4E3608}"/>
              </a:ext>
            </a:extLst>
          </p:cNvPr>
          <p:cNvSpPr/>
          <p:nvPr/>
        </p:nvSpPr>
        <p:spPr>
          <a:xfrm>
            <a:off x="8467061" y="2289524"/>
            <a:ext cx="3257412" cy="382722"/>
          </a:xfrm>
          <a:prstGeom prst="rect">
            <a:avLst/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50800" dist="50800" dir="5400000" algn="ctr" rotWithShape="0">
              <a:srgbClr val="000000">
                <a:alpha val="96000"/>
              </a:srgbClr>
            </a:outerShdw>
          </a:effectLst>
        </p:spPr>
        <p:txBody>
          <a:bodyPr/>
          <a:lstStyle/>
          <a:p>
            <a:pPr lvl="0" algn="ctr">
              <a:defRPr/>
            </a:pPr>
            <a:r>
              <a:rPr lang="en-US" sz="1600" b="1" dirty="0"/>
              <a:t>Text embedding &amp; cosine similarity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card12">
            <a:extLst>
              <a:ext uri="{FF2B5EF4-FFF2-40B4-BE49-F238E27FC236}">
                <a16:creationId xmlns:a16="http://schemas.microsoft.com/office/drawing/2014/main" id="{C2140EE0-E788-11FE-CB74-B933DEE03B66}"/>
              </a:ext>
            </a:extLst>
          </p:cNvPr>
          <p:cNvSpPr/>
          <p:nvPr/>
        </p:nvSpPr>
        <p:spPr>
          <a:xfrm>
            <a:off x="761695" y="3159625"/>
            <a:ext cx="3257412" cy="402244"/>
          </a:xfrm>
          <a:prstGeom prst="rect">
            <a:avLst/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50800" dist="50800" dir="5400000" algn="ctr" rotWithShape="0">
              <a:srgbClr val="000000">
                <a:alpha val="97000"/>
              </a:srgbClr>
            </a:outerShdw>
          </a:effectLst>
        </p:spPr>
        <p:txBody>
          <a:bodyPr/>
          <a:lstStyle/>
          <a:p>
            <a:pPr lvl="0" algn="ctr"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Named Entity Recognition (NER)</a:t>
            </a:r>
          </a:p>
        </p:txBody>
      </p:sp>
      <p:sp>
        <p:nvSpPr>
          <p:cNvPr id="36" name="card12">
            <a:extLst>
              <a:ext uri="{FF2B5EF4-FFF2-40B4-BE49-F238E27FC236}">
                <a16:creationId xmlns:a16="http://schemas.microsoft.com/office/drawing/2014/main" id="{7241F7A7-E4D1-12FB-FEAF-E33E93157A55}"/>
              </a:ext>
            </a:extLst>
          </p:cNvPr>
          <p:cNvSpPr/>
          <p:nvPr/>
        </p:nvSpPr>
        <p:spPr>
          <a:xfrm>
            <a:off x="4628707" y="3159625"/>
            <a:ext cx="3257412" cy="402244"/>
          </a:xfrm>
          <a:prstGeom prst="rect">
            <a:avLst/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50800" dist="50800" dir="5400000" algn="ctr" rotWithShape="0">
              <a:srgbClr val="000000">
                <a:alpha val="97000"/>
              </a:srgbClr>
            </a:outerShdw>
          </a:effectLst>
        </p:spPr>
        <p:txBody>
          <a:bodyPr/>
          <a:lstStyle/>
          <a:p>
            <a:pPr lvl="0" algn="ctr">
              <a:defRPr/>
            </a:pPr>
            <a:r>
              <a:rPr lang="en-US" sz="1600" b="1" dirty="0"/>
              <a:t>Graph Representation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RELATED 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/  18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547872" cy="2066544"/>
          </a:xfrm>
          <a:prstGeom prst="roundRect">
            <a:avLst>
              <a:gd name="adj" fmla="val 2466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9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 / VLM extraction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24028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one big model end-to-end. No annotation, any layout. </a:t>
            </a:r>
            <a:r>
              <a:rPr lang="en-US" sz="16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(This thesis’s baseline.)</a:t>
            </a:r>
            <a:endParaRPr lang="en-US" sz="1600" b="1" dirty="0"/>
          </a:p>
        </p:txBody>
      </p:sp>
      <p:sp>
        <p:nvSpPr>
          <p:cNvPr id="8" name="Shape 6"/>
          <p:cNvSpPr/>
          <p:nvPr/>
        </p:nvSpPr>
        <p:spPr>
          <a:xfrm>
            <a:off x="4306824" y="1481328"/>
            <a:ext cx="3547872" cy="2066544"/>
          </a:xfrm>
          <a:prstGeom prst="roundRect">
            <a:avLst>
              <a:gd name="adj" fmla="val 2466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9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62856" y="1691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document IE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62856" y="224028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(Yu 2020) · SPADE (Hwang 2021): IE as a graph over OCR tokens — the paradigm here. But supervised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65008" y="1481328"/>
            <a:ext cx="3547872" cy="2066544"/>
          </a:xfrm>
          <a:prstGeom prst="roundRect">
            <a:avLst>
              <a:gd name="adj" fmla="val 2466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9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21040" y="1691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C3B2E"/>
                </a:solidFill>
                <a:latin typeface="Arial" pitchFamily="34" charset="0"/>
                <a:cs typeface="Arial" pitchFamily="34" charset="-120"/>
              </a:rPr>
              <a:t>OCR-Methods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21040" y="224028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HalalBench: OCR alone caps at F1 .193. Nagayi (food-OCR): PaddleOCR best coverage 98.3% on food labels.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3EEE4"/>
          </a:solidFill>
          <a:ln w="19050">
            <a:solidFill>
              <a:srgbClr val="9C3B2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  </a:t>
            </a:r>
            <a:r>
              <a:rPr lang="en-US" sz="19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 •  interpretable typed graph  •  no training labels  —  the space this thesis fills.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OUR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problem into stages you can read.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/  18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47872" cy="2834640"/>
          </a:xfrm>
          <a:prstGeom prst="roundRect">
            <a:avLst>
              <a:gd name="adj" fmla="val 2903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31089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turns the label photo into located text tokens.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06824" y="1572768"/>
            <a:ext cx="3547872" cy="2834640"/>
          </a:xfrm>
          <a:prstGeom prst="roundRect">
            <a:avLst>
              <a:gd name="adj" fmla="val 2903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62856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62856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62856" y="31089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gives every token a role.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65008" y="1572768"/>
            <a:ext cx="3547872" cy="2834640"/>
          </a:xfrm>
          <a:prstGeom prst="roundRect">
            <a:avLst>
              <a:gd name="adj" fmla="val 2903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25525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links tokens into ⟨ n, q, u, x ⟩ tuples.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is swappable and separately measurable.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THE PIPELINE, Closer Look?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58685" y="1554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/  18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65792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endParaRPr lang="en-US" sz="200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054C9322-4E69-8970-E589-04A895221B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663" y="795528"/>
            <a:ext cx="3411565" cy="6189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</p:pic>
      <p:sp>
        <p:nvSpPr>
          <p:cNvPr id="29" name="Text 7">
            <a:extLst>
              <a:ext uri="{FF2B5EF4-FFF2-40B4-BE49-F238E27FC236}">
                <a16:creationId xmlns:a16="http://schemas.microsoft.com/office/drawing/2014/main" id="{D8094C70-6E91-4A95-5C8F-CDE5AAEFA4E2}"/>
              </a:ext>
            </a:extLst>
          </p:cNvPr>
          <p:cNvSpPr/>
          <p:nvPr/>
        </p:nvSpPr>
        <p:spPr>
          <a:xfrm>
            <a:off x="4284554" y="1395138"/>
            <a:ext cx="6858000" cy="952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character recognition</a:t>
            </a:r>
            <a:r>
              <a:rPr lang="en-US" sz="12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OCR model  reads the image into raw tokens (s, b, c).
</a:t>
            </a: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correction &amp; </a:t>
            </a:r>
            <a:r>
              <a:rPr lang="en-US" sz="1200" b="1" dirty="0" err="1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</a:t>
            </a:r>
            <a:r>
              <a:rPr lang="en-US" sz="12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900" dirty="0" err="1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OCR_corrector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fixes misreads, merges tokens, fix fused tokens, </a:t>
            </a:r>
            <a:r>
              <a:rPr lang="en-US" sz="900" dirty="0" err="1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canonicalises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English . </a:t>
            </a:r>
            <a:endParaRPr lang="en-US" sz="9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1F8011AD-9E90-1D6C-7B70-633AA4CC5D6B}"/>
              </a:ext>
            </a:extLst>
          </p:cNvPr>
          <p:cNvSpPr/>
          <p:nvPr/>
        </p:nvSpPr>
        <p:spPr>
          <a:xfrm>
            <a:off x="4284554" y="2379947"/>
            <a:ext cx="685800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CLASSIFICATION</a:t>
            </a:r>
            <a:endParaRPr lang="en-US" sz="7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EDC55D4C-454C-2E7A-A4EC-79925AA64A99}"/>
              </a:ext>
            </a:extLst>
          </p:cNvPr>
          <p:cNvSpPr/>
          <p:nvPr/>
        </p:nvSpPr>
        <p:spPr>
          <a:xfrm>
            <a:off x="4284554" y="2570142"/>
            <a:ext cx="6858000" cy="952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role classification</a:t>
            </a:r>
            <a:r>
              <a:rPr lang="en-US" sz="12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—rule / BGE-M3 / </a:t>
            </a:r>
            <a:r>
              <a:rPr lang="en-US" sz="900" dirty="0" err="1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GLiNER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-biomed tags each token nutrient, quantity, unit or context.
</a:t>
            </a: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enrichment &amp; geometry</a:t>
            </a:r>
            <a:r>
              <a:rPr lang="en-US" sz="12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900" dirty="0" err="1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TokenEnricher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attaches column IDs, row/rank, dosage-stream and header info.</a:t>
            </a:r>
            <a:endParaRPr lang="en-US" sz="9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4A312FF4-DFE7-A384-17D0-67F7A23D52D3}"/>
              </a:ext>
            </a:extLst>
          </p:cNvPr>
          <p:cNvSpPr/>
          <p:nvPr/>
        </p:nvSpPr>
        <p:spPr>
          <a:xfrm>
            <a:off x="4284554" y="3618045"/>
            <a:ext cx="6858000" cy="165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ASSOCIATION</a:t>
            </a:r>
            <a:endParaRPr lang="en-US" sz="7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7537396-4AB6-CFCF-75A7-64B897D2BC2F}"/>
              </a:ext>
            </a:extLst>
          </p:cNvPr>
          <p:cNvSpPr/>
          <p:nvPr/>
        </p:nvSpPr>
        <p:spPr>
          <a:xfrm>
            <a:off x="4284554" y="3808240"/>
            <a:ext cx="6858000" cy="952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matching &amp; association</a:t>
            </a:r>
            <a:r>
              <a:rPr lang="en-US" sz="12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Graph Constructor builds a typed graph (row / column / overlap edges), then links each nutrient to its quantity, unit and context.</a:t>
            </a:r>
            <a:endParaRPr lang="en-US" sz="900" dirty="0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BC831268-7FE3-5B93-4C44-7C1AD841F263}"/>
              </a:ext>
            </a:extLst>
          </p:cNvPr>
          <p:cNvSpPr/>
          <p:nvPr/>
        </p:nvSpPr>
        <p:spPr>
          <a:xfrm>
            <a:off x="4284554" y="4665947"/>
            <a:ext cx="6858000" cy="0"/>
          </a:xfrm>
          <a:prstGeom prst="line">
            <a:avLst/>
          </a:prstGeom>
          <a:noFill/>
          <a:ln w="12700">
            <a:solidFill>
              <a:srgbClr val="DD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40C797D3-CBD0-D53C-7852-C6AC9CDDE094}"/>
              </a:ext>
            </a:extLst>
          </p:cNvPr>
          <p:cNvSpPr/>
          <p:nvPr/>
        </p:nvSpPr>
        <p:spPr>
          <a:xfrm>
            <a:off x="4284554" y="4792134"/>
            <a:ext cx="6858000" cy="254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r>
              <a:rPr lang="en-US" sz="9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four-field tuples ⟨n, q, u, x⟩.     </a:t>
            </a:r>
            <a:r>
              <a:rPr lang="en-US" sz="7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→ clean → label → add geometry → link → emit tuples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DATASET &amp; EVALUATION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labels, 866 gold tuples, zero training data.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/  18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9496" y="1061093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39496" y="1828411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images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15.2 tuples / image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10827" y="1055231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46350" y="1849513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tuples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61104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0 – 50 per image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0760" y="1061093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080760" y="186413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labels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82712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zero-shot</a:t>
            </a:r>
            <a:endParaRPr lang="en-US" sz="1600" dirty="0"/>
          </a:p>
        </p:txBody>
      </p:sp>
      <p:pic>
        <p:nvPicPr>
          <p:cNvPr id="14" name="Image 0" descr="/tmp/deckbuild/assets/fig_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" y="2728583"/>
            <a:ext cx="9800644" cy="276109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8000"/>
              </a:srgbClr>
            </a:outerShdw>
          </a:effectLst>
        </p:spPr>
      </p:pic>
      <p:sp>
        <p:nvSpPr>
          <p:cNvPr id="15" name="Text 12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on the four-field tuple ⟨ n, q, u, x ⟩ — correct only if all four match; deterministic 4F-F1 pooled over 866 tuples. 65% of labels mix ≥2 contexts — why a value needs its column, not just its row.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77" y="3200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RESULTS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46791" y="-1325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questions, one map.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/  18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150797-CB9F-2A67-EC4A-F2219AEB9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18855"/>
            <a:ext cx="12192001" cy="64391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RQ1 · OCR ENGINE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values — not names — decides the tuple.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/  18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nearly tie (+.047); PaddleOCR wins the values — quantity, unit, context.  4F-F1 .177 → .423.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3D509F-BD6F-83B5-5854-5D9F28D64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89" y="1275205"/>
            <a:ext cx="9991442" cy="419170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RQ2 · NUTRIENT DECISION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/  18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0EA3F97-2FD5-78C5-74BF-004047AD517C}"/>
              </a:ext>
            </a:extLst>
          </p:cNvPr>
          <p:cNvSpPr/>
          <p:nvPr/>
        </p:nvSpPr>
        <p:spPr>
          <a:xfrm>
            <a:off x="761695" y="1255234"/>
            <a:ext cx="9905695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every token a role. A </a:t>
            </a:r>
            <a:r>
              <a:rPr lang="en-US" sz="14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cascade</a:t>
            </a:r>
            <a:r>
              <a:rPr lang="en-US" sz="14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resolves the easy ones — quantity, unit, context, NRV — while the hard open-vocabulary call, </a:t>
            </a:r>
            <a:r>
              <a:rPr lang="en-US" sz="14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it a nutrient?”</a:t>
            </a:r>
            <a:r>
              <a:rPr lang="en-US" sz="14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is decided by one of three interchangeable variants.</a:t>
            </a:r>
            <a:endParaRPr lang="en-US" sz="14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5B206C0A-0273-0339-5F85-F63ABA7E0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286000"/>
            <a:ext cx="10667390" cy="355610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2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479EC-8999-2246-D81C-30ADF90D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BD85F7-0CC5-11DB-C20D-51C20F4C376D}"/>
              </a:ext>
            </a:extLst>
          </p:cNvPr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RQ2 · NUTRIENT DECISION</a:t>
            </a: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C51ED4-9F54-1B6F-C5FF-0EBAB1356FB3}"/>
              </a:ext>
            </a:extLst>
          </p:cNvPr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wins the tuple — GLiNER leads.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385C74-BB17-5299-F1A1-3C34F43F555B}"/>
              </a:ext>
            </a:extLst>
          </p:cNvPr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/  18</a:t>
            </a:r>
            <a:endParaRPr lang="en-US" sz="1600" dirty="0"/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8B3095AD-100F-2A17-0B33-6DB309EC2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673411"/>
              </p:ext>
            </p:extLst>
          </p:nvPr>
        </p:nvGraphicFramePr>
        <p:xfrm>
          <a:off x="548640" y="1828800"/>
          <a:ext cx="6766560" cy="1828800"/>
        </p:xfrm>
        <a:graphic>
          <a:graphicData uri="http://schemas.openxmlformats.org/drawingml/2006/table">
            <a:tbl>
              <a:tblPr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Classifier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4F Prec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4F Recall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4F F1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 (E2-A)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.422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.424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.423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 (E2-B)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.391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.415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.403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GLiNER (E2-C)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.463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.402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.430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>
            <a:extLst>
              <a:ext uri="{FF2B5EF4-FFF2-40B4-BE49-F238E27FC236}">
                <a16:creationId xmlns:a16="http://schemas.microsoft.com/office/drawing/2014/main" id="{9D7E0D28-D792-D179-097F-E42650F9FCFA}"/>
              </a:ext>
            </a:extLst>
          </p:cNvPr>
          <p:cNvSpPr/>
          <p:nvPr/>
        </p:nvSpPr>
        <p:spPr>
          <a:xfrm>
            <a:off x="548640" y="3794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4-field tuple; OCR = PaddleOCR, graph v2 · overlap held fixed.</a:t>
            </a:r>
            <a:endParaRPr lang="en-US" sz="1600" dirty="0"/>
          </a:p>
        </p:txBody>
      </p:sp>
      <p:pic>
        <p:nvPicPr>
          <p:cNvPr id="7" name="Image 0" descr="/tmp/deckbuild/assets/photo_tokens.png">
            <a:extLst>
              <a:ext uri="{FF2B5EF4-FFF2-40B4-BE49-F238E27FC236}">
                <a16:creationId xmlns:a16="http://schemas.microsoft.com/office/drawing/2014/main" id="{DA465BC7-908F-EB95-D791-BA31A74F0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765" y="1805940"/>
            <a:ext cx="3312231" cy="338328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AE4C2038-23A2-F78F-478F-67A67D1F4461}"/>
              </a:ext>
            </a:extLst>
          </p:cNvPr>
          <p:cNvSpPr/>
          <p:nvPr/>
        </p:nvSpPr>
        <p:spPr>
          <a:xfrm>
            <a:off x="7863840" y="5029200"/>
            <a:ext cx="33122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58EAE7A-59E3-D13A-3337-622759C6791E}"/>
              </a:ext>
            </a:extLst>
          </p:cNvPr>
          <p:cNvSpPr/>
          <p:nvPr/>
        </p:nvSpPr>
        <p:spPr>
          <a:xfrm>
            <a:off x="455506" y="58201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binds whatever it is given — so fewer false positives beat higher recall. GLiNER’s precision (.463) carries the tuple.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2BB1D-C5B6-58E2-FED9-F8F45B0F9DA2}"/>
              </a:ext>
            </a:extLst>
          </p:cNvPr>
          <p:cNvSpPr txBox="1"/>
          <p:nvPr/>
        </p:nvSpPr>
        <p:spPr>
          <a:xfrm>
            <a:off x="7482840" y="5257800"/>
            <a:ext cx="694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NUT (blue) </a:t>
            </a:r>
            <a:r>
              <a:rPr lang="en-US" sz="1400" dirty="0"/>
              <a:t>· 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QUAN (green)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· UNIT (orange) </a:t>
            </a:r>
            <a:r>
              <a:rPr lang="en-US" sz="1400" dirty="0"/>
              <a:t>· </a:t>
            </a:r>
            <a:r>
              <a:rPr lang="en-US" sz="1400" b="1" dirty="0">
                <a:solidFill>
                  <a:srgbClr val="7030A0"/>
                </a:solidFill>
              </a:rPr>
              <a:t>CO (purple)</a:t>
            </a:r>
          </a:p>
        </p:txBody>
      </p:sp>
    </p:spTree>
    <p:extLst>
      <p:ext uri="{BB962C8B-B14F-4D97-AF65-F5344CB8AC3E}">
        <p14:creationId xmlns:p14="http://schemas.microsoft.com/office/powerpoint/2010/main" val="622453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RQ3 · GEOMETRY-AWARE GRAPH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/  18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D345B3-89DC-0E87-194C-0600559DB705}"/>
              </a:ext>
            </a:extLst>
          </p:cNvPr>
          <p:cNvSpPr/>
          <p:nvPr/>
        </p:nvSpPr>
        <p:spPr>
          <a:xfrm>
            <a:off x="761695" y="698602"/>
            <a:ext cx="3810305" cy="152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E66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3</a:t>
            </a:r>
            <a:endParaRPr lang="en-US" sz="8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67540A8-3AA2-8CB4-8F7B-1508975DC4D2}"/>
              </a:ext>
            </a:extLst>
          </p:cNvPr>
          <p:cNvSpPr/>
          <p:nvPr/>
        </p:nvSpPr>
        <p:spPr>
          <a:xfrm>
            <a:off x="761695" y="920801"/>
            <a:ext cx="5715000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200" b="1" kern="0" spc="-3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</a:t>
            </a:r>
            <a:endParaRPr lang="en-US" sz="22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FDD18B7-A416-05FA-81DB-554D0C95247A}"/>
              </a:ext>
            </a:extLst>
          </p:cNvPr>
          <p:cNvSpPr/>
          <p:nvPr/>
        </p:nvSpPr>
        <p:spPr>
          <a:xfrm>
            <a:off x="761695" y="1365199"/>
            <a:ext cx="9905695" cy="1397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is a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typed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link them by geometry into one tuple per nutrient. Two variants —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v1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(raw) and </a:t>
            </a:r>
            <a:r>
              <a:rPr lang="en-US" sz="1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v2</a:t>
            </a: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(geometry-aware), below.</a:t>
            </a:r>
            <a:endParaRPr lang="en-US" sz="10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350D918B-540A-A5A2-30A2-682F0A9BAD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2384" y="1904694"/>
            <a:ext cx="6408513" cy="425470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5000"/>
              </a:srgbClr>
            </a:outerShdw>
          </a:effectLst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D8B44D96-B84B-7500-1FFF-830D9886873B}"/>
              </a:ext>
            </a:extLst>
          </p:cNvPr>
          <p:cNvSpPr/>
          <p:nvPr/>
        </p:nvSpPr>
        <p:spPr>
          <a:xfrm>
            <a:off x="6858000" y="1904695"/>
            <a:ext cx="3936492" cy="139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TYPES</a:t>
            </a:r>
            <a:endParaRPr lang="en-US" sz="7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0422C3A5-58BA-3587-8C60-C4A0EF4A29FB}"/>
              </a:ext>
            </a:extLst>
          </p:cNvPr>
          <p:cNvSpPr/>
          <p:nvPr/>
        </p:nvSpPr>
        <p:spPr>
          <a:xfrm>
            <a:off x="6858000" y="2126894"/>
            <a:ext cx="3936492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ROW_COMPAT  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nutrient ↔ quantity</a:t>
            </a:r>
            <a:endParaRPr lang="en-US" sz="9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05329A6D-A032-7C79-B074-6C9F14698C47}"/>
              </a:ext>
            </a:extLst>
          </p:cNvPr>
          <p:cNvSpPr/>
          <p:nvPr/>
        </p:nvSpPr>
        <p:spPr>
          <a:xfrm>
            <a:off x="6858000" y="2318004"/>
            <a:ext cx="3936492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axis — links each nutrient to the quantity on its row, pulling that value into the tuple.</a:t>
            </a:r>
            <a:endParaRPr lang="en-US" sz="10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503C0851-9B62-258D-DE2F-A47C537F9690}"/>
              </a:ext>
            </a:extLst>
          </p:cNvPr>
          <p:cNvSpPr/>
          <p:nvPr/>
        </p:nvSpPr>
        <p:spPr>
          <a:xfrm>
            <a:off x="6858000" y="2857500"/>
            <a:ext cx="3936492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COL_COMPAT  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sub-nutrient fallback</a:t>
            </a:r>
            <a:endParaRPr lang="en-US" sz="9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B51CB122-78E2-1451-0395-B0D3072CB639}"/>
              </a:ext>
            </a:extLst>
          </p:cNvPr>
          <p:cNvSpPr/>
          <p:nvPr/>
        </p:nvSpPr>
        <p:spPr>
          <a:xfrm>
            <a:off x="6858000" y="3047695"/>
            <a:ext cx="3936492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sub-nutrient with no value of its own inherits the quantity from the parent above it in the column.</a:t>
            </a:r>
            <a:endParaRPr lang="en-US" sz="10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A4C57EDE-1099-D998-7EEC-6F6AC01CBE0F}"/>
              </a:ext>
            </a:extLst>
          </p:cNvPr>
          <p:cNvSpPr/>
          <p:nvPr/>
        </p:nvSpPr>
        <p:spPr>
          <a:xfrm>
            <a:off x="6858000" y="3588106"/>
            <a:ext cx="3936492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DIRECTIONAL_ADJ  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recovery</a:t>
            </a:r>
            <a:endParaRPr lang="en-US" sz="90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8E5576A3-BD36-30F7-2731-32B7329BB446}"/>
              </a:ext>
            </a:extLst>
          </p:cNvPr>
          <p:cNvSpPr/>
          <p:nvPr/>
        </p:nvSpPr>
        <p:spPr>
          <a:xfrm>
            <a:off x="6858000" y="3778301"/>
            <a:ext cx="3936492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a unit sitting near a number but not grouped with it, so a detached unit still reaches its quantity.</a:t>
            </a:r>
            <a:endParaRPr lang="en-US" sz="10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2950A5CD-9AA2-729D-01B7-77E5A584599C}"/>
              </a:ext>
            </a:extLst>
          </p:cNvPr>
          <p:cNvSpPr/>
          <p:nvPr/>
        </p:nvSpPr>
        <p:spPr>
          <a:xfrm>
            <a:off x="6858000" y="4317797"/>
            <a:ext cx="3936492" cy="177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CONTEXT_SCOPE + HEADER_SCOPE </a:t>
            </a:r>
            <a:r>
              <a:rPr lang="en-US" sz="9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9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49254465-E1B2-47DA-2774-D17DEB2FCA4E}"/>
              </a:ext>
            </a:extLst>
          </p:cNvPr>
          <p:cNvSpPr/>
          <p:nvPr/>
        </p:nvSpPr>
        <p:spPr>
          <a:xfrm>
            <a:off x="6858000" y="4507992"/>
            <a:ext cx="3936492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a context header down to the values beneath — per 100 g / per serving / per daily dose.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0A550-E476-8A62-AD48-384C81FB1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A0DCED-DBBE-A339-C2E5-A2DE586465AD}"/>
              </a:ext>
            </a:extLst>
          </p:cNvPr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RQ3 · GEOMETRY-AWARE GRAPH</a:t>
            </a: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02B320-0A24-3B38-3442-607D78574EE3}"/>
              </a:ext>
            </a:extLst>
          </p:cNvPr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Geometry-aware binding nearly doubles multi-context recall.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46324A-A105-7A75-4909-71DF1FC5EE03}"/>
              </a:ext>
            </a:extLst>
          </p:cNvPr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/  18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F3D50D5-B919-4F5D-7A7A-83D4852E9A52}"/>
              </a:ext>
            </a:extLst>
          </p:cNvPr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Single-context barely moves (+.025); multi-context nearly doubles — v1 .187 → v2 .390 (embedding), .181 → .375 (GLiNER).</a:t>
            </a:r>
            <a:endParaRPr lang="en-US" sz="20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EC43E61C-A226-2B13-9518-7F4ADA1C11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629508"/>
            <a:ext cx="10667390" cy="373619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7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7845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RQ3 · ROW-EDGE MODE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/  18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6A9853-976C-04CC-12E4-188660745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16" y="880978"/>
            <a:ext cx="10603674" cy="5282078"/>
          </a:xfrm>
          <a:prstGeom prst="rect">
            <a:avLst/>
          </a:prstGeom>
          <a:effectLst>
            <a:outerShdw blurRad="50800" dist="63500" dir="5400000" algn="ctr" rotWithShape="0">
              <a:srgbClr val="000000">
                <a:alpha val="96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B5B702-B941-C5BD-1B2A-BFC08177A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85EF2E-7ACD-4EC8-61EC-D0ABF977A594}"/>
              </a:ext>
            </a:extLst>
          </p:cNvPr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RQ3 · ROW-EDGE RULE</a:t>
            </a: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AC65D0-BA47-42C2-4D14-4FBA63940B74}"/>
              </a:ext>
            </a:extLst>
          </p:cNvPr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wins — geometry beats rank.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47215F-6A6F-F89F-2F06-84B53A1E2C73}"/>
              </a:ext>
            </a:extLst>
          </p:cNvPr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/  18</a:t>
            </a:r>
            <a:endParaRPr lang="en-US" sz="1600" dirty="0"/>
          </a:p>
        </p:txBody>
      </p:sp>
      <p:pic>
        <p:nvPicPr>
          <p:cNvPr id="5" name="Image 0" descr="/tmp/deckbuild/assets/photo_rowmodes.png">
            <a:extLst>
              <a:ext uri="{FF2B5EF4-FFF2-40B4-BE49-F238E27FC236}">
                <a16:creationId xmlns:a16="http://schemas.microsoft.com/office/drawing/2014/main" id="{5B07E0C2-F425-D37D-B3BF-5BAD3E212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492240" cy="294967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7000"/>
              </a:srgbClr>
            </a:outerShdw>
          </a:effectLst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119E28F-8E62-B327-C0B7-1701373E1827}"/>
              </a:ext>
            </a:extLst>
          </p:cNvPr>
          <p:cNvSpPr/>
          <p:nvPr/>
        </p:nvSpPr>
        <p:spPr>
          <a:xfrm>
            <a:off x="548640" y="4687037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row-edge modes drawn over a real label (34.png)</a:t>
            </a:r>
            <a:endParaRPr lang="en-US" sz="1600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734FD863-226D-ADBF-CF69-F0C472BE2EF5}"/>
              </a:ext>
            </a:extLst>
          </p:cNvPr>
          <p:cNvGraphicFramePr>
            <a:graphicFrameLocks noGrp="1"/>
          </p:cNvGraphicFramePr>
          <p:nvPr/>
        </p:nvGraphicFramePr>
        <p:xfrm>
          <a:off x="7360920" y="1737360"/>
          <a:ext cx="4279392" cy="2392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Row-edge mode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Embed F1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GLiNER F1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.403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.430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cy-cx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.386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.413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 ∪ role_rank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.319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role_rank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.132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>
            <a:extLst>
              <a:ext uri="{FF2B5EF4-FFF2-40B4-BE49-F238E27FC236}">
                <a16:creationId xmlns:a16="http://schemas.microsoft.com/office/drawing/2014/main" id="{C97DEECF-663B-14B4-DB61-3D8599A22631}"/>
              </a:ext>
            </a:extLst>
          </p:cNvPr>
          <p:cNvSpPr/>
          <p:nvPr/>
        </p:nvSpPr>
        <p:spPr>
          <a:xfrm>
            <a:off x="7360920" y="4434840"/>
            <a:ext cx="4279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 ∪ role_rank pushes recall to .423 but precision collapses to .256.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0E12256-4CC8-B22E-5FA5-CBDF33381802}"/>
              </a:ext>
            </a:extLst>
          </p:cNvPr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row edges (overlap) beat rank-based ordering in both classifiers — OCR dropout breaks ordinal alignment.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20295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RQ4 · VS END-TO-END VLM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beats the end-to-end VLM.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/  18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.43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pipeline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 → GLiNER → graph v2 · 0 VLM calls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2331720"/>
            <a:ext cx="1216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0" y="20116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.36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85800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image → VLM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4B, end-to-end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4-field tuple F1 on the same 57 images. The fully interpretable pipeline clears the opaque baseline by +7 points — with zero VLM calls.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RQ4 · VLM AS BINDER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VLM binder buys precision — best overall .495.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/  18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166200"/>
              </p:ext>
            </p:extLst>
          </p:nvPr>
        </p:nvGraphicFramePr>
        <p:xfrm>
          <a:off x="548640" y="1600200"/>
          <a:ext cx="7772400" cy="3200400"/>
        </p:xfrm>
        <a:graphic>
          <a:graphicData uri="http://schemas.openxmlformats.org/drawingml/2006/table">
            <a:tbl>
              <a:tblPr>
                <a:effectLst>
                  <a:outerShdw blurRad="50800" dist="50800" dir="5400000" algn="ctr" rotWithShape="0">
                    <a:srgbClr val="000000">
                      <a:alpha val="97000"/>
                    </a:srgbClr>
                  </a:outerShdw>
                </a:effectLst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Classifier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Association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4F-P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4F-R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4F-F1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graph v2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.422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.424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.423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VLM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.573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.416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.482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graph v2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.391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.415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.403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VLM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.605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.418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9C3B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.495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GLiNER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graph v2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.463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.402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.430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GLiNER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VLM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.527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.385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01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.445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1600200"/>
            <a:ext cx="3090672" cy="3017520"/>
          </a:xfrm>
          <a:prstGeom prst="roundRect">
            <a:avLst>
              <a:gd name="adj" fmla="val 2727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9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7782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overall  .495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778240" y="228600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→ VLM-association.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jumps in every pairing; recall holds.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~13.7 s / image  vs  ~4.5 s for the graph (≈3×).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RQ4 · STRUCTURE FIRST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first, then bind — worth +0.13.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/  18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08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.49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table → VLM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2331720"/>
            <a:ext cx="1216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0" y="20116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.36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85800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image → VLM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Gemma 3 4B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model binds in both. A clean token table beats the raw image by +0.13 — structuring the problem is worth more than one big model.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accurate — and you can read it.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/  18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43.0%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~4.5 s · 0 VLM calls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61104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08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49.5%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261104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overall (hybrid)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61104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~13.7 s · VLM binder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82712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982712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VLM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48413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~7.5 s · </a:t>
            </a:r>
          </a:p>
          <a:p>
            <a:pPr marL="0" indent="0" algn="ctr">
              <a:buNone/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b="1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+7.1 points over the end-to-end VLM with no VLM in the loop — and the interpretable pipeline is also the fastest. </a:t>
            </a:r>
            <a:r>
              <a:rPr lang="en-US" sz="20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VLM binder to the embedding front-end reaches the best overall 49.5%, at ~3× the time.</a:t>
            </a:r>
            <a:endParaRPr lang="en-US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5C90C3-DE68-EF83-E015-9B8B65A77B4E}"/>
              </a:ext>
            </a:extLst>
          </p:cNvPr>
          <p:cNvSpPr/>
          <p:nvPr/>
        </p:nvSpPr>
        <p:spPr>
          <a:xfrm>
            <a:off x="948267" y="1667933"/>
            <a:ext cx="7034445" cy="2243667"/>
          </a:xfrm>
          <a:prstGeom prst="roundRect">
            <a:avLst/>
          </a:prstGeom>
          <a:noFill/>
          <a:effectLst>
            <a:outerShdw blurRad="50800" dist="50800" dir="5400000" algn="ctr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C6FAF-E5AD-0D7F-18A4-5A9126DBC73F}"/>
              </a:ext>
            </a:extLst>
          </p:cNvPr>
          <p:cNvSpPr txBox="1"/>
          <p:nvPr/>
        </p:nvSpPr>
        <p:spPr>
          <a:xfrm>
            <a:off x="3581854" y="3579521"/>
            <a:ext cx="1399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Contribution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A0E128A-387D-9281-F616-2E9AC5F97385}"/>
              </a:ext>
            </a:extLst>
          </p:cNvPr>
          <p:cNvSpPr/>
          <p:nvPr/>
        </p:nvSpPr>
        <p:spPr>
          <a:xfrm>
            <a:off x="8415867" y="1592411"/>
            <a:ext cx="2922693" cy="2356442"/>
          </a:xfrm>
          <a:prstGeom prst="roundRect">
            <a:avLst/>
          </a:prstGeom>
          <a:noFill/>
          <a:effectLst>
            <a:outerShdw blurRad="50800" dist="50800" dir="5400000" algn="ctr" rotWithShape="0">
              <a:srgbClr val="C00000">
                <a:alpha val="91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WHAT TO SHIP (Contribution)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configurations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38251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/  18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2926080"/>
          </a:xfrm>
          <a:prstGeom prst="roundRect">
            <a:avLst>
              <a:gd name="adj" fmla="val 2813"/>
            </a:avLst>
          </a:prstGeom>
          <a:solidFill>
            <a:srgbClr val="F3EEE4"/>
          </a:solidFill>
          <a:ln w="19050">
            <a:solidFill>
              <a:srgbClr val="9C3B2E"/>
            </a:solidFill>
            <a:prstDash val="solid"/>
          </a:ln>
          <a:effectLst>
            <a:outerShdw blurRad="63500" dist="25400" dir="5400000" algn="bl" rotWithShape="0">
              <a:srgbClr val="000000">
                <a:alpha val="9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9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· INTERPRETABLE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 → GLiNER → graph v2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43.0% 4F-F1  ·  ~4.5 s  ·  0 VLM calls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auditable — every tuple is traceable.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45352" y="1600200"/>
            <a:ext cx="5394960" cy="2926080"/>
          </a:xfrm>
          <a:prstGeom prst="roundRect">
            <a:avLst>
              <a:gd name="adj" fmla="val 2813"/>
            </a:avLst>
          </a:prstGeom>
          <a:solidFill>
            <a:srgbClr val="F3EEE4"/>
          </a:solidFill>
          <a:ln w="12700">
            <a:solidFill>
              <a:srgbClr val="DDD5C5"/>
            </a:solidFill>
            <a:prstDash val="solid"/>
          </a:ln>
          <a:effectLst>
            <a:outerShdw blurRad="63500" dist="25400" dir="5400000" algn="bl" rotWithShape="0">
              <a:srgbClr val="000000">
                <a:alpha val="9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084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ACCURACY · HYBRID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9672" y="2286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 → embedding → VLM-assoc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19672" y="3017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49.5% 4F-F1  ·  ~13.7 s  ·  VLM binds last step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Trades interpretability + speed for precision.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6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welcome.   ·   Moustafa Hamada · THD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1628</Words>
  <Application>Microsoft Office PowerPoint</Application>
  <PresentationFormat>Widescreen</PresentationFormat>
  <Paragraphs>276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Zero-Shot Nutrient &amp; Quantity Association</dc:title>
  <dc:subject>PptxGenJS Presentation</dc:subject>
  <dc:creator>Moustafa Hamada</dc:creator>
  <cp:lastModifiedBy>MOSTAFA SAEID</cp:lastModifiedBy>
  <cp:revision>2</cp:revision>
  <dcterms:created xsi:type="dcterms:W3CDTF">2026-07-01T23:06:23Z</dcterms:created>
  <dcterms:modified xsi:type="dcterms:W3CDTF">2026-07-03T22:15:48Z</dcterms:modified>
</cp:coreProperties>
</file>